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 id="2147483714" r:id="rId2"/>
  </p:sldMasterIdLst>
  <p:notesMasterIdLst>
    <p:notesMasterId r:id="rId60"/>
  </p:notesMasterIdLst>
  <p:sldIdLst>
    <p:sldId id="258" r:id="rId3"/>
    <p:sldId id="331" r:id="rId4"/>
    <p:sldId id="334" r:id="rId5"/>
    <p:sldId id="335" r:id="rId6"/>
    <p:sldId id="378" r:id="rId7"/>
    <p:sldId id="379" r:id="rId8"/>
    <p:sldId id="319" r:id="rId9"/>
    <p:sldId id="336" r:id="rId10"/>
    <p:sldId id="337" r:id="rId11"/>
    <p:sldId id="338" r:id="rId12"/>
    <p:sldId id="339" r:id="rId13"/>
    <p:sldId id="340" r:id="rId14"/>
    <p:sldId id="341" r:id="rId15"/>
    <p:sldId id="269" r:id="rId16"/>
    <p:sldId id="342" r:id="rId17"/>
    <p:sldId id="343" r:id="rId18"/>
    <p:sldId id="380" r:id="rId19"/>
    <p:sldId id="344" r:id="rId20"/>
    <p:sldId id="345" r:id="rId21"/>
    <p:sldId id="346" r:id="rId22"/>
    <p:sldId id="347" r:id="rId23"/>
    <p:sldId id="381" r:id="rId24"/>
    <p:sldId id="382" r:id="rId25"/>
    <p:sldId id="350" r:id="rId26"/>
    <p:sldId id="348" r:id="rId27"/>
    <p:sldId id="383" r:id="rId28"/>
    <p:sldId id="313" r:id="rId29"/>
    <p:sldId id="314" r:id="rId30"/>
    <p:sldId id="315" r:id="rId31"/>
    <p:sldId id="351" r:id="rId32"/>
    <p:sldId id="352" r:id="rId33"/>
    <p:sldId id="354" r:id="rId34"/>
    <p:sldId id="355" r:id="rId35"/>
    <p:sldId id="356" r:id="rId36"/>
    <p:sldId id="357" r:id="rId37"/>
    <p:sldId id="364" r:id="rId38"/>
    <p:sldId id="358" r:id="rId39"/>
    <p:sldId id="365" r:id="rId40"/>
    <p:sldId id="359" r:id="rId41"/>
    <p:sldId id="274" r:id="rId42"/>
    <p:sldId id="275" r:id="rId43"/>
    <p:sldId id="279" r:id="rId44"/>
    <p:sldId id="384" r:id="rId45"/>
    <p:sldId id="367" r:id="rId46"/>
    <p:sldId id="312" r:id="rId47"/>
    <p:sldId id="362" r:id="rId48"/>
    <p:sldId id="368" r:id="rId49"/>
    <p:sldId id="361" r:id="rId50"/>
    <p:sldId id="363" r:id="rId51"/>
    <p:sldId id="369" r:id="rId52"/>
    <p:sldId id="385" r:id="rId53"/>
    <p:sldId id="376" r:id="rId54"/>
    <p:sldId id="371" r:id="rId55"/>
    <p:sldId id="372" r:id="rId56"/>
    <p:sldId id="373" r:id="rId57"/>
    <p:sldId id="374" r:id="rId58"/>
    <p:sldId id="375" r:id="rId59"/>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15EFDE7-4DAE-7047-BBCF-84C791BD5D8E}">
          <p14:sldIdLst>
            <p14:sldId id="258"/>
            <p14:sldId id="331"/>
            <p14:sldId id="334"/>
            <p14:sldId id="335"/>
            <p14:sldId id="378"/>
            <p14:sldId id="379"/>
            <p14:sldId id="319"/>
            <p14:sldId id="336"/>
            <p14:sldId id="337"/>
            <p14:sldId id="338"/>
            <p14:sldId id="339"/>
            <p14:sldId id="340"/>
            <p14:sldId id="341"/>
            <p14:sldId id="269"/>
            <p14:sldId id="342"/>
            <p14:sldId id="343"/>
            <p14:sldId id="380"/>
            <p14:sldId id="344"/>
            <p14:sldId id="345"/>
            <p14:sldId id="346"/>
            <p14:sldId id="347"/>
            <p14:sldId id="381"/>
            <p14:sldId id="382"/>
            <p14:sldId id="350"/>
            <p14:sldId id="348"/>
            <p14:sldId id="383"/>
            <p14:sldId id="313"/>
            <p14:sldId id="314"/>
            <p14:sldId id="315"/>
            <p14:sldId id="351"/>
            <p14:sldId id="352"/>
            <p14:sldId id="354"/>
            <p14:sldId id="355"/>
            <p14:sldId id="356"/>
            <p14:sldId id="357"/>
            <p14:sldId id="364"/>
            <p14:sldId id="358"/>
            <p14:sldId id="365"/>
            <p14:sldId id="359"/>
            <p14:sldId id="274"/>
            <p14:sldId id="275"/>
            <p14:sldId id="279"/>
            <p14:sldId id="384"/>
            <p14:sldId id="367"/>
            <p14:sldId id="312"/>
            <p14:sldId id="362"/>
            <p14:sldId id="368"/>
            <p14:sldId id="361"/>
            <p14:sldId id="363"/>
            <p14:sldId id="369"/>
            <p14:sldId id="385"/>
            <p14:sldId id="376"/>
            <p14:sldId id="371"/>
            <p14:sldId id="372"/>
            <p14:sldId id="373"/>
            <p14:sldId id="374"/>
            <p14:sldId id="375"/>
          </p14:sldIdLst>
        </p14:section>
        <p14:section name="ICONOS" id="{2168C9E6-31B2-F24C-AECE-7BD8FAA6BE9A}">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74"/>
  </p:normalViewPr>
  <p:slideViewPr>
    <p:cSldViewPr snapToGrid="0" snapToObjects="1">
      <p:cViewPr varScale="1">
        <p:scale>
          <a:sx n="64" d="100"/>
          <a:sy n="64" d="100"/>
        </p:scale>
        <p:origin x="9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oseg\Documents\Paola\01-%20Proyectos\CONSEJO%20DE%20CHIA\02.%20Documentaci&#243;n%20SGC\00-%20Revisi&#243;n%20por%20la%20Direcci&#243;n\consoildado%20mapas%20de%20riesgo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1A6E-4DBA-B04D-CA44E11193AB}"/>
              </c:ext>
            </c:extLst>
          </c:dPt>
          <c:dPt>
            <c:idx val="1"/>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1A6E-4DBA-B04D-CA44E11193AB}"/>
              </c:ext>
            </c:extLst>
          </c:dPt>
          <c:dLbls>
            <c:spPr>
              <a:noFill/>
              <a:ln>
                <a:noFill/>
              </a:ln>
              <a:effectLst/>
            </c:spPr>
            <c:txPr>
              <a:bodyPr rot="0" spcFirstLastPara="1" vertOverflow="ellipsis" vert="horz" wrap="square" lIns="38100" tIns="19050" rIns="38100" bIns="19050" anchor="ctr" anchorCtr="1">
                <a:spAutoFit/>
              </a:bodyPr>
              <a:lstStyle/>
              <a:p>
                <a:pPr>
                  <a:defRPr sz="2800" b="1" i="0" u="none" strike="noStrike" kern="1200" baseline="0">
                    <a:solidFill>
                      <a:schemeClr val="lt1"/>
                    </a:solidFill>
                    <a:latin typeface="+mn-lt"/>
                    <a:ea typeface="+mn-ea"/>
                    <a:cs typeface="+mn-cs"/>
                  </a:defRPr>
                </a:pPr>
                <a:endParaRPr lang="es-CO"/>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Hoja1!$E$5:$E$6</c:f>
              <c:strCache>
                <c:ptCount val="2"/>
                <c:pt idx="0">
                  <c:v>SI</c:v>
                </c:pt>
                <c:pt idx="1">
                  <c:v>NO</c:v>
                </c:pt>
              </c:strCache>
            </c:strRef>
          </c:cat>
          <c:val>
            <c:numRef>
              <c:f>Hoja1!$F$5:$F$6</c:f>
              <c:numCache>
                <c:formatCode>General</c:formatCode>
                <c:ptCount val="2"/>
                <c:pt idx="0">
                  <c:v>35</c:v>
                </c:pt>
                <c:pt idx="1">
                  <c:v>10</c:v>
                </c:pt>
              </c:numCache>
            </c:numRef>
          </c:val>
          <c:extLst>
            <c:ext xmlns:c16="http://schemas.microsoft.com/office/drawing/2014/chart" uri="{C3380CC4-5D6E-409C-BE32-E72D297353CC}">
              <c16:uniqueId val="{00000004-1A6E-4DBA-B04D-CA44E11193AB}"/>
            </c:ext>
          </c:extLst>
        </c:ser>
        <c:dLbls>
          <c:dLblPos val="bestFit"/>
          <c:showLegendKey val="0"/>
          <c:showVal val="0"/>
          <c:showCatName val="0"/>
          <c:showSerName val="0"/>
          <c:showPercent val="1"/>
          <c:showBubbleSize val="0"/>
          <c:showLeaderLines val="1"/>
        </c:dLbls>
        <c:firstSliceAng val="0"/>
      </c:pieChart>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pivotSource>
    <c:name>[consoildado mapas de riesgos.xlsx]Hoja3!TablaDinámica2</c:name>
    <c:fmtId val="-1"/>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CO" b="1"/>
              <a:t>RIESGO RESIDUAL DESPUES DE CONTROLES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CO"/>
        </a:p>
      </c:txPr>
    </c:title>
    <c:autoTitleDeleted val="0"/>
    <c:pivotFmts>
      <c:pivotFmt>
        <c:idx val="0"/>
        <c:spPr>
          <a:solidFill>
            <a:schemeClr val="accent2"/>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ysClr val="windowText" lastClr="000000"/>
                  </a:solidFill>
                  <a:latin typeface="+mn-lt"/>
                  <a:ea typeface="+mn-ea"/>
                  <a:cs typeface="+mn-cs"/>
                </a:defRPr>
              </a:pPr>
              <a:endParaRPr lang="es-CO"/>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00B050"/>
          </a:solidFill>
          <a:ln w="25400">
            <a:solidFill>
              <a:schemeClr val="lt1"/>
            </a:solidFill>
          </a:ln>
          <a:effectLst/>
          <a:sp3d contourW="25400">
            <a:contourClr>
              <a:schemeClr val="lt1"/>
            </a:contourClr>
          </a:sp3d>
        </c:spPr>
      </c:pivotFmt>
      <c:pivotFmt>
        <c:idx val="2"/>
        <c:spPr>
          <a:solidFill>
            <a:srgbClr val="FFFF00"/>
          </a:solidFill>
          <a:ln w="25400">
            <a:solidFill>
              <a:schemeClr val="lt1"/>
            </a:solidFill>
          </a:ln>
          <a:effectLst/>
          <a:sp3d contourW="25400">
            <a:contourClr>
              <a:schemeClr val="lt1"/>
            </a:contourClr>
          </a:sp3d>
        </c:spPr>
      </c:pivotFmt>
      <c:pivotFmt>
        <c:idx val="3"/>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s-CO"/>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C00000"/>
          </a:solidFill>
          <a:ln w="25400">
            <a:solidFill>
              <a:schemeClr val="lt1"/>
            </a:solidFill>
          </a:ln>
          <a:effectLst/>
          <a:sp3d contourW="25400">
            <a:contourClr>
              <a:schemeClr val="lt1"/>
            </a:contourClr>
          </a:sp3d>
        </c:spPr>
      </c:pivotFmt>
      <c:pivotFmt>
        <c:idx val="5"/>
        <c:spPr>
          <a:solidFill>
            <a:srgbClr val="FFFF00"/>
          </a:solidFill>
          <a:ln w="25400">
            <a:solidFill>
              <a:schemeClr val="lt1"/>
            </a:solidFill>
          </a:ln>
          <a:effectLst/>
          <a:sp3d contourW="25400">
            <a:contourClr>
              <a:schemeClr val="lt1"/>
            </a:contourClr>
          </a:sp3d>
        </c:spPr>
      </c:pivotFmt>
      <c:pivotFmt>
        <c:idx val="6"/>
        <c:spPr>
          <a:solidFill>
            <a:srgbClr val="92D050"/>
          </a:solidFill>
          <a:ln w="25400">
            <a:solidFill>
              <a:schemeClr val="lt1"/>
            </a:solidFill>
          </a:ln>
          <a:effectLst/>
          <a:sp3d contourW="25400">
            <a:contourClr>
              <a:schemeClr val="lt1"/>
            </a:contourClr>
          </a:sp3d>
        </c:spPr>
      </c:pivotFmt>
      <c:pivotFmt>
        <c:idx val="7"/>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s-CO"/>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C00000"/>
          </a:solidFill>
          <a:ln w="25400">
            <a:solidFill>
              <a:schemeClr val="lt1"/>
            </a:solidFill>
          </a:ln>
          <a:effectLst/>
          <a:sp3d contourW="25400">
            <a:contourClr>
              <a:schemeClr val="lt1"/>
            </a:contourClr>
          </a:sp3d>
        </c:spPr>
      </c:pivotFmt>
      <c:pivotFmt>
        <c:idx val="9"/>
        <c:spPr>
          <a:solidFill>
            <a:srgbClr val="92D050"/>
          </a:solidFill>
          <a:ln w="25400">
            <a:solidFill>
              <a:schemeClr val="lt1"/>
            </a:solidFill>
          </a:ln>
          <a:effectLst/>
          <a:sp3d contourW="25400">
            <a:contourClr>
              <a:schemeClr val="lt1"/>
            </a:contourClr>
          </a:sp3d>
        </c:spPr>
      </c:pivotFmt>
      <c:pivotFmt>
        <c:idx val="10"/>
        <c:spPr>
          <a:solidFill>
            <a:srgbClr val="FFFF00"/>
          </a:solidFill>
          <a:ln w="25400">
            <a:solidFill>
              <a:schemeClr val="lt1"/>
            </a:solidFill>
          </a:ln>
          <a:effectLst/>
          <a:sp3d contourW="25400">
            <a:contourClr>
              <a:schemeClr val="lt1"/>
            </a:contourClr>
          </a:sp3d>
        </c:spPr>
      </c:pivotFmt>
      <c:pivotFmt>
        <c:idx val="11"/>
        <c:spPr>
          <a:solidFill>
            <a:schemeClr val="accent1"/>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s-CO"/>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rgbClr val="C00000"/>
          </a:solidFill>
          <a:ln w="25400">
            <a:solidFill>
              <a:schemeClr val="lt1"/>
            </a:solidFill>
          </a:ln>
          <a:effectLst/>
          <a:sp3d contourW="25400">
            <a:contourClr>
              <a:schemeClr val="lt1"/>
            </a:contourClr>
          </a:sp3d>
        </c:spPr>
      </c:pivotFmt>
      <c:pivotFmt>
        <c:idx val="13"/>
        <c:spPr>
          <a:solidFill>
            <a:srgbClr val="92D050"/>
          </a:solidFill>
          <a:ln w="25400">
            <a:solidFill>
              <a:schemeClr val="lt1"/>
            </a:solidFill>
          </a:ln>
          <a:effectLst/>
          <a:sp3d contourW="25400">
            <a:contourClr>
              <a:schemeClr val="lt1"/>
            </a:contourClr>
          </a:sp3d>
        </c:spPr>
      </c:pivotFmt>
      <c:pivotFmt>
        <c:idx val="14"/>
        <c:spPr>
          <a:solidFill>
            <a:srgbClr val="FFFF00"/>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Hoja3!$B$3</c:f>
              <c:strCache>
                <c:ptCount val="1"/>
                <c:pt idx="0">
                  <c:v>Total</c:v>
                </c:pt>
              </c:strCache>
            </c:strRef>
          </c:tx>
          <c:dPt>
            <c:idx val="0"/>
            <c:bubble3D val="0"/>
            <c:spPr>
              <a:solidFill>
                <a:srgbClr val="C00000"/>
              </a:solidFill>
              <a:ln w="25400">
                <a:solidFill>
                  <a:schemeClr val="lt1"/>
                </a:solidFill>
              </a:ln>
              <a:effectLst/>
              <a:sp3d contourW="25400">
                <a:contourClr>
                  <a:schemeClr val="lt1"/>
                </a:contourClr>
              </a:sp3d>
            </c:spPr>
            <c:extLst>
              <c:ext xmlns:c16="http://schemas.microsoft.com/office/drawing/2014/chart" uri="{C3380CC4-5D6E-409C-BE32-E72D297353CC}">
                <c16:uniqueId val="{00000001-E20F-4DF0-8ADA-BB31E3C1ADBD}"/>
              </c:ext>
            </c:extLst>
          </c:dPt>
          <c:dPt>
            <c:idx val="1"/>
            <c:bubble3D val="0"/>
            <c:spPr>
              <a:solidFill>
                <a:srgbClr val="92D050"/>
              </a:solidFill>
              <a:ln w="25400">
                <a:solidFill>
                  <a:schemeClr val="lt1"/>
                </a:solidFill>
              </a:ln>
              <a:effectLst/>
              <a:sp3d contourW="25400">
                <a:contourClr>
                  <a:schemeClr val="lt1"/>
                </a:contourClr>
              </a:sp3d>
            </c:spPr>
            <c:extLst>
              <c:ext xmlns:c16="http://schemas.microsoft.com/office/drawing/2014/chart" uri="{C3380CC4-5D6E-409C-BE32-E72D297353CC}">
                <c16:uniqueId val="{00000003-E20F-4DF0-8ADA-BB31E3C1ADBD}"/>
              </c:ext>
            </c:extLst>
          </c:dPt>
          <c:dPt>
            <c:idx val="2"/>
            <c:bubble3D val="0"/>
            <c:spPr>
              <a:solidFill>
                <a:srgbClr val="FFFF00"/>
              </a:solidFill>
              <a:ln w="25400">
                <a:solidFill>
                  <a:schemeClr val="lt1"/>
                </a:solidFill>
              </a:ln>
              <a:effectLst/>
              <a:sp3d contourW="25400">
                <a:contourClr>
                  <a:schemeClr val="lt1"/>
                </a:contourClr>
              </a:sp3d>
            </c:spPr>
            <c:extLst>
              <c:ext xmlns:c16="http://schemas.microsoft.com/office/drawing/2014/chart" uri="{C3380CC4-5D6E-409C-BE32-E72D297353CC}">
                <c16:uniqueId val="{00000005-E20F-4DF0-8ADA-BB31E3C1ADBD}"/>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s-CO"/>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Hoja3!$A$4:$A$7</c:f>
              <c:strCache>
                <c:ptCount val="3"/>
                <c:pt idx="0">
                  <c:v>ALTO</c:v>
                </c:pt>
                <c:pt idx="1">
                  <c:v>BAJO</c:v>
                </c:pt>
                <c:pt idx="2">
                  <c:v>MODERADO</c:v>
                </c:pt>
              </c:strCache>
            </c:strRef>
          </c:cat>
          <c:val>
            <c:numRef>
              <c:f>Hoja3!$B$4:$B$7</c:f>
              <c:numCache>
                <c:formatCode>General</c:formatCode>
                <c:ptCount val="3"/>
                <c:pt idx="0">
                  <c:v>3</c:v>
                </c:pt>
                <c:pt idx="1">
                  <c:v>4</c:v>
                </c:pt>
                <c:pt idx="2">
                  <c:v>23</c:v>
                </c:pt>
              </c:numCache>
            </c:numRef>
          </c:val>
          <c:extLst>
            <c:ext xmlns:c16="http://schemas.microsoft.com/office/drawing/2014/chart" uri="{C3380CC4-5D6E-409C-BE32-E72D297353CC}">
              <c16:uniqueId val="{00000006-E20F-4DF0-8ADA-BB31E3C1ADBD}"/>
            </c:ext>
          </c:extLst>
        </c:ser>
        <c:dLbls>
          <c:showLegendKey val="0"/>
          <c:showVal val="0"/>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CO"/>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DE1632-74DA-4A42-A74E-B4D9C2AC565E}" type="datetimeFigureOut">
              <a:rPr lang="es-CO" smtClean="0"/>
              <a:t>19/12/2022</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AC1A1A-C374-484C-A070-342735F78513}" type="slidenum">
              <a:rPr lang="es-CO" smtClean="0"/>
              <a:t>‹Nº›</a:t>
            </a:fld>
            <a:endParaRPr lang="es-CO"/>
          </a:p>
        </p:txBody>
      </p:sp>
    </p:spTree>
    <p:extLst>
      <p:ext uri="{BB962C8B-B14F-4D97-AF65-F5344CB8AC3E}">
        <p14:creationId xmlns:p14="http://schemas.microsoft.com/office/powerpoint/2010/main" val="2515797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526aa67fe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g1526aa67fe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0520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526aa67fe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g1526aa67fe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2707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526aa67fe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g1526aa67fe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6278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526aa67fe9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g1526aa67fe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854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Clic para editar título</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S_tradnl"/>
          </a:p>
        </p:txBody>
      </p:sp>
      <p:sp>
        <p:nvSpPr>
          <p:cNvPr id="4" name="Marcador de fecha 3"/>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1797311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Clic para editar título</a:t>
            </a:r>
            <a:endParaRPr lang="es-ES_tradnl"/>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912191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Clic para editar título</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321154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Clic para editar título</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4"/>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1015377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Clic para editar título</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6"/>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8" name="Marcador de pie de página 7"/>
          <p:cNvSpPr>
            <a:spLocks noGrp="1"/>
          </p:cNvSpPr>
          <p:nvPr>
            <p:ph type="ftr" sz="quarter" idx="11"/>
          </p:nvPr>
        </p:nvSpPr>
        <p:spPr/>
        <p:txBody>
          <a:bodyPr/>
          <a:lstStyle/>
          <a:p>
            <a:endParaRPr lang="es-ES_tradnl"/>
          </a:p>
        </p:txBody>
      </p:sp>
      <p:sp>
        <p:nvSpPr>
          <p:cNvPr id="9" name="Marcador de número de diapositiva 8"/>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1542869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Clic para editar título</a:t>
            </a:r>
            <a:endParaRPr lang="es-ES_tradnl"/>
          </a:p>
        </p:txBody>
      </p:sp>
      <p:sp>
        <p:nvSpPr>
          <p:cNvPr id="3" name="Marcador de fecha 2"/>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4" name="Marcador de pie de página 3"/>
          <p:cNvSpPr>
            <a:spLocks noGrp="1"/>
          </p:cNvSpPr>
          <p:nvPr>
            <p:ph type="ftr" sz="quarter" idx="11"/>
          </p:nvPr>
        </p:nvSpPr>
        <p:spPr/>
        <p:txBody>
          <a:bodyPr/>
          <a:lstStyle/>
          <a:p>
            <a:endParaRPr lang="es-ES_tradnl"/>
          </a:p>
        </p:txBody>
      </p:sp>
      <p:sp>
        <p:nvSpPr>
          <p:cNvPr id="5" name="Marcador de número de diapositiva 4"/>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136329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3" name="Marcador de pie de página 2"/>
          <p:cNvSpPr>
            <a:spLocks noGrp="1"/>
          </p:cNvSpPr>
          <p:nvPr>
            <p:ph type="ftr" sz="quarter" idx="11"/>
          </p:nvPr>
        </p:nvSpPr>
        <p:spPr/>
        <p:txBody>
          <a:bodyPr/>
          <a:lstStyle/>
          <a:p>
            <a:endParaRPr lang="es-ES_tradnl"/>
          </a:p>
        </p:txBody>
      </p:sp>
      <p:sp>
        <p:nvSpPr>
          <p:cNvPr id="4" name="Marcador de número de diapositiva 3"/>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2073061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Clic para editar título</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1169924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Clic para editar título</a:t>
            </a:r>
            <a:endParaRPr lang="es-ES_tradnl"/>
          </a:p>
        </p:txBody>
      </p:sp>
      <p:sp>
        <p:nvSpPr>
          <p:cNvPr id="3" name="Marcador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565253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Clic para editar título</a:t>
            </a:r>
            <a:endParaRPr lang="es-ES_tradnl"/>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1894109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Clic para editar título</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p>
            <a:fld id="{450C9E1B-88D2-F641-BE27-BEAE7819FAB6}" type="datetimeFigureOut">
              <a:rPr lang="es-ES_tradnl" smtClean="0"/>
              <a:t>19/12/2022</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3808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15"/>
        <p:cNvGrpSpPr/>
        <p:nvPr/>
      </p:nvGrpSpPr>
      <p:grpSpPr>
        <a:xfrm>
          <a:off x="0" y="0"/>
          <a:ext cx="0" cy="0"/>
          <a:chOff x="0" y="0"/>
          <a:chExt cx="0" cy="0"/>
        </a:xfrm>
      </p:grpSpPr>
      <p:sp>
        <p:nvSpPr>
          <p:cNvPr id="16" name="Google Shape;16;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505548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40"/>
        <p:cNvGrpSpPr/>
        <p:nvPr/>
      </p:nvGrpSpPr>
      <p:grpSpPr>
        <a:xfrm>
          <a:off x="0" y="0"/>
          <a:ext cx="0" cy="0"/>
          <a:chOff x="0" y="0"/>
          <a:chExt cx="0" cy="0"/>
        </a:xfrm>
      </p:grpSpPr>
      <p:sp>
        <p:nvSpPr>
          <p:cNvPr id="41" name="Google Shape;41;p5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5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5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5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405443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olo el título" type="titleOnly">
  <p:cSld name="Solo el título">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363717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54"/>
        <p:cNvGrpSpPr/>
        <p:nvPr/>
      </p:nvGrpSpPr>
      <p:grpSpPr>
        <a:xfrm>
          <a:off x="0" y="0"/>
          <a:ext cx="0" cy="0"/>
          <a:chOff x="0" y="0"/>
          <a:chExt cx="0" cy="0"/>
        </a:xfrm>
      </p:grpSpPr>
      <p:sp>
        <p:nvSpPr>
          <p:cNvPr id="55" name="Google Shape;55;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220901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ido con título" type="objTx">
  <p:cSld name="Contenido con título">
    <p:spTree>
      <p:nvGrpSpPr>
        <p:cNvPr id="1" name="Shape 58"/>
        <p:cNvGrpSpPr/>
        <p:nvPr/>
      </p:nvGrpSpPr>
      <p:grpSpPr>
        <a:xfrm>
          <a:off x="0" y="0"/>
          <a:ext cx="0" cy="0"/>
          <a:chOff x="0" y="0"/>
          <a:chExt cx="0" cy="0"/>
        </a:xfrm>
      </p:grpSpPr>
      <p:sp>
        <p:nvSpPr>
          <p:cNvPr id="59" name="Google Shape;59;p5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41503280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65"/>
        <p:cNvGrpSpPr/>
        <p:nvPr/>
      </p:nvGrpSpPr>
      <p:grpSpPr>
        <a:xfrm>
          <a:off x="0" y="0"/>
          <a:ext cx="0" cy="0"/>
          <a:chOff x="0" y="0"/>
          <a:chExt cx="0" cy="0"/>
        </a:xfrm>
      </p:grpSpPr>
      <p:sp>
        <p:nvSpPr>
          <p:cNvPr id="66" name="Google Shape;66;p5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6"/>
          <p:cNvSpPr>
            <a:spLocks noGrp="1"/>
          </p:cNvSpPr>
          <p:nvPr>
            <p:ph type="pic" idx="2"/>
          </p:nvPr>
        </p:nvSpPr>
        <p:spPr>
          <a:xfrm>
            <a:off x="5183188" y="987425"/>
            <a:ext cx="6172200" cy="4873625"/>
          </a:xfrm>
          <a:prstGeom prst="rect">
            <a:avLst/>
          </a:prstGeom>
          <a:noFill/>
          <a:ln>
            <a:noFill/>
          </a:ln>
        </p:spPr>
      </p:sp>
      <p:sp>
        <p:nvSpPr>
          <p:cNvPr id="68" name="Google Shape;68;p5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605729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72"/>
        <p:cNvGrpSpPr/>
        <p:nvPr/>
      </p:nvGrpSpPr>
      <p:grpSpPr>
        <a:xfrm>
          <a:off x="0" y="0"/>
          <a:ext cx="0" cy="0"/>
          <a:chOff x="0" y="0"/>
          <a:chExt cx="0" cy="0"/>
        </a:xfrm>
      </p:grpSpPr>
      <p:sp>
        <p:nvSpPr>
          <p:cNvPr id="73" name="Google Shape;73;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710406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Título vertical y texto">
    <p:spTree>
      <p:nvGrpSpPr>
        <p:cNvPr id="1" name="Shape 78"/>
        <p:cNvGrpSpPr/>
        <p:nvPr/>
      </p:nvGrpSpPr>
      <p:grpSpPr>
        <a:xfrm>
          <a:off x="0" y="0"/>
          <a:ext cx="0" cy="0"/>
          <a:chOff x="0" y="0"/>
          <a:chExt cx="0" cy="0"/>
        </a:xfrm>
      </p:grpSpPr>
      <p:sp>
        <p:nvSpPr>
          <p:cNvPr id="79" name="Google Shape;79;p5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953866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Clic para editar título</a:t>
            </a:r>
            <a:endParaRPr lang="es-ES_tradnl"/>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0C9E1B-88D2-F641-BE27-BEAE7819FAB6}" type="datetimeFigureOut">
              <a:rPr lang="es-ES_tradnl" smtClean="0"/>
              <a:t>19/12/2022</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C0CBFC-615F-654A-ADFB-D132924116B0}" type="slidenum">
              <a:rPr lang="es-ES_tradnl" smtClean="0"/>
              <a:t>‹Nº›</a:t>
            </a:fld>
            <a:endParaRPr lang="es-ES_tradnl"/>
          </a:p>
        </p:txBody>
      </p:sp>
    </p:spTree>
    <p:extLst>
      <p:ext uri="{BB962C8B-B14F-4D97-AF65-F5344CB8AC3E}">
        <p14:creationId xmlns:p14="http://schemas.microsoft.com/office/powerpoint/2010/main" val="183237417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00906663"/>
      </p:ext>
    </p:extLst>
  </p:cSld>
  <p:clrMap bg1="lt1" tx1="dk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chart" Target="../charts/chart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uadroTexto 3"/>
          <p:cNvSpPr txBox="1"/>
          <p:nvPr/>
        </p:nvSpPr>
        <p:spPr>
          <a:xfrm>
            <a:off x="10462437" y="361507"/>
            <a:ext cx="184731" cy="369332"/>
          </a:xfrm>
          <a:prstGeom prst="rect">
            <a:avLst/>
          </a:prstGeom>
          <a:noFill/>
        </p:spPr>
        <p:txBody>
          <a:bodyPr wrap="none" rtlCol="0">
            <a:spAutoFit/>
          </a:bodyPr>
          <a:lstStyle/>
          <a:p>
            <a:endParaRPr lang="es-ES_tradnl" dirty="0"/>
          </a:p>
        </p:txBody>
      </p:sp>
    </p:spTree>
    <p:extLst>
      <p:ext uri="{BB962C8B-B14F-4D97-AF65-F5344CB8AC3E}">
        <p14:creationId xmlns:p14="http://schemas.microsoft.com/office/powerpoint/2010/main" val="446246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3C56EE9C-6E76-3F42-1D73-808D9B85DE91}"/>
              </a:ext>
            </a:extLst>
          </p:cNvPr>
          <p:cNvSpPr txBox="1">
            <a:spLocks/>
          </p:cNvSpPr>
          <p:nvPr/>
        </p:nvSpPr>
        <p:spPr>
          <a:xfrm>
            <a:off x="389744" y="1922834"/>
            <a:ext cx="11452486"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noProof="1">
                <a:latin typeface="+mn-lt"/>
              </a:rPr>
              <a:t>COMITE INSTITUCIONAL DE GESTIÓN Y DESEMPEÑO</a:t>
            </a:r>
          </a:p>
          <a:p>
            <a:pPr algn="ctr"/>
            <a:r>
              <a:rPr lang="en-US" b="1" noProof="1">
                <a:solidFill>
                  <a:schemeClr val="accent5"/>
                </a:solidFill>
                <a:latin typeface="+mn-lt"/>
              </a:rPr>
              <a:t>REVISIÓN POR LA DIRECCIÓN </a:t>
            </a:r>
          </a:p>
        </p:txBody>
      </p:sp>
      <p:sp>
        <p:nvSpPr>
          <p:cNvPr id="3" name="Content Placeholder 5">
            <a:extLst>
              <a:ext uri="{FF2B5EF4-FFF2-40B4-BE49-F238E27FC236}">
                <a16:creationId xmlns:a16="http://schemas.microsoft.com/office/drawing/2014/main" id="{7B5D2B9C-5154-929B-98A8-FCADEA233BBB}"/>
              </a:ext>
            </a:extLst>
          </p:cNvPr>
          <p:cNvSpPr txBox="1">
            <a:spLocks/>
          </p:cNvSpPr>
          <p:nvPr/>
        </p:nvSpPr>
        <p:spPr>
          <a:xfrm>
            <a:off x="838200" y="3422863"/>
            <a:ext cx="10515600" cy="10704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2400" b="1" noProof="1"/>
              <a:t>Vigencia 2022</a:t>
            </a:r>
          </a:p>
        </p:txBody>
      </p:sp>
      <p:sp>
        <p:nvSpPr>
          <p:cNvPr id="6" name="CuadroTexto 5">
            <a:extLst>
              <a:ext uri="{FF2B5EF4-FFF2-40B4-BE49-F238E27FC236}">
                <a16:creationId xmlns:a16="http://schemas.microsoft.com/office/drawing/2014/main" id="{7210B4DD-A396-7CE0-AEF0-0CBEA0189536}"/>
              </a:ext>
            </a:extLst>
          </p:cNvPr>
          <p:cNvSpPr txBox="1"/>
          <p:nvPr/>
        </p:nvSpPr>
        <p:spPr>
          <a:xfrm>
            <a:off x="4838075" y="5462878"/>
            <a:ext cx="3505200" cy="36933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dirty="0"/>
              <a:t>Chía, 15 Diciembre de 2021</a:t>
            </a:r>
          </a:p>
        </p:txBody>
      </p:sp>
    </p:spTree>
    <p:extLst>
      <p:ext uri="{BB962C8B-B14F-4D97-AF65-F5344CB8AC3E}">
        <p14:creationId xmlns:p14="http://schemas.microsoft.com/office/powerpoint/2010/main" val="2554584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CE268EA0-4E65-B3BF-39E9-D2FABD853C83}"/>
              </a:ext>
            </a:extLst>
          </p:cNvPr>
          <p:cNvSpPr txBox="1"/>
          <p:nvPr/>
        </p:nvSpPr>
        <p:spPr>
          <a:xfrm>
            <a:off x="1221336" y="2664663"/>
            <a:ext cx="2424332" cy="1107996"/>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6600" b="1" i="0" u="none" strike="noStrike" kern="1200" cap="none" spc="0" normalizeH="0" baseline="0" noProof="0" dirty="0">
                <a:ln>
                  <a:noFill/>
                </a:ln>
                <a:solidFill>
                  <a:schemeClr val="accent5"/>
                </a:solidFill>
                <a:effectLst/>
                <a:uLnTx/>
                <a:uFillTx/>
                <a:latin typeface="Calibri" panose="020F0502020204030204"/>
                <a:ea typeface="+mn-ea"/>
              </a:rPr>
              <a:t>1.|</a:t>
            </a:r>
            <a:endParaRPr kumimoji="0" lang="es-CO" sz="66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537508FB-885B-F124-665A-891247D89765}"/>
              </a:ext>
            </a:extLst>
          </p:cNvPr>
          <p:cNvSpPr>
            <a:spLocks noChangeArrowheads="1"/>
          </p:cNvSpPr>
          <p:nvPr/>
        </p:nvSpPr>
        <p:spPr bwMode="auto">
          <a:xfrm>
            <a:off x="2331629" y="2593299"/>
            <a:ext cx="9283942"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lang="es-ES_tradnl" altLang="es-CO" sz="4400" b="1" dirty="0">
                <a:solidFill>
                  <a:schemeClr val="accent5"/>
                </a:solidFill>
                <a:latin typeface="Calibri" panose="020F0502020204030204"/>
                <a:ea typeface="Work Sans Light" charset="0"/>
                <a:cs typeface="Work Sans Light" charset="0"/>
              </a:rPr>
              <a:t>OBJETIVO </a:t>
            </a:r>
            <a:r>
              <a:rPr kumimoji="0" lang="es-ES_tradnl" altLang="es-CO" sz="44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 REVISIÓN</a:t>
            </a:r>
            <a:r>
              <a:rPr lang="es-ES_tradnl" altLang="es-CO" sz="4400" b="1" dirty="0">
                <a:solidFill>
                  <a:schemeClr val="accent5"/>
                </a:solidFill>
                <a:latin typeface="Calibri" panose="020F0502020204030204"/>
                <a:ea typeface="Work Sans Light" charset="0"/>
                <a:cs typeface="Work Sans Light" charset="0"/>
              </a:rPr>
              <a:t> POR LA DIRECCIÓN</a:t>
            </a:r>
            <a:endParaRPr kumimoji="0" lang="es-ES_tradnl" altLang="es-CO" sz="44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endParaRPr>
          </a:p>
        </p:txBody>
      </p:sp>
      <p:sp>
        <p:nvSpPr>
          <p:cNvPr id="4" name="CuadroTexto 3">
            <a:extLst>
              <a:ext uri="{FF2B5EF4-FFF2-40B4-BE49-F238E27FC236}">
                <a16:creationId xmlns:a16="http://schemas.microsoft.com/office/drawing/2014/main" id="{47F461D8-B34F-A2E8-1827-42CE59227C1C}"/>
              </a:ext>
            </a:extLst>
          </p:cNvPr>
          <p:cNvSpPr txBox="1"/>
          <p:nvPr/>
        </p:nvSpPr>
        <p:spPr>
          <a:xfrm>
            <a:off x="3046828" y="4497905"/>
            <a:ext cx="6098344" cy="703591"/>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mn-cs"/>
              </a:rPr>
              <a:t>AIDA PAOLA GUEVARA MORALES</a:t>
            </a:r>
          </a:p>
          <a:p>
            <a:pPr marL="0" marR="0" lvl="0" indent="0" algn="ctr" defTabSz="914400" rtl="0" eaLnBrk="1" fontAlgn="auto" latinLnBrk="0" hangingPunct="1">
              <a:lnSpc>
                <a:spcPct val="115000"/>
              </a:lnSpc>
              <a:spcBef>
                <a:spcPts val="0"/>
              </a:spcBef>
              <a:spcAft>
                <a:spcPts val="0"/>
              </a:spcAft>
              <a:buClrTx/>
              <a:buSzTx/>
              <a:buFontTx/>
              <a:buNone/>
              <a:tabLst/>
              <a:defRPr/>
            </a:pPr>
            <a:r>
              <a:rPr lang="es-MX" dirty="0">
                <a:solidFill>
                  <a:prstClr val="black"/>
                </a:solidFill>
                <a:latin typeface="Arial" panose="020B0604020202020204" pitchFamily="34" charset="0"/>
                <a:ea typeface="Times New Roman" panose="02020603050405020304" pitchFamily="18" charset="0"/>
              </a:rPr>
              <a:t>Gestión de Calidad</a:t>
            </a:r>
            <a:endParaRPr kumimoji="0" lang="es-ES" sz="120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824884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ECEEBB-1B79-E2DC-5AA5-7746D212E249}"/>
              </a:ext>
            </a:extLst>
          </p:cNvPr>
          <p:cNvSpPr>
            <a:spLocks noGrp="1"/>
          </p:cNvSpPr>
          <p:nvPr>
            <p:ph type="title"/>
          </p:nvPr>
        </p:nvSpPr>
        <p:spPr>
          <a:xfrm>
            <a:off x="1494077" y="953506"/>
            <a:ext cx="8750449" cy="1281113"/>
          </a:xfrm>
        </p:spPr>
        <p:txBody>
          <a:bodyPr>
            <a:normAutofit/>
          </a:bodyPr>
          <a:lstStyle/>
          <a:p>
            <a:pPr algn="ctr"/>
            <a:r>
              <a:rPr lang="es-ES" sz="3600" b="1" dirty="0">
                <a:solidFill>
                  <a:schemeClr val="accent5"/>
                </a:solidFill>
              </a:rPr>
              <a:t>OBJETIVO</a:t>
            </a:r>
          </a:p>
        </p:txBody>
      </p:sp>
      <p:sp>
        <p:nvSpPr>
          <p:cNvPr id="3" name="Marcador de contenido 2">
            <a:extLst>
              <a:ext uri="{FF2B5EF4-FFF2-40B4-BE49-F238E27FC236}">
                <a16:creationId xmlns:a16="http://schemas.microsoft.com/office/drawing/2014/main" id="{C206522B-9870-83BA-3309-54E010136FCB}"/>
              </a:ext>
            </a:extLst>
          </p:cNvPr>
          <p:cNvSpPr>
            <a:spLocks noGrp="1"/>
          </p:cNvSpPr>
          <p:nvPr>
            <p:ph idx="1"/>
          </p:nvPr>
        </p:nvSpPr>
        <p:spPr>
          <a:xfrm>
            <a:off x="838200" y="2234619"/>
            <a:ext cx="10515600" cy="4351338"/>
          </a:xfrm>
        </p:spPr>
        <p:txBody>
          <a:bodyPr>
            <a:normAutofit/>
          </a:bodyPr>
          <a:lstStyle/>
          <a:p>
            <a:pPr algn="just"/>
            <a:r>
              <a:rPr lang="es-CO" sz="2400" dirty="0">
                <a:ea typeface="Verdana" pitchFamily="34" charset="0"/>
                <a:cs typeface="Verdana" pitchFamily="34" charset="0"/>
              </a:rPr>
              <a:t>Realizar la revisión por la Alta dirección, con el propósito de evaluar el desempeño, cumplimiento de los procesos, los resultados de la mejora, así como la conveniencia, adecuación, eficacia y articulación del Sistema de gestión de calidad con la Planeación  Estratégica del Concejo Municipal de Chía</a:t>
            </a:r>
          </a:p>
          <a:p>
            <a:pPr marL="0" indent="0" algn="just">
              <a:buNone/>
            </a:pPr>
            <a:endParaRPr lang="es-CO" sz="2400" dirty="0">
              <a:ea typeface="Verdana" pitchFamily="34" charset="0"/>
              <a:cs typeface="Verdana" pitchFamily="34" charset="0"/>
            </a:endParaRPr>
          </a:p>
          <a:p>
            <a:pPr algn="just"/>
            <a:r>
              <a:rPr lang="es-CO" sz="2400" dirty="0">
                <a:ea typeface="Verdana" pitchFamily="34" charset="0"/>
                <a:cs typeface="Verdana" pitchFamily="34" charset="0"/>
              </a:rPr>
              <a:t>Generar decisiones y acciones relacionadas con: oportunidades de mejora, cualquier necesidad de cambio del sistema de gestión de calidad, necesidades de recursos;  que permitan el logro de la misión institucional a través de la contribución de los procesos del sistema gestión de la calidad.</a:t>
            </a:r>
          </a:p>
          <a:p>
            <a:pPr marL="0" indent="0">
              <a:buNone/>
            </a:pPr>
            <a:endParaRPr lang="es-ES" sz="2400" dirty="0"/>
          </a:p>
        </p:txBody>
      </p:sp>
    </p:spTree>
    <p:extLst>
      <p:ext uri="{BB962C8B-B14F-4D97-AF65-F5344CB8AC3E}">
        <p14:creationId xmlns:p14="http://schemas.microsoft.com/office/powerpoint/2010/main" val="107774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DEDCE42A-D304-39EF-F91B-3940B2C5CCB0}"/>
              </a:ext>
            </a:extLst>
          </p:cNvPr>
          <p:cNvGraphicFramePr>
            <a:graphicFrameLocks noGrp="1"/>
          </p:cNvGraphicFramePr>
          <p:nvPr>
            <p:extLst>
              <p:ext uri="{D42A27DB-BD31-4B8C-83A1-F6EECF244321}">
                <p14:modId xmlns:p14="http://schemas.microsoft.com/office/powerpoint/2010/main" val="3525750438"/>
              </p:ext>
            </p:extLst>
          </p:nvPr>
        </p:nvGraphicFramePr>
        <p:xfrm>
          <a:off x="494675" y="1295626"/>
          <a:ext cx="11302584" cy="4130040"/>
        </p:xfrm>
        <a:graphic>
          <a:graphicData uri="http://schemas.openxmlformats.org/drawingml/2006/table">
            <a:tbl>
              <a:tblPr firstRow="1" bandRow="1">
                <a:tableStyleId>{912C8C85-51F0-491E-9774-3900AFEF0FD7}</a:tableStyleId>
              </a:tblPr>
              <a:tblGrid>
                <a:gridCol w="6475751">
                  <a:extLst>
                    <a:ext uri="{9D8B030D-6E8A-4147-A177-3AD203B41FA5}">
                      <a16:colId xmlns:a16="http://schemas.microsoft.com/office/drawing/2014/main" val="299598956"/>
                    </a:ext>
                  </a:extLst>
                </a:gridCol>
                <a:gridCol w="4826833">
                  <a:extLst>
                    <a:ext uri="{9D8B030D-6E8A-4147-A177-3AD203B41FA5}">
                      <a16:colId xmlns:a16="http://schemas.microsoft.com/office/drawing/2014/main" val="457961810"/>
                    </a:ext>
                  </a:extLst>
                </a:gridCol>
              </a:tblGrid>
              <a:tr h="370840">
                <a:tc>
                  <a:txBody>
                    <a:bodyPr/>
                    <a:lstStyle/>
                    <a:p>
                      <a:pPr algn="ctr"/>
                      <a:r>
                        <a:rPr lang="es-CO" dirty="0">
                          <a:solidFill>
                            <a:schemeClr val="bg1"/>
                          </a:solidFill>
                        </a:rPr>
                        <a:t>TEMA</a:t>
                      </a:r>
                    </a:p>
                  </a:txBody>
                  <a:tcPr>
                    <a:solidFill>
                      <a:schemeClr val="accent5"/>
                    </a:solidFill>
                  </a:tcPr>
                </a:tc>
                <a:tc>
                  <a:txBody>
                    <a:bodyPr/>
                    <a:lstStyle/>
                    <a:p>
                      <a:pPr algn="ctr"/>
                      <a:r>
                        <a:rPr lang="es-CO" dirty="0">
                          <a:solidFill>
                            <a:schemeClr val="bg1"/>
                          </a:solidFill>
                        </a:rPr>
                        <a:t>RESPONSABLE  PRESENTAR INFORMACIÓN</a:t>
                      </a:r>
                      <a:r>
                        <a:rPr lang="es-CO" baseline="0" dirty="0">
                          <a:solidFill>
                            <a:schemeClr val="bg1"/>
                          </a:solidFill>
                        </a:rPr>
                        <a:t> </a:t>
                      </a:r>
                      <a:endParaRPr lang="es-CO" dirty="0">
                        <a:solidFill>
                          <a:schemeClr val="bg1"/>
                        </a:solidFill>
                      </a:endParaRPr>
                    </a:p>
                  </a:txBody>
                  <a:tcPr>
                    <a:solidFill>
                      <a:schemeClr val="accent5"/>
                    </a:solidFill>
                  </a:tcPr>
                </a:tc>
                <a:extLst>
                  <a:ext uri="{0D108BD9-81ED-4DB2-BD59-A6C34878D82A}">
                    <a16:rowId xmlns:a16="http://schemas.microsoft.com/office/drawing/2014/main" val="81888963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O" b="1" dirty="0"/>
                        <a:t>1.</a:t>
                      </a:r>
                      <a:r>
                        <a:rPr lang="es-CO" b="1" baseline="0" dirty="0"/>
                        <a:t> </a:t>
                      </a:r>
                      <a:r>
                        <a:rPr lang="es-ES" sz="1800" b="1" dirty="0"/>
                        <a:t>OBJETIVO </a:t>
                      </a:r>
                    </a:p>
                  </a:txBody>
                  <a:tcPr/>
                </a:tc>
                <a:tc>
                  <a:txBody>
                    <a:bodyPr/>
                    <a:lstStyle/>
                    <a:p>
                      <a:r>
                        <a:rPr lang="es-CO" dirty="0"/>
                        <a:t>Aida Paola Guevara Morales</a:t>
                      </a:r>
                    </a:p>
                  </a:txBody>
                  <a:tcPr/>
                </a:tc>
                <a:extLst>
                  <a:ext uri="{0D108BD9-81ED-4DB2-BD59-A6C34878D82A}">
                    <a16:rowId xmlns:a16="http://schemas.microsoft.com/office/drawing/2014/main" val="15402224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800" b="1" dirty="0"/>
                        <a:t>2. VERIFICACIÓN DEL QUORUM </a:t>
                      </a:r>
                    </a:p>
                  </a:txBody>
                  <a:tcPr/>
                </a:tc>
                <a:tc>
                  <a:txBody>
                    <a:bodyPr/>
                    <a:lstStyle/>
                    <a:p>
                      <a:r>
                        <a:rPr lang="es-CO" dirty="0"/>
                        <a:t>Carolina Romero</a:t>
                      </a:r>
                    </a:p>
                  </a:txBody>
                  <a:tcPr/>
                </a:tc>
                <a:extLst>
                  <a:ext uri="{0D108BD9-81ED-4DB2-BD59-A6C34878D82A}">
                    <a16:rowId xmlns:a16="http://schemas.microsoft.com/office/drawing/2014/main" val="907131693"/>
                  </a:ext>
                </a:extLst>
              </a:tr>
              <a:tr h="370840">
                <a:tc>
                  <a:txBody>
                    <a:bodyPr/>
                    <a:lstStyle/>
                    <a:p>
                      <a:r>
                        <a:rPr lang="es-CO" b="1" dirty="0"/>
                        <a:t>3. </a:t>
                      </a:r>
                      <a:r>
                        <a:rPr lang="es-ES" sz="1800" b="1" dirty="0"/>
                        <a:t>CAMBIOS EN EL CONTEXTO DE LA ENTIDAD QUE AFECTEN EL SGC</a:t>
                      </a:r>
                      <a:endParaRPr lang="es-CO" b="1" dirty="0"/>
                    </a:p>
                  </a:txBody>
                  <a:tcPr/>
                </a:tc>
                <a:tc>
                  <a:txBody>
                    <a:bodyPr/>
                    <a:lstStyle/>
                    <a:p>
                      <a:r>
                        <a:rPr lang="es-CO" dirty="0"/>
                        <a:t>Carolina Bueno</a:t>
                      </a:r>
                    </a:p>
                    <a:p>
                      <a:r>
                        <a:rPr lang="es-CO" dirty="0"/>
                        <a:t>Todos</a:t>
                      </a:r>
                      <a:r>
                        <a:rPr lang="es-CO" baseline="0" dirty="0"/>
                        <a:t> los Líderes de los procesos</a:t>
                      </a:r>
                      <a:endParaRPr lang="es-CO" dirty="0"/>
                    </a:p>
                  </a:txBody>
                  <a:tcPr/>
                </a:tc>
                <a:extLst>
                  <a:ext uri="{0D108BD9-81ED-4DB2-BD59-A6C34878D82A}">
                    <a16:rowId xmlns:a16="http://schemas.microsoft.com/office/drawing/2014/main" val="22631626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O" b="1" dirty="0"/>
                        <a:t>4. </a:t>
                      </a:r>
                      <a:r>
                        <a:rPr lang="es-ES" sz="1800" b="1" dirty="0"/>
                        <a:t>RESULTADO DEL DESEMPEÑO INSTITUCIONAL</a:t>
                      </a:r>
                    </a:p>
                    <a:p>
                      <a:pPr marL="342900" marR="0" lvl="0" indent="-342900" algn="l" defTabSz="914400" rtl="0" eaLnBrk="1" fontAlgn="auto" latinLnBrk="0" hangingPunct="1">
                        <a:lnSpc>
                          <a:spcPct val="100000"/>
                        </a:lnSpc>
                        <a:spcBef>
                          <a:spcPts val="0"/>
                        </a:spcBef>
                        <a:spcAft>
                          <a:spcPts val="0"/>
                        </a:spcAft>
                        <a:buClrTx/>
                        <a:buSzTx/>
                        <a:buFontTx/>
                        <a:buAutoNum type="alphaUcPeriod"/>
                        <a:tabLst/>
                        <a:defRPr/>
                      </a:pPr>
                      <a:r>
                        <a:rPr lang="es-CO" sz="1800" b="0" dirty="0"/>
                        <a:t>Cumplimiento del Plan de Acción </a:t>
                      </a:r>
                      <a:endParaRPr lang="es-CO" sz="1800" b="0" u="none" dirty="0"/>
                    </a:p>
                    <a:p>
                      <a:pPr marL="342900" marR="0" indent="-342900" algn="l" defTabSz="914400" rtl="0" eaLnBrk="1" fontAlgn="auto" latinLnBrk="0" hangingPunct="1">
                        <a:lnSpc>
                          <a:spcPct val="100000"/>
                        </a:lnSpc>
                        <a:spcBef>
                          <a:spcPts val="0"/>
                        </a:spcBef>
                        <a:spcAft>
                          <a:spcPts val="0"/>
                        </a:spcAft>
                        <a:buClrTx/>
                        <a:buSzTx/>
                        <a:buFontTx/>
                        <a:buAutoNum type="alphaUcPeriod"/>
                        <a:tabLst/>
                        <a:defRPr/>
                      </a:pPr>
                      <a:r>
                        <a:rPr lang="es-CO" sz="1800" b="0" u="none" dirty="0"/>
                        <a:t>Cumplimiento de la Política y Objetivos de la calidad.</a:t>
                      </a:r>
                      <a:endParaRPr lang="es-CO" sz="1800" b="0" dirty="0"/>
                    </a:p>
                    <a:p>
                      <a:pPr marL="0" marR="0" indent="0" algn="l" defTabSz="914400" rtl="0" eaLnBrk="1" fontAlgn="auto" latinLnBrk="0" hangingPunct="1">
                        <a:lnSpc>
                          <a:spcPct val="100000"/>
                        </a:lnSpc>
                        <a:spcBef>
                          <a:spcPts val="0"/>
                        </a:spcBef>
                        <a:spcAft>
                          <a:spcPts val="0"/>
                        </a:spcAft>
                        <a:buClrTx/>
                        <a:buSzTx/>
                        <a:buFontTx/>
                        <a:buNone/>
                        <a:tabLst/>
                        <a:defRPr/>
                      </a:pPr>
                      <a:r>
                        <a:rPr lang="es-CO" sz="1800" b="0" dirty="0"/>
                        <a:t>C. Desempeño de los Procesos-</a:t>
                      </a:r>
                      <a:r>
                        <a:rPr lang="es-CO" sz="1800" b="0" baseline="0" dirty="0"/>
                        <a:t> Indicadores de Gestión.</a:t>
                      </a:r>
                    </a:p>
                    <a:p>
                      <a:pPr marL="0" marR="0" indent="0" algn="l" defTabSz="914400" rtl="0" eaLnBrk="1" fontAlgn="auto" latinLnBrk="0" hangingPunct="1">
                        <a:lnSpc>
                          <a:spcPct val="100000"/>
                        </a:lnSpc>
                        <a:spcBef>
                          <a:spcPts val="0"/>
                        </a:spcBef>
                        <a:spcAft>
                          <a:spcPts val="0"/>
                        </a:spcAft>
                        <a:buClrTx/>
                        <a:buSzTx/>
                        <a:buFontTx/>
                        <a:buNone/>
                        <a:tabLst/>
                        <a:defRPr/>
                      </a:pPr>
                      <a:r>
                        <a:rPr lang="es-CO" sz="1800" b="0" baseline="0" dirty="0"/>
                        <a:t>D. Resultado Encuesta de Satisfacción</a:t>
                      </a:r>
                    </a:p>
                    <a:p>
                      <a:pPr marL="0" marR="0" indent="0" algn="l" defTabSz="914400" rtl="0" eaLnBrk="1" fontAlgn="auto" latinLnBrk="0" hangingPunct="1">
                        <a:lnSpc>
                          <a:spcPct val="100000"/>
                        </a:lnSpc>
                        <a:spcBef>
                          <a:spcPts val="0"/>
                        </a:spcBef>
                        <a:spcAft>
                          <a:spcPts val="0"/>
                        </a:spcAft>
                        <a:buClrTx/>
                        <a:buSzTx/>
                        <a:buFontTx/>
                        <a:buNone/>
                        <a:tabLst/>
                        <a:defRPr/>
                      </a:pPr>
                      <a:r>
                        <a:rPr lang="es-CO" sz="1800" b="0" baseline="0" dirty="0"/>
                        <a:t>E. Gestión de las PQRSDS</a:t>
                      </a:r>
                      <a:endParaRPr lang="es-CO" sz="1800" b="0" dirty="0"/>
                    </a:p>
                  </a:txBody>
                  <a:tcPr/>
                </a:tc>
                <a:tc>
                  <a:txBody>
                    <a:bodyPr/>
                    <a:lstStyle/>
                    <a:p>
                      <a:endParaRPr lang="es-CO" dirty="0"/>
                    </a:p>
                    <a:p>
                      <a:r>
                        <a:rPr lang="es-CO" baseline="0" dirty="0"/>
                        <a:t>A. Carolina Bueno</a:t>
                      </a:r>
                      <a:endParaRPr lang="es-CO" dirty="0"/>
                    </a:p>
                    <a:p>
                      <a:r>
                        <a:rPr lang="es-CO" baseline="0" dirty="0"/>
                        <a:t>B.  Paola Guevara Morales</a:t>
                      </a:r>
                    </a:p>
                    <a:p>
                      <a:pPr marL="0" indent="0">
                        <a:buNone/>
                      </a:pPr>
                      <a:r>
                        <a:rPr lang="es-CO" baseline="0" dirty="0"/>
                        <a:t>C. Todos los lideres de los proceso</a:t>
                      </a:r>
                    </a:p>
                    <a:p>
                      <a:pPr marL="0" marR="0" lvl="0" indent="0" algn="l" defTabSz="914400" rtl="0" eaLnBrk="1" fontAlgn="auto" latinLnBrk="0" hangingPunct="1">
                        <a:lnSpc>
                          <a:spcPct val="100000"/>
                        </a:lnSpc>
                        <a:spcBef>
                          <a:spcPts val="0"/>
                        </a:spcBef>
                        <a:spcAft>
                          <a:spcPts val="0"/>
                        </a:spcAft>
                        <a:buClrTx/>
                        <a:buSzTx/>
                        <a:buFontTx/>
                        <a:buNone/>
                        <a:tabLst/>
                        <a:defRPr/>
                      </a:pPr>
                      <a:r>
                        <a:rPr lang="es-CO" baseline="0" dirty="0"/>
                        <a:t>D. </a:t>
                      </a:r>
                      <a:r>
                        <a:rPr lang="es-CO" dirty="0"/>
                        <a:t>Ingrid  Ávila </a:t>
                      </a:r>
                      <a:r>
                        <a:rPr lang="es-CO" dirty="0" err="1"/>
                        <a:t>Ávila</a:t>
                      </a:r>
                      <a:endParaRPr lang="es-CO" dirty="0"/>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E. María Isabel  Valbuena</a:t>
                      </a:r>
                    </a:p>
                  </a:txBody>
                  <a:tcPr/>
                </a:tc>
                <a:extLst>
                  <a:ext uri="{0D108BD9-81ED-4DB2-BD59-A6C34878D82A}">
                    <a16:rowId xmlns:a16="http://schemas.microsoft.com/office/drawing/2014/main" val="146212858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800" b="1" dirty="0"/>
                        <a:t>5. </a:t>
                      </a:r>
                      <a:r>
                        <a:rPr lang="es-ES_tradnl" sz="1800" b="1" dirty="0"/>
                        <a:t>CONFORMIDAD DEL PRODUCTO Y SERVICIO</a:t>
                      </a:r>
                      <a:endParaRPr lang="es-ES" sz="1800" b="1" dirty="0"/>
                    </a:p>
                  </a:txBody>
                  <a:tcPr/>
                </a:tc>
                <a:tc>
                  <a:txBody>
                    <a:bodyPr/>
                    <a:lstStyle/>
                    <a:p>
                      <a:r>
                        <a:rPr lang="es-CO" dirty="0"/>
                        <a:t>Secretaria General</a:t>
                      </a:r>
                    </a:p>
                    <a:p>
                      <a:r>
                        <a:rPr lang="es-CO" dirty="0"/>
                        <a:t>Ingrid  Ávila </a:t>
                      </a:r>
                      <a:r>
                        <a:rPr lang="es-CO" dirty="0" err="1"/>
                        <a:t>Ávila</a:t>
                      </a:r>
                      <a:endParaRPr lang="es-CO" baseline="0" dirty="0"/>
                    </a:p>
                  </a:txBody>
                  <a:tcPr/>
                </a:tc>
                <a:extLst>
                  <a:ext uri="{0D108BD9-81ED-4DB2-BD59-A6C34878D82A}">
                    <a16:rowId xmlns:a16="http://schemas.microsoft.com/office/drawing/2014/main" val="852452280"/>
                  </a:ext>
                </a:extLst>
              </a:tr>
            </a:tbl>
          </a:graphicData>
        </a:graphic>
      </p:graphicFrame>
      <p:sp>
        <p:nvSpPr>
          <p:cNvPr id="3" name="Title 4">
            <a:extLst>
              <a:ext uri="{FF2B5EF4-FFF2-40B4-BE49-F238E27FC236}">
                <a16:creationId xmlns:a16="http://schemas.microsoft.com/office/drawing/2014/main" id="{85A387D7-A255-1207-3D99-6CB66E645FAC}"/>
              </a:ext>
            </a:extLst>
          </p:cNvPr>
          <p:cNvSpPr txBox="1">
            <a:spLocks/>
          </p:cNvSpPr>
          <p:nvPr/>
        </p:nvSpPr>
        <p:spPr>
          <a:xfrm>
            <a:off x="657010" y="603207"/>
            <a:ext cx="9858650" cy="6924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1">
                <a:ln>
                  <a:noFill/>
                </a:ln>
                <a:solidFill>
                  <a:srgbClr val="70AD47"/>
                </a:solidFill>
                <a:effectLst/>
                <a:uLnTx/>
                <a:uFillTx/>
                <a:latin typeface="Calibri" panose="020F0502020204030204"/>
                <a:ea typeface="+mj-ea"/>
                <a:cs typeface="+mj-cs"/>
              </a:rPr>
              <a:t>1. </a:t>
            </a:r>
            <a:r>
              <a:rPr kumimoji="0" lang="es-ES" sz="2800" b="1" i="0" u="none" strike="noStrike" kern="1200" cap="none" spc="0" normalizeH="0" baseline="0" noProof="1">
                <a:ln>
                  <a:noFill/>
                </a:ln>
                <a:solidFill>
                  <a:srgbClr val="70AD47"/>
                </a:solidFill>
                <a:effectLst/>
                <a:uLnTx/>
                <a:uFillTx/>
                <a:latin typeface="Calibri" panose="020F0502020204030204"/>
                <a:ea typeface="+mj-ea"/>
                <a:cs typeface="+mj-cs"/>
              </a:rPr>
              <a:t>AGENDA DEL COMITÉ</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2400" b="1" i="0" u="none" strike="noStrike" kern="1200" cap="none" spc="0" normalizeH="0" baseline="0" noProof="1">
              <a:ln>
                <a:noFill/>
              </a:ln>
              <a:solidFill>
                <a:prstClr val="black"/>
              </a:solidFill>
              <a:effectLst/>
              <a:uLnTx/>
              <a:uFillTx/>
              <a:latin typeface="Calibri" panose="020F0502020204030204"/>
              <a:ea typeface="+mj-ea"/>
              <a:cs typeface="+mj-cs"/>
            </a:endParaRPr>
          </a:p>
        </p:txBody>
      </p:sp>
    </p:spTree>
    <p:extLst>
      <p:ext uri="{BB962C8B-B14F-4D97-AF65-F5344CB8AC3E}">
        <p14:creationId xmlns:p14="http://schemas.microsoft.com/office/powerpoint/2010/main" val="162362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B91C9C6C-B146-4CFC-224D-E1D4CB97AE0A}"/>
              </a:ext>
            </a:extLst>
          </p:cNvPr>
          <p:cNvGraphicFramePr>
            <a:graphicFrameLocks noGrp="1"/>
          </p:cNvGraphicFramePr>
          <p:nvPr>
            <p:extLst>
              <p:ext uri="{D42A27DB-BD31-4B8C-83A1-F6EECF244321}">
                <p14:modId xmlns:p14="http://schemas.microsoft.com/office/powerpoint/2010/main" val="852157117"/>
              </p:ext>
            </p:extLst>
          </p:nvPr>
        </p:nvGraphicFramePr>
        <p:xfrm>
          <a:off x="665361" y="1205684"/>
          <a:ext cx="10922036" cy="3975900"/>
        </p:xfrm>
        <a:graphic>
          <a:graphicData uri="http://schemas.openxmlformats.org/drawingml/2006/table">
            <a:tbl>
              <a:tblPr firstRow="1" bandRow="1">
                <a:tableStyleId>{912C8C85-51F0-491E-9774-3900AFEF0FD7}</a:tableStyleId>
              </a:tblPr>
              <a:tblGrid>
                <a:gridCol w="6469957">
                  <a:extLst>
                    <a:ext uri="{9D8B030D-6E8A-4147-A177-3AD203B41FA5}">
                      <a16:colId xmlns:a16="http://schemas.microsoft.com/office/drawing/2014/main" val="299598956"/>
                    </a:ext>
                  </a:extLst>
                </a:gridCol>
                <a:gridCol w="4452079">
                  <a:extLst>
                    <a:ext uri="{9D8B030D-6E8A-4147-A177-3AD203B41FA5}">
                      <a16:colId xmlns:a16="http://schemas.microsoft.com/office/drawing/2014/main" val="457961810"/>
                    </a:ext>
                  </a:extLst>
                </a:gridCol>
              </a:tblGrid>
              <a:tr h="370840">
                <a:tc>
                  <a:txBody>
                    <a:bodyPr/>
                    <a:lstStyle/>
                    <a:p>
                      <a:pPr algn="ctr"/>
                      <a:r>
                        <a:rPr lang="es-CO" dirty="0"/>
                        <a:t>TEMA</a:t>
                      </a:r>
                    </a:p>
                  </a:txBody>
                  <a:tcPr>
                    <a:solidFill>
                      <a:schemeClr val="accent5"/>
                    </a:solidFill>
                  </a:tcPr>
                </a:tc>
                <a:tc>
                  <a:txBody>
                    <a:bodyPr/>
                    <a:lstStyle/>
                    <a:p>
                      <a:pPr algn="ctr"/>
                      <a:r>
                        <a:rPr lang="es-CO" dirty="0"/>
                        <a:t>RESPONSABLE  INFORMACIÓN</a:t>
                      </a:r>
                      <a:r>
                        <a:rPr lang="es-CO" baseline="0" dirty="0"/>
                        <a:t> </a:t>
                      </a:r>
                      <a:endParaRPr lang="es-CO" dirty="0"/>
                    </a:p>
                  </a:txBody>
                  <a:tcPr>
                    <a:solidFill>
                      <a:schemeClr val="accent5"/>
                    </a:solidFill>
                  </a:tcPr>
                </a:tc>
                <a:extLst>
                  <a:ext uri="{0D108BD9-81ED-4DB2-BD59-A6C34878D82A}">
                    <a16:rowId xmlns:a16="http://schemas.microsoft.com/office/drawing/2014/main" val="81888963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800" b="1" dirty="0"/>
                        <a:t>6. </a:t>
                      </a:r>
                      <a:r>
                        <a:rPr lang="es-ES_tradnl" sz="1800" b="1" dirty="0"/>
                        <a:t>ESTADO ACCIONES CORRECTIVAS Y OPORTUNIDADES</a:t>
                      </a:r>
                      <a:endParaRPr lang="es-ES" sz="1800" b="1" dirty="0"/>
                    </a:p>
                  </a:txBody>
                  <a:tcPr/>
                </a:tc>
                <a:tc>
                  <a:txBody>
                    <a:bodyPr/>
                    <a:lstStyle/>
                    <a:p>
                      <a:r>
                        <a:rPr lang="es-CO" dirty="0"/>
                        <a:t>Paola Guevara</a:t>
                      </a:r>
                    </a:p>
                  </a:txBody>
                  <a:tcPr/>
                </a:tc>
                <a:extLst>
                  <a:ext uri="{0D108BD9-81ED-4DB2-BD59-A6C34878D82A}">
                    <a16:rowId xmlns:a16="http://schemas.microsoft.com/office/drawing/2014/main" val="1540222401"/>
                  </a:ext>
                </a:extLst>
              </a:tr>
              <a:tr h="12174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800" b="1" dirty="0"/>
                        <a:t>7. RESULTADOS </a:t>
                      </a:r>
                      <a:r>
                        <a:rPr lang="es-ES" sz="1800" b="1" dirty="0"/>
                        <a:t>DE AUDITORIA</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a:t>A. Auditoria Control Interno.</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a:t>B. Auditoria Interna de Calidad</a:t>
                      </a:r>
                    </a:p>
                  </a:txBody>
                  <a:tcPr/>
                </a:tc>
                <a:tc>
                  <a:txBody>
                    <a:bodyPr/>
                    <a:lstStyle/>
                    <a:p>
                      <a:pPr marL="342900" marR="0" indent="-342900" algn="l" defTabSz="914400" rtl="0" eaLnBrk="1" fontAlgn="auto" latinLnBrk="0" hangingPunct="1">
                        <a:lnSpc>
                          <a:spcPct val="100000"/>
                        </a:lnSpc>
                        <a:spcBef>
                          <a:spcPts val="0"/>
                        </a:spcBef>
                        <a:spcAft>
                          <a:spcPts val="0"/>
                        </a:spcAft>
                        <a:buClrTx/>
                        <a:buSzTx/>
                        <a:buFontTx/>
                        <a:buAutoNum type="alphaUcPeriod"/>
                        <a:tabLst/>
                        <a:defRPr/>
                      </a:pPr>
                      <a:endParaRPr lang="es-CO" dirty="0"/>
                    </a:p>
                    <a:p>
                      <a:pPr marL="342900" marR="0" indent="-342900" algn="l" defTabSz="914400" rtl="0" eaLnBrk="1" fontAlgn="auto" latinLnBrk="0" hangingPunct="1">
                        <a:lnSpc>
                          <a:spcPct val="100000"/>
                        </a:lnSpc>
                        <a:spcBef>
                          <a:spcPts val="0"/>
                        </a:spcBef>
                        <a:spcAft>
                          <a:spcPts val="0"/>
                        </a:spcAft>
                        <a:buClrTx/>
                        <a:buSzTx/>
                        <a:buFontTx/>
                        <a:buAutoNum type="alphaUcPeriod"/>
                        <a:tabLst/>
                        <a:defRPr/>
                      </a:pPr>
                      <a:r>
                        <a:rPr lang="es-CO" dirty="0"/>
                        <a:t>Geovanni  Castro</a:t>
                      </a:r>
                      <a:endParaRPr lang="es-CO" baseline="0" dirty="0"/>
                    </a:p>
                    <a:p>
                      <a:pPr marL="342900" marR="0" indent="-342900" algn="l" defTabSz="914400" rtl="0" eaLnBrk="1" fontAlgn="auto" latinLnBrk="0" hangingPunct="1">
                        <a:lnSpc>
                          <a:spcPct val="100000"/>
                        </a:lnSpc>
                        <a:spcBef>
                          <a:spcPts val="0"/>
                        </a:spcBef>
                        <a:spcAft>
                          <a:spcPts val="0"/>
                        </a:spcAft>
                        <a:buClrTx/>
                        <a:buSzTx/>
                        <a:buFontTx/>
                        <a:buAutoNum type="alphaUcPeriod"/>
                        <a:tabLst/>
                        <a:defRPr/>
                      </a:pPr>
                      <a:r>
                        <a:rPr lang="es-CO" baseline="0" dirty="0"/>
                        <a:t>B. Paola Guevara</a:t>
                      </a:r>
                      <a:endParaRPr lang="es-CO" dirty="0"/>
                    </a:p>
                  </a:txBody>
                  <a:tcPr/>
                </a:tc>
                <a:extLst>
                  <a:ext uri="{0D108BD9-81ED-4DB2-BD59-A6C34878D82A}">
                    <a16:rowId xmlns:a16="http://schemas.microsoft.com/office/drawing/2014/main" val="29612662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800" b="1" dirty="0"/>
                        <a:t>8. DESEMPEÑO DE PROVEEDORES EXTERNOS</a:t>
                      </a:r>
                      <a:endParaRPr lang="es-ES" sz="1800" b="1" dirty="0"/>
                    </a:p>
                    <a:p>
                      <a:endParaRPr lang="es-CO" dirty="0"/>
                    </a:p>
                  </a:txBody>
                  <a:tcPr/>
                </a:tc>
                <a:tc>
                  <a:txBody>
                    <a:bodyPr/>
                    <a:lstStyle/>
                    <a:p>
                      <a:pPr algn="l"/>
                      <a:r>
                        <a:rPr lang="es-CO" dirty="0"/>
                        <a:t>Sandra Clavijo</a:t>
                      </a:r>
                    </a:p>
                    <a:p>
                      <a:pPr algn="l"/>
                      <a:r>
                        <a:rPr lang="es-CO" dirty="0"/>
                        <a:t>Santiago </a:t>
                      </a:r>
                    </a:p>
                  </a:txBody>
                  <a:tcPr/>
                </a:tc>
                <a:extLst>
                  <a:ext uri="{0D108BD9-81ED-4DB2-BD59-A6C34878D82A}">
                    <a16:rowId xmlns:a16="http://schemas.microsoft.com/office/drawing/2014/main" val="226316269"/>
                  </a:ext>
                </a:extLst>
              </a:tr>
              <a:tr h="1823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800" b="1" dirty="0"/>
                        <a:t>9. </a:t>
                      </a:r>
                      <a:r>
                        <a:rPr lang="es-ES_tradnl" sz="1800" b="1" dirty="0"/>
                        <a:t>EFICACIA DE ACCIONES TOMADAS PARA ABORDAR RIESGOS Y OPORTUNIDADES</a:t>
                      </a:r>
                    </a:p>
                  </a:txBody>
                  <a:tcPr/>
                </a:tc>
                <a:tc>
                  <a:txBody>
                    <a:bodyPr/>
                    <a:lstStyle/>
                    <a:p>
                      <a:r>
                        <a:rPr lang="es-CO" dirty="0"/>
                        <a:t>Paola Guevara</a:t>
                      </a:r>
                    </a:p>
                    <a:p>
                      <a:pPr algn="ctr"/>
                      <a:endParaRPr lang="es-CO" baseline="0" dirty="0"/>
                    </a:p>
                  </a:txBody>
                  <a:tcPr/>
                </a:tc>
                <a:extLst>
                  <a:ext uri="{0D108BD9-81ED-4DB2-BD59-A6C34878D82A}">
                    <a16:rowId xmlns:a16="http://schemas.microsoft.com/office/drawing/2014/main" val="1462128584"/>
                  </a:ext>
                </a:extLst>
              </a:tr>
              <a:tr h="1823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_tradnl" sz="1800" b="1" dirty="0"/>
                        <a:t>10. APROBACIÓN PROPUESTA POLITICA DECALIDAD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Paola Guevara</a:t>
                      </a:r>
                    </a:p>
                  </a:txBody>
                  <a:tcPr/>
                </a:tc>
                <a:extLst>
                  <a:ext uri="{0D108BD9-81ED-4DB2-BD59-A6C34878D82A}">
                    <a16:rowId xmlns:a16="http://schemas.microsoft.com/office/drawing/2014/main" val="4060839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800" b="1" dirty="0"/>
                        <a:t>11. </a:t>
                      </a:r>
                      <a:r>
                        <a:rPr lang="es-ES_tradnl" sz="1800" b="1" dirty="0"/>
                        <a:t>ADECUACIÓN Y NECESIDAD DE RECURSOS</a:t>
                      </a:r>
                      <a:endParaRPr lang="es-ES" sz="1800" b="1" dirty="0"/>
                    </a:p>
                  </a:txBody>
                  <a:tcPr/>
                </a:tc>
                <a:tc>
                  <a:txBody>
                    <a:bodyPr/>
                    <a:lstStyle/>
                    <a:p>
                      <a:pPr marL="0" indent="0" algn="l">
                        <a:buNone/>
                      </a:pPr>
                      <a:r>
                        <a:rPr lang="es-CO" baseline="0" dirty="0"/>
                        <a:t>Carolina Romero</a:t>
                      </a:r>
                    </a:p>
                  </a:txBody>
                  <a:tcPr/>
                </a:tc>
                <a:extLst>
                  <a:ext uri="{0D108BD9-81ED-4DB2-BD59-A6C34878D82A}">
                    <a16:rowId xmlns:a16="http://schemas.microsoft.com/office/drawing/2014/main" val="852452280"/>
                  </a:ext>
                </a:extLst>
              </a:tr>
            </a:tbl>
          </a:graphicData>
        </a:graphic>
      </p:graphicFrame>
    </p:spTree>
    <p:extLst>
      <p:ext uri="{BB962C8B-B14F-4D97-AF65-F5344CB8AC3E}">
        <p14:creationId xmlns:p14="http://schemas.microsoft.com/office/powerpoint/2010/main" val="4174222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3C1500B-A28F-B2AD-CC61-B58A82141F2D}"/>
              </a:ext>
            </a:extLst>
          </p:cNvPr>
          <p:cNvSpPr txBox="1"/>
          <p:nvPr/>
        </p:nvSpPr>
        <p:spPr>
          <a:xfrm>
            <a:off x="3046828" y="4018220"/>
            <a:ext cx="6098344" cy="606000"/>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mn-cs"/>
              </a:rPr>
              <a:t>CAROLINA ROMERO CANACUÉ</a:t>
            </a:r>
          </a:p>
          <a:p>
            <a:pPr marL="0" marR="0" lvl="0" indent="0" algn="ctr" defTabSz="914400" rtl="0" eaLnBrk="1" fontAlgn="auto" latinLnBrk="0" hangingPunct="1">
              <a:lnSpc>
                <a:spcPct val="115000"/>
              </a:lnSpc>
              <a:spcBef>
                <a:spcPts val="0"/>
              </a:spcBef>
              <a:spcAft>
                <a:spcPts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mn-cs"/>
              </a:rPr>
              <a:t>Director Administrativo y Financiero</a:t>
            </a:r>
            <a:endParaRPr kumimoji="0" lang="es-ES" sz="12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
        <p:nvSpPr>
          <p:cNvPr id="2" name="1 CuadroTexto">
            <a:extLst>
              <a:ext uri="{FF2B5EF4-FFF2-40B4-BE49-F238E27FC236}">
                <a16:creationId xmlns:a16="http://schemas.microsoft.com/office/drawing/2014/main" id="{9F061BE9-70B8-2D0A-F604-CB916DCA881B}"/>
              </a:ext>
            </a:extLst>
          </p:cNvPr>
          <p:cNvSpPr txBox="1"/>
          <p:nvPr/>
        </p:nvSpPr>
        <p:spPr>
          <a:xfrm>
            <a:off x="1166675" y="2142858"/>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2.|</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4" name="Rectangle 2">
            <a:extLst>
              <a:ext uri="{FF2B5EF4-FFF2-40B4-BE49-F238E27FC236}">
                <a16:creationId xmlns:a16="http://schemas.microsoft.com/office/drawing/2014/main" id="{C959030B-E43F-5E37-75C2-F313DCA219FE}"/>
              </a:ext>
            </a:extLst>
          </p:cNvPr>
          <p:cNvSpPr>
            <a:spLocks noChangeArrowheads="1"/>
          </p:cNvSpPr>
          <p:nvPr/>
        </p:nvSpPr>
        <p:spPr bwMode="auto">
          <a:xfrm>
            <a:off x="2378841" y="2064321"/>
            <a:ext cx="928394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ES"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Llamado a lista y verificación del Quorum.</a:t>
            </a:r>
            <a:endParaRPr kumimoji="0" lang="es-ES_tradnl"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endParaRPr>
          </a:p>
        </p:txBody>
      </p:sp>
    </p:spTree>
    <p:extLst>
      <p:ext uri="{BB962C8B-B14F-4D97-AF65-F5344CB8AC3E}">
        <p14:creationId xmlns:p14="http://schemas.microsoft.com/office/powerpoint/2010/main" val="4183492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D11C16E3-7BC9-43CA-4715-814D94D50491}"/>
              </a:ext>
            </a:extLst>
          </p:cNvPr>
          <p:cNvSpPr txBox="1"/>
          <p:nvPr/>
        </p:nvSpPr>
        <p:spPr>
          <a:xfrm>
            <a:off x="1221336" y="2664663"/>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7200" b="1" dirty="0">
                <a:solidFill>
                  <a:schemeClr val="accent5"/>
                </a:solidFill>
                <a:latin typeface="Calibri" panose="020F0502020204030204"/>
              </a:rPr>
              <a:t>3</a:t>
            </a: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D2027AEC-0490-3036-3CE5-26EA329AAEA5}"/>
              </a:ext>
            </a:extLst>
          </p:cNvPr>
          <p:cNvSpPr>
            <a:spLocks noChangeArrowheads="1"/>
          </p:cNvSpPr>
          <p:nvPr/>
        </p:nvSpPr>
        <p:spPr bwMode="auto">
          <a:xfrm>
            <a:off x="2433502" y="2586126"/>
            <a:ext cx="928394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CAMBIOS EN EL CONTEXTO DE LA ENTIDAD QUE AFECTEN EL SGC</a:t>
            </a:r>
            <a:endParaRPr kumimoji="0" lang="es-ES_tradnl"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endParaRPr>
          </a:p>
        </p:txBody>
      </p:sp>
      <p:sp>
        <p:nvSpPr>
          <p:cNvPr id="4" name="CuadroTexto 3">
            <a:extLst>
              <a:ext uri="{FF2B5EF4-FFF2-40B4-BE49-F238E27FC236}">
                <a16:creationId xmlns:a16="http://schemas.microsoft.com/office/drawing/2014/main" id="{E34721AD-C0D3-A016-D9E7-F1D878522ECE}"/>
              </a:ext>
            </a:extLst>
          </p:cNvPr>
          <p:cNvSpPr txBox="1"/>
          <p:nvPr/>
        </p:nvSpPr>
        <p:spPr>
          <a:xfrm>
            <a:off x="3315458" y="4534525"/>
            <a:ext cx="6093500" cy="830997"/>
          </a:xfrm>
          <a:prstGeom prst="rect">
            <a:avLst/>
          </a:prstGeom>
          <a:noFill/>
        </p:spPr>
        <p:txBody>
          <a:bodyPr wrap="square">
            <a:spAutoFit/>
          </a:bodyPr>
          <a:lstStyle/>
          <a:p>
            <a:pPr algn="ctr"/>
            <a:r>
              <a:rPr lang="es-CO" sz="2400" b="1" dirty="0"/>
              <a:t>CAROLINA BUENO</a:t>
            </a:r>
          </a:p>
          <a:p>
            <a:pPr algn="ctr"/>
            <a:r>
              <a:rPr lang="es-CO" sz="2400" dirty="0"/>
              <a:t>Profesional Universitario</a:t>
            </a:r>
          </a:p>
        </p:txBody>
      </p:sp>
    </p:spTree>
    <p:extLst>
      <p:ext uri="{BB962C8B-B14F-4D97-AF65-F5344CB8AC3E}">
        <p14:creationId xmlns:p14="http://schemas.microsoft.com/office/powerpoint/2010/main" val="1879087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2" name="5 Tabla">
            <a:extLst>
              <a:ext uri="{FF2B5EF4-FFF2-40B4-BE49-F238E27FC236}">
                <a16:creationId xmlns:a16="http://schemas.microsoft.com/office/drawing/2014/main" id="{65A99583-0EC3-7372-C891-17198B0AD057}"/>
              </a:ext>
            </a:extLst>
          </p:cNvPr>
          <p:cNvGraphicFramePr>
            <a:graphicFrameLocks noGrp="1"/>
          </p:cNvGraphicFramePr>
          <p:nvPr>
            <p:extLst>
              <p:ext uri="{D42A27DB-BD31-4B8C-83A1-F6EECF244321}">
                <p14:modId xmlns:p14="http://schemas.microsoft.com/office/powerpoint/2010/main" val="2733246156"/>
              </p:ext>
            </p:extLst>
          </p:nvPr>
        </p:nvGraphicFramePr>
        <p:xfrm>
          <a:off x="266218" y="921195"/>
          <a:ext cx="11409969" cy="5396312"/>
        </p:xfrm>
        <a:graphic>
          <a:graphicData uri="http://schemas.openxmlformats.org/drawingml/2006/table">
            <a:tbl>
              <a:tblPr firstRow="1" bandRow="1">
                <a:tableStyleId>{5940675A-B579-460E-94D1-54222C63F5DA}</a:tableStyleId>
              </a:tblPr>
              <a:tblGrid>
                <a:gridCol w="1008361">
                  <a:extLst>
                    <a:ext uri="{9D8B030D-6E8A-4147-A177-3AD203B41FA5}">
                      <a16:colId xmlns:a16="http://schemas.microsoft.com/office/drawing/2014/main" val="20000"/>
                    </a:ext>
                  </a:extLst>
                </a:gridCol>
                <a:gridCol w="1348700">
                  <a:extLst>
                    <a:ext uri="{9D8B030D-6E8A-4147-A177-3AD203B41FA5}">
                      <a16:colId xmlns:a16="http://schemas.microsoft.com/office/drawing/2014/main" val="20001"/>
                    </a:ext>
                  </a:extLst>
                </a:gridCol>
                <a:gridCol w="4392729">
                  <a:extLst>
                    <a:ext uri="{9D8B030D-6E8A-4147-A177-3AD203B41FA5}">
                      <a16:colId xmlns:a16="http://schemas.microsoft.com/office/drawing/2014/main" val="20002"/>
                    </a:ext>
                  </a:extLst>
                </a:gridCol>
                <a:gridCol w="3351883">
                  <a:extLst>
                    <a:ext uri="{9D8B030D-6E8A-4147-A177-3AD203B41FA5}">
                      <a16:colId xmlns:a16="http://schemas.microsoft.com/office/drawing/2014/main" val="20003"/>
                    </a:ext>
                  </a:extLst>
                </a:gridCol>
                <a:gridCol w="1308296">
                  <a:extLst>
                    <a:ext uri="{9D8B030D-6E8A-4147-A177-3AD203B41FA5}">
                      <a16:colId xmlns:a16="http://schemas.microsoft.com/office/drawing/2014/main" val="20004"/>
                    </a:ext>
                  </a:extLst>
                </a:gridCol>
              </a:tblGrid>
              <a:tr h="269133">
                <a:tc gridSpan="2">
                  <a:txBody>
                    <a:bodyPr/>
                    <a:lstStyle/>
                    <a:p>
                      <a:pPr algn="ctr"/>
                      <a:r>
                        <a:rPr lang="es-CO" sz="1200" b="1" dirty="0">
                          <a:solidFill>
                            <a:schemeClr val="tx1"/>
                          </a:solidFill>
                          <a:latin typeface="+mn-lt"/>
                        </a:rPr>
                        <a:t>CAMBIOS PRESENTADOS</a:t>
                      </a: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s-CO" sz="1400" b="1" dirty="0">
                        <a:solidFill>
                          <a:schemeClr val="tx1"/>
                        </a:solidFill>
                        <a:latin typeface="Century Gothic" pitchFamily="34" charset="0"/>
                      </a:endParaRPr>
                    </a:p>
                  </a:txBody>
                  <a:tcPr marL="91434" marR="91434" marT="45684" marB="456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s-MX" sz="1200" b="1" dirty="0">
                          <a:solidFill>
                            <a:schemeClr val="tx1"/>
                          </a:solidFill>
                          <a:latin typeface="+mn-lt"/>
                        </a:rPr>
                        <a:t>DESCRIPCIÓN</a:t>
                      </a:r>
                      <a:r>
                        <a:rPr lang="es-MX" sz="1200" b="1" baseline="0" dirty="0">
                          <a:solidFill>
                            <a:schemeClr val="tx1"/>
                          </a:solidFill>
                          <a:latin typeface="+mn-lt"/>
                        </a:rPr>
                        <a:t> DE LA INCIDENCIA EN EL SGC</a:t>
                      </a:r>
                      <a:endParaRPr lang="es-CO" sz="1200" b="1" dirty="0">
                        <a:solidFill>
                          <a:schemeClr val="tx1"/>
                        </a:solidFill>
                        <a:latin typeface="+mn-lt"/>
                      </a:endParaRP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s-CO" sz="1200" b="1" dirty="0">
                          <a:solidFill>
                            <a:schemeClr val="tx1"/>
                          </a:solidFill>
                          <a:latin typeface="+mn-lt"/>
                        </a:rPr>
                        <a:t>GESTIÓN REALIZADA O A REALIZAR</a:t>
                      </a: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es-CO" sz="1200" b="1" dirty="0">
                          <a:solidFill>
                            <a:schemeClr val="tx1"/>
                          </a:solidFill>
                          <a:latin typeface="+mn-lt"/>
                        </a:rPr>
                        <a:t>RESPONSABLE</a:t>
                      </a: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48603">
                <a:tc>
                  <a:txBody>
                    <a:bodyPr/>
                    <a:lstStyle/>
                    <a:p>
                      <a:pPr algn="ctr"/>
                      <a:r>
                        <a:rPr lang="es-CO" sz="1200" b="1" dirty="0">
                          <a:solidFill>
                            <a:schemeClr val="tx1"/>
                          </a:solidFill>
                          <a:latin typeface="+mn-lt"/>
                        </a:rPr>
                        <a:t>CUESTIONES INTERNAS</a:t>
                      </a: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s-CO" sz="1200" b="1" dirty="0">
                          <a:solidFill>
                            <a:schemeClr val="tx1"/>
                          </a:solidFill>
                          <a:latin typeface="+mn-lt"/>
                        </a:rPr>
                        <a:t>CUESTIONES EXTERNAS</a:t>
                      </a: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s-CO"/>
                    </a:p>
                  </a:txBody>
                  <a:tcPr/>
                </a:tc>
                <a:tc vMerge="1">
                  <a:txBody>
                    <a:bodyPr/>
                    <a:lstStyle/>
                    <a:p>
                      <a:endParaRPr lang="es-CO"/>
                    </a:p>
                  </a:txBody>
                  <a:tcPr/>
                </a:tc>
                <a:tc vMerge="1">
                  <a:txBody>
                    <a:bodyPr/>
                    <a:lstStyle/>
                    <a:p>
                      <a:endParaRPr lang="es-CO"/>
                    </a:p>
                  </a:txBody>
                  <a:tcPr/>
                </a:tc>
                <a:extLst>
                  <a:ext uri="{0D108BD9-81ED-4DB2-BD59-A6C34878D82A}">
                    <a16:rowId xmlns:a16="http://schemas.microsoft.com/office/drawing/2014/main" val="10001"/>
                  </a:ext>
                </a:extLst>
              </a:tr>
              <a:tr h="668823">
                <a:tc>
                  <a:txBody>
                    <a:bodyPr/>
                    <a:lstStyle/>
                    <a:p>
                      <a:pPr marL="0" algn="just" defTabSz="914400" rtl="0" eaLnBrk="1" latinLnBrk="0" hangingPunct="1"/>
                      <a:endParaRPr lang="es-CO" sz="1200" b="0" kern="1200" dirty="0">
                        <a:solidFill>
                          <a:schemeClr val="tx1"/>
                        </a:solidFill>
                        <a:latin typeface="+mn-lt"/>
                        <a:ea typeface="+mn-ea"/>
                        <a:cs typeface="+mn-cs"/>
                      </a:endParaRP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algn="just"/>
                      <a:r>
                        <a:rPr lang="es-CO" sz="1200" b="0" kern="1200" dirty="0">
                          <a:solidFill>
                            <a:schemeClr val="tx1"/>
                          </a:solidFill>
                          <a:latin typeface="+mn-lt"/>
                          <a:ea typeface="+mn-ea"/>
                          <a:cs typeface="+mn-cs"/>
                        </a:rPr>
                        <a:t>MIPG</a:t>
                      </a: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buFont typeface="Wingdings" pitchFamily="2" charset="2"/>
                        <a:buNone/>
                      </a:pPr>
                      <a:r>
                        <a:rPr lang="es-CO" sz="1200" b="0" kern="1200" baseline="0" dirty="0">
                          <a:solidFill>
                            <a:schemeClr val="tx1"/>
                          </a:solidFill>
                          <a:latin typeface="+mn-lt"/>
                          <a:ea typeface="+mn-ea"/>
                          <a:cs typeface="+mn-cs"/>
                        </a:rPr>
                        <a:t>Modelo Integrado de Planeación y Gestión Versión 4 de acuerdo a las 19 políticas  y 7  dimensiones. En el marco de la Ley 2052 de 2020 con relación al Fortalecimiento del Relacionamiento Estado Ciudadano. </a:t>
                      </a: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algn="just">
                        <a:buFont typeface="Arial" pitchFamily="34" charset="0"/>
                        <a:buChar char="•"/>
                      </a:pPr>
                      <a:r>
                        <a:rPr lang="es-CO" sz="1200" b="0" kern="1200" baseline="0" dirty="0">
                          <a:solidFill>
                            <a:schemeClr val="tx1"/>
                          </a:solidFill>
                          <a:latin typeface="+mn-lt"/>
                          <a:ea typeface="+mn-ea"/>
                          <a:cs typeface="+mn-cs"/>
                        </a:rPr>
                        <a:t> Definición de  un proceso, actualización documentación y asignar responsable</a:t>
                      </a: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marR="0" indent="0" algn="just" defTabSz="914400" rtl="0" eaLnBrk="1" fontAlgn="auto" latinLnBrk="0" hangingPunct="1">
                        <a:lnSpc>
                          <a:spcPct val="100000"/>
                        </a:lnSpc>
                        <a:spcBef>
                          <a:spcPts val="0"/>
                        </a:spcBef>
                        <a:spcAft>
                          <a:spcPts val="0"/>
                        </a:spcAft>
                        <a:buClrTx/>
                        <a:buSzTx/>
                        <a:buFont typeface="Wingdings" pitchFamily="2" charset="2"/>
                        <a:buNone/>
                        <a:tabLst/>
                        <a:defRPr/>
                      </a:pPr>
                      <a:r>
                        <a:rPr lang="es-CO" sz="1200" b="0" kern="1200" dirty="0">
                          <a:solidFill>
                            <a:schemeClr val="tx1"/>
                          </a:solidFill>
                          <a:latin typeface="+mn-lt"/>
                          <a:ea typeface="+mn-ea"/>
                          <a:cs typeface="+mn-cs"/>
                        </a:rPr>
                        <a:t>Director Administrativo y Financiero</a:t>
                      </a:r>
                    </a:p>
                    <a:p>
                      <a:pPr marL="0" marR="0" indent="0" algn="just" defTabSz="914400" rtl="0" eaLnBrk="1" fontAlgn="auto" latinLnBrk="0" hangingPunct="1">
                        <a:lnSpc>
                          <a:spcPct val="100000"/>
                        </a:lnSpc>
                        <a:spcBef>
                          <a:spcPts val="0"/>
                        </a:spcBef>
                        <a:spcAft>
                          <a:spcPts val="0"/>
                        </a:spcAft>
                        <a:buClrTx/>
                        <a:buSzTx/>
                        <a:buFont typeface="Wingdings" pitchFamily="2" charset="2"/>
                        <a:buNone/>
                        <a:tabLst/>
                        <a:defRPr/>
                      </a:pPr>
                      <a:r>
                        <a:rPr lang="es-CO" sz="1200" b="0" kern="1200" dirty="0">
                          <a:solidFill>
                            <a:schemeClr val="tx1"/>
                          </a:solidFill>
                          <a:latin typeface="+mn-lt"/>
                          <a:ea typeface="+mn-ea"/>
                          <a:cs typeface="+mn-cs"/>
                        </a:rPr>
                        <a:t>Control Interno</a:t>
                      </a: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67639">
                <a:tc>
                  <a:txBody>
                    <a:bodyPr/>
                    <a:lstStyle/>
                    <a:p>
                      <a:pPr algn="just"/>
                      <a:r>
                        <a:rPr lang="es-MX" sz="1200" b="0" kern="1200" dirty="0">
                          <a:solidFill>
                            <a:schemeClr val="tx1"/>
                          </a:solidFill>
                          <a:latin typeface="+mn-lt"/>
                          <a:ea typeface="+mn-ea"/>
                          <a:cs typeface="+mn-cs"/>
                        </a:rPr>
                        <a:t>Cambio de Mesa Directiva</a:t>
                      </a:r>
                      <a:endParaRPr lang="es-CO" sz="1200" b="0" kern="120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algn="just"/>
                      <a:endParaRPr lang="es-CO" sz="1200" b="0" kern="1200" dirty="0">
                        <a:solidFill>
                          <a:schemeClr val="tx1"/>
                        </a:solidFill>
                        <a:latin typeface="+mn-lt"/>
                        <a:ea typeface="+mn-ea"/>
                        <a:cs typeface="+mn-cs"/>
                      </a:endParaRP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buFont typeface="Wingdings" pitchFamily="2" charset="2"/>
                        <a:buNone/>
                      </a:pPr>
                      <a:r>
                        <a:rPr lang="es-MX" sz="1200" b="0" kern="1200" baseline="0" dirty="0">
                          <a:solidFill>
                            <a:schemeClr val="tx1"/>
                          </a:solidFill>
                          <a:latin typeface="+mn-lt"/>
                          <a:ea typeface="+mn-ea"/>
                          <a:cs typeface="+mn-cs"/>
                        </a:rPr>
                        <a:t>Continuidad en la implementación y sostenibilidad de la certificación  del sistema de gestión de calidad </a:t>
                      </a:r>
                      <a:endParaRPr lang="es-CO" sz="1200" b="0" kern="1200" baseline="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indent="0" algn="just">
                        <a:buFont typeface="Arial" panose="020B0604020202020204" pitchFamily="34" charset="0"/>
                        <a:buNone/>
                      </a:pPr>
                      <a:r>
                        <a:rPr lang="es-MX" sz="1200" b="0" kern="1200" baseline="0" dirty="0">
                          <a:solidFill>
                            <a:schemeClr val="tx1"/>
                          </a:solidFill>
                          <a:latin typeface="+mn-lt"/>
                          <a:ea typeface="+mn-ea"/>
                          <a:cs typeface="+mn-cs"/>
                        </a:rPr>
                        <a:t>Realizar el proceso e empalme con la mesa Directiva especificando las estrategias que apalanca la corporación con el sistemas de gestión de calidad</a:t>
                      </a:r>
                      <a:endParaRPr lang="es-CO" sz="1200" b="0" kern="1200" baseline="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 typeface="Wingdings" pitchFamily="2" charset="2"/>
                        <a:buNone/>
                        <a:tabLst/>
                        <a:defRPr/>
                      </a:pPr>
                      <a:r>
                        <a:rPr lang="es-CO" sz="1200" b="0" kern="1200" dirty="0">
                          <a:solidFill>
                            <a:schemeClr val="tx1"/>
                          </a:solidFill>
                          <a:latin typeface="+mn-lt"/>
                          <a:ea typeface="+mn-ea"/>
                          <a:cs typeface="+mn-cs"/>
                        </a:rPr>
                        <a:t>Director Administrativo y Financiero</a:t>
                      </a:r>
                    </a:p>
                    <a:p>
                      <a:pPr marL="0" marR="0" indent="0" algn="just" defTabSz="914400" rtl="0" eaLnBrk="1" fontAlgn="auto" latinLnBrk="0" hangingPunct="1">
                        <a:lnSpc>
                          <a:spcPct val="100000"/>
                        </a:lnSpc>
                        <a:spcBef>
                          <a:spcPts val="0"/>
                        </a:spcBef>
                        <a:spcAft>
                          <a:spcPts val="0"/>
                        </a:spcAft>
                        <a:buClrTx/>
                        <a:buSzTx/>
                        <a:buFont typeface="Wingdings" pitchFamily="2" charset="2"/>
                        <a:buNone/>
                        <a:tabLst/>
                        <a:defRPr/>
                      </a:pPr>
                      <a:endParaRPr lang="es-CO" sz="1200" b="0" kern="120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3190116401"/>
                  </a:ext>
                </a:extLst>
              </a:tr>
              <a:tr h="0">
                <a:tc>
                  <a:txBody>
                    <a:bodyPr/>
                    <a:lstStyle/>
                    <a:p>
                      <a:pPr marL="0" algn="just" defTabSz="914400" rtl="0" eaLnBrk="1" latinLnBrk="0" hangingPunct="1"/>
                      <a:r>
                        <a:rPr lang="es-MX" sz="1200" b="0" kern="1200" dirty="0">
                          <a:solidFill>
                            <a:schemeClr val="tx1"/>
                          </a:solidFill>
                          <a:latin typeface="+mn-lt"/>
                          <a:ea typeface="+mn-ea"/>
                          <a:cs typeface="+mn-cs"/>
                        </a:rPr>
                        <a:t>Rotación de Personal</a:t>
                      </a:r>
                      <a:endParaRPr lang="es-CO" sz="1200" b="0" kern="120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endParaRPr lang="es-CO" sz="1200" b="0" kern="1200" dirty="0">
                        <a:solidFill>
                          <a:schemeClr val="tx1"/>
                        </a:solidFill>
                        <a:latin typeface="+mn-lt"/>
                        <a:ea typeface="+mn-ea"/>
                        <a:cs typeface="+mn-cs"/>
                      </a:endParaRP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r>
                        <a:rPr lang="es-MX" sz="1200" b="0" kern="1200" dirty="0">
                          <a:solidFill>
                            <a:schemeClr val="tx1"/>
                          </a:solidFill>
                          <a:latin typeface="+mn-lt"/>
                          <a:ea typeface="+mn-ea"/>
                          <a:cs typeface="+mn-cs"/>
                        </a:rPr>
                        <a:t>La rotación de contratista  anual, dado que los lideres de procesos debería ser planta  y no contratistas, dado que afecta la gestión de conocimiento frente a la implementación del sistema de gestión de calidad</a:t>
                      </a:r>
                      <a:endParaRPr lang="es-CO" sz="1200" b="0" kern="120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buFont typeface="Arial" pitchFamily="34" charset="0"/>
                        <a:buNone/>
                      </a:pPr>
                      <a:r>
                        <a:rPr lang="es-MX" sz="1200" b="0" kern="1200" dirty="0">
                          <a:solidFill>
                            <a:schemeClr val="tx1"/>
                          </a:solidFill>
                          <a:latin typeface="+mn-lt"/>
                          <a:ea typeface="+mn-ea"/>
                          <a:cs typeface="+mn-cs"/>
                        </a:rPr>
                        <a:t>Proceso de Inducción y Reinducción.</a:t>
                      </a:r>
                    </a:p>
                    <a:p>
                      <a:pPr marL="0" algn="just" defTabSz="914400" rtl="0" eaLnBrk="1" latinLnBrk="0" hangingPunct="1">
                        <a:buFont typeface="Arial" pitchFamily="34" charset="0"/>
                        <a:buNone/>
                      </a:pPr>
                      <a:r>
                        <a:rPr lang="es-MX" sz="1200" b="0" kern="1200" dirty="0">
                          <a:solidFill>
                            <a:schemeClr val="tx1"/>
                          </a:solidFill>
                          <a:latin typeface="+mn-lt"/>
                          <a:ea typeface="+mn-ea"/>
                          <a:cs typeface="+mn-cs"/>
                        </a:rPr>
                        <a:t>Plan de Mantenimiento del sistema de gestión de calidad.</a:t>
                      </a: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200" b="0" kern="1200" dirty="0">
                          <a:solidFill>
                            <a:schemeClr val="tx1"/>
                          </a:solidFill>
                          <a:latin typeface="+mn-lt"/>
                          <a:ea typeface="+mn-ea"/>
                          <a:cs typeface="+mn-cs"/>
                        </a:rPr>
                        <a:t>Talento Humano</a:t>
                      </a:r>
                    </a:p>
                    <a:p>
                      <a:pPr marL="0" marR="0" lvl="0" indent="0" algn="just" defTabSz="914400" rtl="0" eaLnBrk="1" fontAlgn="auto" latinLnBrk="0" hangingPunct="1">
                        <a:lnSpc>
                          <a:spcPct val="100000"/>
                        </a:lnSpc>
                        <a:spcBef>
                          <a:spcPts val="0"/>
                        </a:spcBef>
                        <a:spcAft>
                          <a:spcPts val="0"/>
                        </a:spcAft>
                        <a:buClrTx/>
                        <a:buSzTx/>
                        <a:buFontTx/>
                        <a:buNone/>
                        <a:tabLst/>
                        <a:defRPr/>
                      </a:pPr>
                      <a:r>
                        <a:rPr lang="es-CO" sz="1200" b="0" kern="1200" dirty="0">
                          <a:solidFill>
                            <a:schemeClr val="tx1"/>
                          </a:solidFill>
                          <a:latin typeface="+mn-lt"/>
                          <a:ea typeface="+mn-ea"/>
                          <a:cs typeface="+mn-cs"/>
                        </a:rPr>
                        <a:t>Director Administrativo y Financiero</a:t>
                      </a: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2317888010"/>
                  </a:ext>
                </a:extLst>
              </a:tr>
              <a:tr h="962873">
                <a:tc>
                  <a:txBody>
                    <a:bodyPr/>
                    <a:lstStyle/>
                    <a:p>
                      <a:pPr marL="0" algn="just" defTabSz="914400" rtl="0" eaLnBrk="1" latinLnBrk="0" hangingPunct="1"/>
                      <a:r>
                        <a:rPr lang="es-MX" sz="1200" b="0" kern="1200" dirty="0">
                          <a:solidFill>
                            <a:schemeClr val="tx1"/>
                          </a:solidFill>
                          <a:latin typeface="+mn-lt"/>
                          <a:ea typeface="+mn-ea"/>
                          <a:cs typeface="+mn-cs"/>
                        </a:rPr>
                        <a:t>Concurso de la comisión nacional del servicio civil.</a:t>
                      </a:r>
                      <a:endParaRPr lang="es-CO" sz="1200" b="0" kern="120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endParaRPr lang="es-CO" sz="1200" b="0" kern="1200" dirty="0">
                        <a:solidFill>
                          <a:schemeClr val="tx1"/>
                        </a:solidFill>
                        <a:latin typeface="+mn-lt"/>
                        <a:ea typeface="+mn-ea"/>
                        <a:cs typeface="+mn-cs"/>
                      </a:endParaRP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r>
                        <a:rPr lang="es-MX" sz="1200" b="0" kern="1200" dirty="0">
                          <a:solidFill>
                            <a:schemeClr val="tx1"/>
                          </a:solidFill>
                          <a:latin typeface="+mn-lt"/>
                          <a:ea typeface="+mn-ea"/>
                          <a:cs typeface="+mn-cs"/>
                        </a:rPr>
                        <a:t>Rotación por cambio de personal que afecta la gestión del conocimiento.</a:t>
                      </a:r>
                      <a:endParaRPr lang="es-CO" sz="1200" b="0" kern="120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buFont typeface="Arial" pitchFamily="34" charset="0"/>
                        <a:buNone/>
                      </a:pPr>
                      <a:r>
                        <a:rPr lang="es-MX" sz="1200" b="0" kern="1200" dirty="0">
                          <a:solidFill>
                            <a:schemeClr val="tx1"/>
                          </a:solidFill>
                          <a:latin typeface="+mn-lt"/>
                          <a:ea typeface="+mn-ea"/>
                          <a:cs typeface="+mn-cs"/>
                        </a:rPr>
                        <a:t>Proceso de Inducción y Reinducción.</a:t>
                      </a:r>
                    </a:p>
                    <a:p>
                      <a:pPr marL="0" algn="just" defTabSz="914400" rtl="0" eaLnBrk="1" latinLnBrk="0" hangingPunct="1">
                        <a:buFont typeface="Arial" pitchFamily="34" charset="0"/>
                        <a:buNone/>
                      </a:pPr>
                      <a:r>
                        <a:rPr lang="es-MX" sz="1200" b="0" kern="1200" dirty="0">
                          <a:solidFill>
                            <a:schemeClr val="tx1"/>
                          </a:solidFill>
                          <a:latin typeface="+mn-lt"/>
                          <a:ea typeface="+mn-ea"/>
                          <a:cs typeface="+mn-cs"/>
                        </a:rPr>
                        <a:t>Plan de Mantenimiento del sistema de gestión de calidad.</a:t>
                      </a:r>
                    </a:p>
                    <a:p>
                      <a:pPr marL="0" algn="just" defTabSz="914400" rtl="0" eaLnBrk="1" latinLnBrk="0" hangingPunct="1">
                        <a:buFont typeface="Arial" pitchFamily="34" charset="0"/>
                        <a:buNone/>
                      </a:pPr>
                      <a:endParaRPr lang="es-MX" sz="1200" b="0" kern="120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200" b="0" kern="1200" dirty="0">
                          <a:solidFill>
                            <a:schemeClr val="tx1"/>
                          </a:solidFill>
                          <a:latin typeface="+mn-lt"/>
                          <a:ea typeface="+mn-ea"/>
                          <a:cs typeface="+mn-cs"/>
                        </a:rPr>
                        <a:t>Talento Humano</a:t>
                      </a:r>
                    </a:p>
                    <a:p>
                      <a:pPr marL="0" marR="0" lvl="0" indent="0" algn="just" defTabSz="914400" rtl="0" eaLnBrk="1" fontAlgn="auto" latinLnBrk="0" hangingPunct="1">
                        <a:lnSpc>
                          <a:spcPct val="100000"/>
                        </a:lnSpc>
                        <a:spcBef>
                          <a:spcPts val="0"/>
                        </a:spcBef>
                        <a:spcAft>
                          <a:spcPts val="0"/>
                        </a:spcAft>
                        <a:buClrTx/>
                        <a:buSzTx/>
                        <a:buFontTx/>
                        <a:buNone/>
                        <a:tabLst/>
                        <a:defRPr/>
                      </a:pPr>
                      <a:r>
                        <a:rPr lang="es-CO" sz="1200" b="0" kern="1200" dirty="0">
                          <a:solidFill>
                            <a:schemeClr val="tx1"/>
                          </a:solidFill>
                          <a:latin typeface="+mn-lt"/>
                          <a:ea typeface="+mn-ea"/>
                          <a:cs typeface="+mn-cs"/>
                        </a:rPr>
                        <a:t>Director Administrativo y Financiero</a:t>
                      </a: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1596108600"/>
                  </a:ext>
                </a:extLst>
              </a:tr>
              <a:tr h="962873">
                <a:tc>
                  <a:txBody>
                    <a:bodyPr/>
                    <a:lstStyle/>
                    <a:p>
                      <a:pPr marL="0" algn="just" defTabSz="914400" rtl="0" eaLnBrk="1" latinLnBrk="0" hangingPunct="1"/>
                      <a:endParaRPr lang="es-CO" sz="1200" b="0" kern="1200" dirty="0">
                        <a:solidFill>
                          <a:schemeClr val="tx1"/>
                        </a:solidFill>
                        <a:latin typeface="+mn-lt"/>
                        <a:ea typeface="+mn-ea"/>
                        <a:cs typeface="+mn-cs"/>
                      </a:endParaRP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MX" sz="1200" b="0" kern="1200" dirty="0">
                          <a:solidFill>
                            <a:schemeClr val="tx1"/>
                          </a:solidFill>
                          <a:latin typeface="+mn-lt"/>
                          <a:ea typeface="+mn-ea"/>
                          <a:cs typeface="+mn-cs"/>
                        </a:rPr>
                        <a:t>Cambio normativo contratación- </a:t>
                      </a: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MX" sz="1200" b="0" kern="1200" dirty="0">
                        <a:solidFill>
                          <a:schemeClr val="tx1"/>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MX" sz="1200" b="0" kern="1200" dirty="0">
                          <a:solidFill>
                            <a:schemeClr val="tx1"/>
                          </a:solidFill>
                          <a:latin typeface="+mn-lt"/>
                          <a:ea typeface="+mn-ea"/>
                          <a:cs typeface="+mn-cs"/>
                        </a:rPr>
                        <a:t>Ley de Garantía </a:t>
                      </a:r>
                      <a:endParaRPr lang="es-CO" sz="1200" b="0" kern="1200" dirty="0">
                        <a:solidFill>
                          <a:schemeClr val="tx1"/>
                        </a:solidFill>
                        <a:latin typeface="+mn-lt"/>
                        <a:ea typeface="+mn-ea"/>
                        <a:cs typeface="+mn-cs"/>
                      </a:endParaRP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r>
                        <a:rPr lang="es-MX" sz="1200" b="0" kern="1200" dirty="0">
                          <a:solidFill>
                            <a:schemeClr val="tx1"/>
                          </a:solidFill>
                          <a:latin typeface="+mn-lt"/>
                          <a:ea typeface="+mn-ea"/>
                          <a:cs typeface="+mn-cs"/>
                        </a:rPr>
                        <a:t>Esta cursando un proyecto de Ley 113,166 y 178 para reglamentar la contratación de prestación de servicios, lo cual cambiaria la manera que se contrata este tipo de apoyo a la gestión.</a:t>
                      </a:r>
                    </a:p>
                    <a:p>
                      <a:pPr marL="0" algn="just" defTabSz="914400" rtl="0" eaLnBrk="1" latinLnBrk="0" hangingPunct="1"/>
                      <a:endParaRPr lang="es-MX" sz="1200" b="0" kern="1200" dirty="0">
                        <a:solidFill>
                          <a:schemeClr val="tx1"/>
                        </a:solidFill>
                        <a:latin typeface="+mn-lt"/>
                        <a:ea typeface="+mn-ea"/>
                        <a:cs typeface="+mn-cs"/>
                      </a:endParaRPr>
                    </a:p>
                    <a:p>
                      <a:pPr marL="0" algn="just" defTabSz="914400" rtl="0" eaLnBrk="1" latinLnBrk="0" hangingPunct="1"/>
                      <a:r>
                        <a:rPr lang="es-MX" sz="1200" b="0" kern="1200" dirty="0">
                          <a:solidFill>
                            <a:schemeClr val="tx1"/>
                          </a:solidFill>
                          <a:latin typeface="+mn-lt"/>
                          <a:ea typeface="+mn-ea"/>
                          <a:cs typeface="+mn-cs"/>
                        </a:rPr>
                        <a:t>Por elecciones se  contara con la ley de garantías a partir del mes de junio a octubre</a:t>
                      </a: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buFont typeface="Arial" pitchFamily="34" charset="0"/>
                        <a:buChar char="•"/>
                      </a:pPr>
                      <a:r>
                        <a:rPr lang="es-MX" sz="1200" b="0" kern="1200" dirty="0">
                          <a:solidFill>
                            <a:schemeClr val="tx1"/>
                          </a:solidFill>
                          <a:latin typeface="+mn-lt"/>
                          <a:ea typeface="+mn-ea"/>
                          <a:cs typeface="+mn-cs"/>
                        </a:rPr>
                        <a:t>Una vez generado la Ley se debe revisar el proceso de contratación con el fin de ajustar dichos lineamientos.</a:t>
                      </a:r>
                    </a:p>
                    <a:p>
                      <a:pPr marL="0" algn="just" defTabSz="914400" rtl="0" eaLnBrk="1" latinLnBrk="0" hangingPunct="1">
                        <a:buFont typeface="Arial" pitchFamily="34" charset="0"/>
                        <a:buChar char="•"/>
                      </a:pPr>
                      <a:endParaRPr lang="es-MX" sz="1200" b="0" kern="1200" dirty="0">
                        <a:solidFill>
                          <a:schemeClr val="tx1"/>
                        </a:solidFill>
                        <a:latin typeface="+mn-lt"/>
                        <a:ea typeface="+mn-ea"/>
                        <a:cs typeface="+mn-cs"/>
                      </a:endParaRPr>
                    </a:p>
                    <a:p>
                      <a:pPr marL="0" algn="just" defTabSz="914400" rtl="0" eaLnBrk="1" latinLnBrk="0" hangingPunct="1">
                        <a:buFont typeface="Arial" pitchFamily="34" charset="0"/>
                        <a:buChar char="•"/>
                      </a:pPr>
                      <a:r>
                        <a:rPr lang="es-MX" sz="1200" b="0" kern="1200" dirty="0">
                          <a:solidFill>
                            <a:schemeClr val="tx1"/>
                          </a:solidFill>
                          <a:latin typeface="+mn-lt"/>
                          <a:ea typeface="+mn-ea"/>
                          <a:cs typeface="+mn-cs"/>
                        </a:rPr>
                        <a:t>fortalecer la planeación contractual y el plan anual de adquisiciones</a:t>
                      </a:r>
                    </a:p>
                  </a:txBody>
                  <a:tcPr marL="91434" marR="91434" marT="45684" marB="45684">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marL="0" algn="just" defTabSz="914400" rtl="0" eaLnBrk="1" latinLnBrk="0" hangingPunct="1"/>
                      <a:r>
                        <a:rPr lang="es-MX" sz="1200" b="0" kern="1200" dirty="0">
                          <a:solidFill>
                            <a:schemeClr val="tx1"/>
                          </a:solidFill>
                          <a:latin typeface="+mn-lt"/>
                          <a:ea typeface="+mn-ea"/>
                          <a:cs typeface="+mn-cs"/>
                        </a:rPr>
                        <a:t>Contratista Contractual.</a:t>
                      </a:r>
                      <a:endParaRPr lang="es-CO" sz="1200" b="0" kern="1200" dirty="0">
                        <a:solidFill>
                          <a:schemeClr val="tx1"/>
                        </a:solidFill>
                        <a:latin typeface="+mn-lt"/>
                        <a:ea typeface="+mn-ea"/>
                        <a:cs typeface="+mn-cs"/>
                      </a:endParaRPr>
                    </a:p>
                  </a:txBody>
                  <a:tcPr marL="91434" marR="91434" marT="45684" marB="45684"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extLst>
                  <a:ext uri="{0D108BD9-81ED-4DB2-BD59-A6C34878D82A}">
                    <a16:rowId xmlns:a16="http://schemas.microsoft.com/office/drawing/2014/main" val="960433477"/>
                  </a:ext>
                </a:extLst>
              </a:tr>
            </a:tbl>
          </a:graphicData>
        </a:graphic>
      </p:graphicFrame>
    </p:spTree>
    <p:extLst>
      <p:ext uri="{BB962C8B-B14F-4D97-AF65-F5344CB8AC3E}">
        <p14:creationId xmlns:p14="http://schemas.microsoft.com/office/powerpoint/2010/main" val="3766754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A4611D7C-9BBC-A3AF-D5B2-66282D085652}"/>
              </a:ext>
            </a:extLst>
          </p:cNvPr>
          <p:cNvGraphicFramePr>
            <a:graphicFrameLocks noGrp="1"/>
          </p:cNvGraphicFramePr>
          <p:nvPr>
            <p:extLst>
              <p:ext uri="{D42A27DB-BD31-4B8C-83A1-F6EECF244321}">
                <p14:modId xmlns:p14="http://schemas.microsoft.com/office/powerpoint/2010/main" val="3789883078"/>
              </p:ext>
            </p:extLst>
          </p:nvPr>
        </p:nvGraphicFramePr>
        <p:xfrm>
          <a:off x="341194" y="889417"/>
          <a:ext cx="11655188" cy="5457719"/>
        </p:xfrm>
        <a:graphic>
          <a:graphicData uri="http://schemas.openxmlformats.org/drawingml/2006/table">
            <a:tbl>
              <a:tblPr/>
              <a:tblGrid>
                <a:gridCol w="6274279">
                  <a:extLst>
                    <a:ext uri="{9D8B030D-6E8A-4147-A177-3AD203B41FA5}">
                      <a16:colId xmlns:a16="http://schemas.microsoft.com/office/drawing/2014/main" val="323357012"/>
                    </a:ext>
                  </a:extLst>
                </a:gridCol>
                <a:gridCol w="5380909">
                  <a:extLst>
                    <a:ext uri="{9D8B030D-6E8A-4147-A177-3AD203B41FA5}">
                      <a16:colId xmlns:a16="http://schemas.microsoft.com/office/drawing/2014/main" val="617104608"/>
                    </a:ext>
                  </a:extLst>
                </a:gridCol>
              </a:tblGrid>
              <a:tr h="310984">
                <a:tc>
                  <a:txBody>
                    <a:bodyPr/>
                    <a:lstStyle/>
                    <a:p>
                      <a:pPr algn="ctr">
                        <a:lnSpc>
                          <a:spcPct val="115000"/>
                        </a:lnSpc>
                        <a:spcAft>
                          <a:spcPts val="0"/>
                        </a:spcAft>
                      </a:pPr>
                      <a:r>
                        <a:rPr lang="es-CO" sz="1400" b="1" dirty="0">
                          <a:effectLst/>
                          <a:latin typeface="Calibri" panose="020F0502020204030204" pitchFamily="34" charset="0"/>
                          <a:ea typeface="Calibri" panose="020F0502020204030204" pitchFamily="34" charset="0"/>
                          <a:cs typeface="Times New Roman" panose="02020603050405020304" pitchFamily="18" charset="0"/>
                        </a:rPr>
                        <a:t>DEBILIDADES</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89075" marR="89075" marT="44538" marB="445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15000"/>
                        </a:lnSpc>
                        <a:spcAft>
                          <a:spcPts val="0"/>
                        </a:spcAft>
                      </a:pPr>
                      <a:r>
                        <a:rPr lang="es-CO" sz="1400" b="1" dirty="0">
                          <a:effectLst/>
                          <a:latin typeface="Calibri" panose="020F0502020204030204" pitchFamily="34" charset="0"/>
                          <a:ea typeface="Calibri" panose="020F0502020204030204" pitchFamily="34" charset="0"/>
                          <a:cs typeface="Times New Roman" panose="02020603050405020304" pitchFamily="18" charset="0"/>
                        </a:rPr>
                        <a:t>FORTALEZAS</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89075" marR="89075" marT="44538" marB="445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262158447"/>
                  </a:ext>
                </a:extLst>
              </a:tr>
              <a:tr h="2841113">
                <a:tc>
                  <a:txBody>
                    <a:bodyPr/>
                    <a:lstStyle/>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Carencia de un cargo de planeación institucional.</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Carencia de sede propia.</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Planta de personal actual no permite generar una continuidad en alguno procesos que adelanta la Corporación. </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Fortalecer el equipamiento tecnológicos y físicos que permita mejorar la gestión.  </a:t>
                      </a: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Capacitación continua en los sistemas de información con los que cuenta la corporación.  </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Funcionamiento del sistema de información </a:t>
                      </a:r>
                      <a:r>
                        <a:rPr lang="es-MX" sz="1400" kern="1200" dirty="0" err="1">
                          <a:solidFill>
                            <a:schemeClr val="tx1"/>
                          </a:solidFill>
                          <a:effectLst/>
                          <a:latin typeface="+mn-lt"/>
                          <a:ea typeface="+mn-ea"/>
                          <a:cs typeface="+mn-cs"/>
                        </a:rPr>
                        <a:t>corrycom</a:t>
                      </a:r>
                      <a:r>
                        <a:rPr lang="es-MX" sz="1400" kern="1200" dirty="0">
                          <a:solidFill>
                            <a:schemeClr val="tx1"/>
                          </a:solidFill>
                          <a:effectLst/>
                          <a:latin typeface="+mn-lt"/>
                          <a:ea typeface="+mn-ea"/>
                          <a:cs typeface="+mn-cs"/>
                        </a:rPr>
                        <a:t> y Software financiero.</a:t>
                      </a:r>
                      <a:endParaRPr lang="es-CO" sz="1400" kern="1200" dirty="0">
                        <a:solidFill>
                          <a:schemeClr val="tx1"/>
                        </a:solidFill>
                        <a:effectLst/>
                        <a:latin typeface="+mn-lt"/>
                        <a:ea typeface="+mn-ea"/>
                        <a:cs typeface="+mn-cs"/>
                      </a:endParaRPr>
                    </a:p>
                    <a:p>
                      <a:pPr marL="171450" indent="-171450">
                        <a:lnSpc>
                          <a:spcPct val="115000"/>
                        </a:lnSpc>
                        <a:spcAft>
                          <a:spcPts val="0"/>
                        </a:spcAft>
                        <a:buFont typeface="Arial" panose="020B0604020202020204" pitchFamily="34" charset="0"/>
                        <a:buChar char="•"/>
                      </a:pPr>
                      <a:endParaRPr lang="es-MX" sz="11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89075" marR="89075" marT="44538" marB="445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Comité de conciliación y defensa judicial en funcionamiento.</a:t>
                      </a: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Realización de rendición de cuentas.</a:t>
                      </a: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Realización de proceso de empalme. </a:t>
                      </a: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Comité </a:t>
                      </a:r>
                      <a:r>
                        <a:rPr lang="es-MX" sz="1400" kern="1200" dirty="0">
                          <a:solidFill>
                            <a:schemeClr val="tx1"/>
                          </a:solidFill>
                          <a:effectLst/>
                          <a:latin typeface="+mn-lt"/>
                          <a:ea typeface="+mn-ea"/>
                          <a:cs typeface="+mn-cs"/>
                        </a:rPr>
                        <a:t>de contratación. </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Mantener el sistema de gestión de calidad.</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La actualización de las caracterizaciones de los procesos.</a:t>
                      </a:r>
                      <a:endParaRPr lang="es-CO" sz="1400" kern="1200" dirty="0">
                        <a:solidFill>
                          <a:schemeClr val="tx1"/>
                        </a:solidFill>
                        <a:effectLst/>
                        <a:latin typeface="+mn-lt"/>
                        <a:ea typeface="+mn-ea"/>
                        <a:cs typeface="+mn-cs"/>
                      </a:endParaRPr>
                    </a:p>
                    <a:p>
                      <a:pPr marL="285750" indent="-285750">
                        <a:buFont typeface="Arial" panose="020B0604020202020204" pitchFamily="34" charset="0"/>
                        <a:buChar char="•"/>
                      </a:pPr>
                      <a:r>
                        <a:rPr lang="es-MX" sz="1400" kern="1200" dirty="0">
                          <a:solidFill>
                            <a:schemeClr val="tx1"/>
                          </a:solidFill>
                          <a:effectLst/>
                          <a:latin typeface="+mn-lt"/>
                          <a:ea typeface="+mn-ea"/>
                          <a:cs typeface="+mn-cs"/>
                        </a:rPr>
                        <a:t>Planeación en los procesos misionales teniendo en cuenta los cambios normativos</a:t>
                      </a:r>
                      <a:r>
                        <a:rPr lang="es-MX" sz="1800" kern="1200" dirty="0">
                          <a:solidFill>
                            <a:schemeClr val="tx1"/>
                          </a:solidFill>
                          <a:effectLst/>
                          <a:latin typeface="+mn-lt"/>
                          <a:ea typeface="+mn-ea"/>
                          <a:cs typeface="+mn-cs"/>
                        </a:rPr>
                        <a:t>. </a:t>
                      </a:r>
                    </a:p>
                    <a:p>
                      <a:pPr marL="285750" indent="-285750">
                        <a:buFont typeface="Arial" panose="020B0604020202020204" pitchFamily="34" charset="0"/>
                        <a:buChar char="•"/>
                      </a:pPr>
                      <a:r>
                        <a:rPr lang="es-MX" sz="1400" kern="1200" dirty="0">
                          <a:solidFill>
                            <a:schemeClr val="tx1"/>
                          </a:solidFill>
                          <a:effectLst/>
                          <a:latin typeface="+mn-lt"/>
                          <a:ea typeface="+mn-ea"/>
                          <a:cs typeface="+mn-cs"/>
                        </a:rPr>
                        <a:t>Apropiación de conocimiento de la planta de personal. </a:t>
                      </a:r>
                    </a:p>
                    <a:p>
                      <a:pPr marL="285750" indent="-285750">
                        <a:buFont typeface="Arial" panose="020B0604020202020204" pitchFamily="34" charset="0"/>
                        <a:buChar char="•"/>
                      </a:pPr>
                      <a:r>
                        <a:rPr lang="es-MX" sz="1400" kern="1200" dirty="0">
                          <a:solidFill>
                            <a:schemeClr val="tx1"/>
                          </a:solidFill>
                          <a:effectLst/>
                          <a:latin typeface="+mn-lt"/>
                          <a:ea typeface="+mn-ea"/>
                          <a:cs typeface="+mn-cs"/>
                        </a:rPr>
                        <a:t>Seguimiento y control de auditorias internas de gestión. </a:t>
                      </a:r>
                    </a:p>
                    <a:p>
                      <a:pPr marL="285750" indent="-285750">
                        <a:buFont typeface="Arial" panose="020B0604020202020204" pitchFamily="34" charset="0"/>
                        <a:buChar char="•"/>
                      </a:pPr>
                      <a:r>
                        <a:rPr lang="es-MX" sz="1400" kern="1200" dirty="0">
                          <a:solidFill>
                            <a:schemeClr val="tx1"/>
                          </a:solidFill>
                          <a:effectLst/>
                          <a:latin typeface="+mn-lt"/>
                          <a:ea typeface="+mn-ea"/>
                          <a:cs typeface="+mn-cs"/>
                        </a:rPr>
                        <a:t> Resultado de calificación de FURAG II</a:t>
                      </a:r>
                    </a:p>
                    <a:p>
                      <a:pPr marL="285750" indent="-285750">
                        <a:buFont typeface="Arial" panose="020B0604020202020204" pitchFamily="34" charset="0"/>
                        <a:buChar char="•"/>
                      </a:pPr>
                      <a:r>
                        <a:rPr lang="es-MX" sz="1400" kern="1200" dirty="0">
                          <a:solidFill>
                            <a:schemeClr val="tx1"/>
                          </a:solidFill>
                          <a:effectLst/>
                          <a:latin typeface="+mn-lt"/>
                          <a:ea typeface="+mn-ea"/>
                          <a:cs typeface="+mn-cs"/>
                        </a:rPr>
                        <a:t>Sistema de gestión de calidad implementado y Certificación en ISO 9001:2015</a:t>
                      </a:r>
                      <a:endParaRPr lang="es-CO"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89075" marR="89075" marT="44538" marB="445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00803798"/>
                  </a:ext>
                </a:extLst>
              </a:tr>
              <a:tr h="310984">
                <a:tc>
                  <a:txBody>
                    <a:bodyPr/>
                    <a:lstStyle/>
                    <a:p>
                      <a:pPr algn="ctr">
                        <a:lnSpc>
                          <a:spcPct val="115000"/>
                        </a:lnSpc>
                        <a:spcAft>
                          <a:spcPts val="0"/>
                        </a:spcAft>
                      </a:pPr>
                      <a:r>
                        <a:rPr lang="es-CO" sz="1400" b="1" dirty="0">
                          <a:effectLst/>
                          <a:latin typeface="Calibri" panose="020F0502020204030204" pitchFamily="34" charset="0"/>
                          <a:ea typeface="Calibri" panose="020F0502020204030204" pitchFamily="34" charset="0"/>
                          <a:cs typeface="Times New Roman" panose="02020603050405020304" pitchFamily="18" charset="0"/>
                        </a:rPr>
                        <a:t>OPORTUNIDADES</a:t>
                      </a:r>
                    </a:p>
                  </a:txBody>
                  <a:tcPr marL="89075" marR="89075" marT="44538" marB="445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15000"/>
                        </a:lnSpc>
                        <a:spcAft>
                          <a:spcPts val="0"/>
                        </a:spcAft>
                      </a:pPr>
                      <a:r>
                        <a:rPr lang="es-CO" sz="1400" b="1" dirty="0">
                          <a:effectLst/>
                          <a:latin typeface="Calibri" panose="020F0502020204030204" pitchFamily="34" charset="0"/>
                          <a:ea typeface="Calibri" panose="020F0502020204030204" pitchFamily="34" charset="0"/>
                          <a:cs typeface="Times New Roman" panose="02020603050405020304" pitchFamily="18" charset="0"/>
                        </a:rPr>
                        <a:t>AMENAZAS</a:t>
                      </a:r>
                    </a:p>
                  </a:txBody>
                  <a:tcPr marL="89075" marR="89075" marT="44538" marB="445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3430047"/>
                  </a:ext>
                </a:extLst>
              </a:tr>
              <a:tr h="1741356">
                <a:tc>
                  <a:txBody>
                    <a:bodyPr/>
                    <a:lstStyle/>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Gestión de Recursos (económicos, físicos, tecnológicos, humanos, entre otros)</a:t>
                      </a: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Fortalecer la capacidad de decisión en temas de interés Municipal.</a:t>
                      </a: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Cambio de políticas</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Diseño e implementación del Plan de Relacionamiento con la ciudadanía.</a:t>
                      </a: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Creación de comité de prensa y comunicaciones. </a:t>
                      </a:r>
                    </a:p>
                    <a:p>
                      <a:pPr marL="285750" lvl="0" indent="-285750">
                        <a:buFont typeface="Arial" panose="020B0604020202020204" pitchFamily="34" charset="0"/>
                        <a:buChar char="•"/>
                      </a:pPr>
                      <a:r>
                        <a:rPr lang="es-ES" sz="1400" kern="1200" dirty="0">
                          <a:solidFill>
                            <a:schemeClr val="tx1"/>
                          </a:solidFill>
                          <a:effectLst/>
                          <a:latin typeface="+mn-lt"/>
                          <a:ea typeface="+mn-ea"/>
                          <a:cs typeface="+mn-cs"/>
                        </a:rPr>
                        <a:t>Incrementar la calificación de FURAG - MECI</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Diseño e implementación del Plan de Relacionamiento con la ciudadanía.</a:t>
                      </a:r>
                    </a:p>
                    <a:p>
                      <a:pPr marL="285750" lvl="0" indent="-285750">
                        <a:buFont typeface="Arial" panose="020B0604020202020204" pitchFamily="34" charset="0"/>
                        <a:buChar char="•"/>
                      </a:pPr>
                      <a:r>
                        <a:rPr lang="es-CO" sz="1400" kern="1200" dirty="0">
                          <a:solidFill>
                            <a:schemeClr val="tx1"/>
                          </a:solidFill>
                          <a:effectLst/>
                          <a:latin typeface="+mn-lt"/>
                          <a:ea typeface="+mn-ea"/>
                          <a:cs typeface="+mn-cs"/>
                        </a:rPr>
                        <a:t>Realización de encuestas de percepción a la ciudadanía.</a:t>
                      </a:r>
                    </a:p>
                    <a:p>
                      <a:pPr marL="171450" indent="-171450" algn="l">
                        <a:lnSpc>
                          <a:spcPct val="107000"/>
                        </a:lnSpc>
                        <a:spcAft>
                          <a:spcPts val="800"/>
                        </a:spcAft>
                        <a:buFont typeface="Arial" panose="020B0604020202020204" pitchFamily="34" charset="0"/>
                        <a:buChar char="•"/>
                      </a:pPr>
                      <a:endParaRPr lang="es-CO" sz="1200" kern="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89535" marR="895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just">
                        <a:lnSpc>
                          <a:spcPct val="115000"/>
                        </a:lnSpc>
                        <a:spcAft>
                          <a:spcPts val="0"/>
                        </a:spcAft>
                        <a:buFont typeface="Arial" panose="020B0604020202020204" pitchFamily="34" charset="0"/>
                        <a:buChar char="•"/>
                      </a:pPr>
                      <a:r>
                        <a:rPr lang="es-CO" sz="1400" kern="1200" dirty="0">
                          <a:solidFill>
                            <a:schemeClr val="tx1"/>
                          </a:solidFill>
                          <a:effectLst/>
                          <a:latin typeface="+mn-lt"/>
                          <a:ea typeface="+mn-ea"/>
                          <a:cs typeface="+mn-cs"/>
                        </a:rPr>
                        <a:t>Cambio de Mesa directiva</a:t>
                      </a: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Cambios normativos con impacto fiscal.</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Cambio de Políticas. </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Baja Percepción de Imagen.</a:t>
                      </a:r>
                      <a:endParaRPr lang="es-CO" sz="1400" kern="1200" dirty="0">
                        <a:solidFill>
                          <a:schemeClr val="tx1"/>
                        </a:solidFill>
                        <a:effectLst/>
                        <a:latin typeface="+mn-lt"/>
                        <a:ea typeface="+mn-ea"/>
                        <a:cs typeface="+mn-cs"/>
                      </a:endParaRPr>
                    </a:p>
                    <a:p>
                      <a:pPr marL="285750" lvl="0" indent="-285750">
                        <a:buFont typeface="Arial" panose="020B0604020202020204" pitchFamily="34" charset="0"/>
                        <a:buChar char="•"/>
                      </a:pPr>
                      <a:r>
                        <a:rPr lang="es-MX" sz="1400" kern="1200" dirty="0">
                          <a:solidFill>
                            <a:schemeClr val="tx1"/>
                          </a:solidFill>
                          <a:effectLst/>
                          <a:latin typeface="+mn-lt"/>
                          <a:ea typeface="+mn-ea"/>
                          <a:cs typeface="+mn-cs"/>
                        </a:rPr>
                        <a:t>Salud Pública.</a:t>
                      </a:r>
                      <a:endParaRPr lang="es-CO" sz="1400" kern="1200" dirty="0">
                        <a:solidFill>
                          <a:schemeClr val="tx1"/>
                        </a:solidFill>
                        <a:effectLst/>
                        <a:latin typeface="+mn-lt"/>
                        <a:ea typeface="+mn-ea"/>
                        <a:cs typeface="+mn-cs"/>
                      </a:endParaRPr>
                    </a:p>
                    <a:p>
                      <a:pPr marL="285750" indent="-285750">
                        <a:buFont typeface="Arial" panose="020B0604020202020204" pitchFamily="34" charset="0"/>
                        <a:buChar char="•"/>
                      </a:pPr>
                      <a:r>
                        <a:rPr lang="es-MX" sz="1400" kern="1200" dirty="0">
                          <a:solidFill>
                            <a:schemeClr val="tx1"/>
                          </a:solidFill>
                          <a:effectLst/>
                          <a:latin typeface="+mn-lt"/>
                          <a:ea typeface="+mn-ea"/>
                          <a:cs typeface="+mn-cs"/>
                        </a:rPr>
                        <a:t>Orden público.</a:t>
                      </a:r>
                    </a:p>
                    <a:p>
                      <a:pPr marL="285750" indent="-285750">
                        <a:buFont typeface="Arial" panose="020B0604020202020204" pitchFamily="34" charset="0"/>
                        <a:buChar char="•"/>
                      </a:pPr>
                      <a:r>
                        <a:rPr lang="es-MX" sz="1400" kern="1200" dirty="0">
                          <a:solidFill>
                            <a:schemeClr val="tx1"/>
                          </a:solidFill>
                          <a:effectLst/>
                          <a:latin typeface="+mn-lt"/>
                          <a:ea typeface="+mn-ea"/>
                          <a:cs typeface="+mn-cs"/>
                        </a:rPr>
                        <a:t>Adecuación de sede. </a:t>
                      </a:r>
                      <a:endParaRPr lang="es-CO" sz="1400" kern="1200" dirty="0">
                        <a:solidFill>
                          <a:schemeClr val="tx1"/>
                        </a:solidFill>
                        <a:effectLst/>
                        <a:latin typeface="+mn-lt"/>
                        <a:ea typeface="+mn-ea"/>
                        <a:cs typeface="+mn-cs"/>
                      </a:endParaRPr>
                    </a:p>
                    <a:p>
                      <a:pPr marL="171450" indent="-171450" algn="just">
                        <a:lnSpc>
                          <a:spcPct val="115000"/>
                        </a:lnSpc>
                        <a:spcAft>
                          <a:spcPts val="0"/>
                        </a:spcAft>
                        <a:buFont typeface="Arial" panose="020B0604020202020204" pitchFamily="34" charset="0"/>
                        <a:buChar char="•"/>
                      </a:pPr>
                      <a:endParaRPr lang="es-CO" sz="1200" dirty="0">
                        <a:effectLst/>
                        <a:latin typeface="Times New Roman" panose="02020603050405020304" pitchFamily="18" charset="0"/>
                        <a:ea typeface="Times New Roman" panose="02020603050405020304" pitchFamily="18" charset="0"/>
                      </a:endParaRPr>
                    </a:p>
                  </a:txBody>
                  <a:tcPr marL="89075" marR="89075" marT="44538" marB="4453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60995059"/>
                  </a:ext>
                </a:extLst>
              </a:tr>
            </a:tbl>
          </a:graphicData>
        </a:graphic>
      </p:graphicFrame>
      <p:sp>
        <p:nvSpPr>
          <p:cNvPr id="3" name="CuadroTexto 2">
            <a:extLst>
              <a:ext uri="{FF2B5EF4-FFF2-40B4-BE49-F238E27FC236}">
                <a16:creationId xmlns:a16="http://schemas.microsoft.com/office/drawing/2014/main" id="{76D3BEC6-E98A-495A-9B86-56A6B0CC4E36}"/>
              </a:ext>
            </a:extLst>
          </p:cNvPr>
          <p:cNvSpPr txBox="1"/>
          <p:nvPr/>
        </p:nvSpPr>
        <p:spPr>
          <a:xfrm>
            <a:off x="4233095" y="414104"/>
            <a:ext cx="576973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2400" b="1" i="0" u="none" strike="noStrike" kern="1200" cap="none" spc="0" normalizeH="0" baseline="0" noProof="0" dirty="0">
                <a:ln>
                  <a:noFill/>
                </a:ln>
                <a:effectLst>
                  <a:outerShdw blurRad="38100" dist="38100" dir="2700000" algn="tl">
                    <a:srgbClr val="000000">
                      <a:alpha val="43137"/>
                    </a:srgbClr>
                  </a:outerShdw>
                </a:effectLst>
                <a:uLnTx/>
                <a:uFillTx/>
                <a:latin typeface="Calibri" panose="020F0502020204030204"/>
                <a:ea typeface="+mn-ea"/>
                <a:cs typeface="+mn-cs"/>
              </a:rPr>
              <a:t>MATRIZ DOFA</a:t>
            </a:r>
          </a:p>
        </p:txBody>
      </p:sp>
    </p:spTree>
    <p:extLst>
      <p:ext uri="{BB962C8B-B14F-4D97-AF65-F5344CB8AC3E}">
        <p14:creationId xmlns:p14="http://schemas.microsoft.com/office/powerpoint/2010/main" val="1925122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5BD0B32C-F158-FB8E-A62F-C53580084FA2}"/>
              </a:ext>
            </a:extLst>
          </p:cNvPr>
          <p:cNvSpPr txBox="1"/>
          <p:nvPr/>
        </p:nvSpPr>
        <p:spPr>
          <a:xfrm>
            <a:off x="1086424" y="1794118"/>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4.|</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59C8D518-E2F2-FFC4-DAFB-2969A3686EB2}"/>
              </a:ext>
            </a:extLst>
          </p:cNvPr>
          <p:cNvSpPr>
            <a:spLocks noChangeArrowheads="1"/>
          </p:cNvSpPr>
          <p:nvPr/>
        </p:nvSpPr>
        <p:spPr bwMode="auto">
          <a:xfrm>
            <a:off x="2163679" y="1470953"/>
            <a:ext cx="928394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RESULTADO DEL DESEMPEÑO INSTITUCIONAL Y EFICACIA DEL SISTEMA DE GESTIÓN DE CALIDAD</a:t>
            </a:r>
          </a:p>
          <a:p>
            <a:pPr marL="0" indent="0" algn="just">
              <a:spcBef>
                <a:spcPct val="0"/>
              </a:spcBef>
              <a:buNone/>
              <a:defRPr/>
            </a:pPr>
            <a:r>
              <a:rPr lang="es-MX" altLang="es-CO" sz="4800" b="1" dirty="0">
                <a:solidFill>
                  <a:schemeClr val="tx1"/>
                </a:solidFill>
                <a:latin typeface="Calibri" panose="020F0502020204030204"/>
              </a:rPr>
              <a:t>A. Cumplimiento del Plan de Acción</a:t>
            </a:r>
            <a:endParaRPr lang="es-ES_tradnl" altLang="es-CO" sz="4800" b="1" dirty="0">
              <a:solidFill>
                <a:schemeClr val="tx1"/>
              </a:solidFill>
              <a:latin typeface="Calibri" panose="020F0502020204030204"/>
            </a:endParaRPr>
          </a:p>
        </p:txBody>
      </p:sp>
      <p:sp>
        <p:nvSpPr>
          <p:cNvPr id="5" name="CuadroTexto 4">
            <a:extLst>
              <a:ext uri="{FF2B5EF4-FFF2-40B4-BE49-F238E27FC236}">
                <a16:creationId xmlns:a16="http://schemas.microsoft.com/office/drawing/2014/main" id="{576D8D1E-7927-2FD3-D3CF-28B01B66AE8C}"/>
              </a:ext>
            </a:extLst>
          </p:cNvPr>
          <p:cNvSpPr txBox="1"/>
          <p:nvPr/>
        </p:nvSpPr>
        <p:spPr>
          <a:xfrm>
            <a:off x="3510756" y="4871684"/>
            <a:ext cx="6093500" cy="830997"/>
          </a:xfrm>
          <a:prstGeom prst="rect">
            <a:avLst/>
          </a:prstGeom>
          <a:noFill/>
        </p:spPr>
        <p:txBody>
          <a:bodyPr wrap="square">
            <a:spAutoFit/>
          </a:bodyPr>
          <a:lstStyle/>
          <a:p>
            <a:pPr algn="ctr"/>
            <a:r>
              <a:rPr lang="es-CO" sz="2400" b="1" dirty="0"/>
              <a:t>CAROLINA BUENO</a:t>
            </a:r>
          </a:p>
          <a:p>
            <a:pPr algn="ctr"/>
            <a:r>
              <a:rPr lang="es-CO" sz="2400" dirty="0"/>
              <a:t>Profesional Universitario</a:t>
            </a:r>
          </a:p>
        </p:txBody>
      </p:sp>
    </p:spTree>
    <p:extLst>
      <p:ext uri="{BB962C8B-B14F-4D97-AF65-F5344CB8AC3E}">
        <p14:creationId xmlns:p14="http://schemas.microsoft.com/office/powerpoint/2010/main" val="958213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3A791E0-8A91-E788-4ADF-F0BB470AE79B}"/>
              </a:ext>
            </a:extLst>
          </p:cNvPr>
          <p:cNvSpPr txBox="1"/>
          <p:nvPr/>
        </p:nvSpPr>
        <p:spPr>
          <a:xfrm>
            <a:off x="3689553" y="857174"/>
            <a:ext cx="562131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2000" b="1" i="0" u="none" strike="noStrike" kern="1200" cap="none" spc="0" normalizeH="0" baseline="0" noProof="0" dirty="0">
                <a:ln>
                  <a:noFill/>
                </a:ln>
                <a:solidFill>
                  <a:prstClr val="black"/>
                </a:solidFill>
                <a:effectLst/>
                <a:uLnTx/>
                <a:uFillTx/>
                <a:latin typeface="Calibri" panose="020F0502020204030204"/>
                <a:ea typeface="+mn-ea"/>
                <a:cs typeface="+mn-cs"/>
              </a:rPr>
              <a:t>COMPORTAMIENTO PLAN DE ACCIÓN 2022</a:t>
            </a:r>
          </a:p>
        </p:txBody>
      </p:sp>
      <p:sp>
        <p:nvSpPr>
          <p:cNvPr id="5" name="CuadroTexto 4">
            <a:extLst>
              <a:ext uri="{FF2B5EF4-FFF2-40B4-BE49-F238E27FC236}">
                <a16:creationId xmlns:a16="http://schemas.microsoft.com/office/drawing/2014/main" id="{6652296A-20CA-0425-D92A-79FA0495A6B6}"/>
              </a:ext>
            </a:extLst>
          </p:cNvPr>
          <p:cNvSpPr txBox="1"/>
          <p:nvPr/>
        </p:nvSpPr>
        <p:spPr>
          <a:xfrm>
            <a:off x="3914406" y="5797251"/>
            <a:ext cx="3416969" cy="261610"/>
          </a:xfrm>
          <a:prstGeom prst="rect">
            <a:avLst/>
          </a:prstGeom>
          <a:noFill/>
        </p:spPr>
        <p:txBody>
          <a:bodyPr wrap="square" rtlCol="0">
            <a:spAutoFit/>
          </a:bodyPr>
          <a:lstStyle/>
          <a:p>
            <a:r>
              <a:rPr lang="es-CO" sz="1100" i="1" dirty="0"/>
              <a:t>Corte </a:t>
            </a:r>
            <a:r>
              <a:rPr lang="es-CO" sz="1100" i="1" dirty="0" err="1"/>
              <a:t>IIi</a:t>
            </a:r>
            <a:r>
              <a:rPr lang="es-CO" sz="1100" i="1" dirty="0"/>
              <a:t> Trimestre  2022</a:t>
            </a:r>
          </a:p>
        </p:txBody>
      </p:sp>
      <p:graphicFrame>
        <p:nvGraphicFramePr>
          <p:cNvPr id="7" name="Tabla 6">
            <a:extLst>
              <a:ext uri="{FF2B5EF4-FFF2-40B4-BE49-F238E27FC236}">
                <a16:creationId xmlns:a16="http://schemas.microsoft.com/office/drawing/2014/main" id="{CD91859D-6F76-9674-EF91-E8CB1330AF19}"/>
              </a:ext>
            </a:extLst>
          </p:cNvPr>
          <p:cNvGraphicFramePr>
            <a:graphicFrameLocks noGrp="1"/>
          </p:cNvGraphicFramePr>
          <p:nvPr>
            <p:extLst>
              <p:ext uri="{D42A27DB-BD31-4B8C-83A1-F6EECF244321}">
                <p14:modId xmlns:p14="http://schemas.microsoft.com/office/powerpoint/2010/main" val="3228262364"/>
              </p:ext>
            </p:extLst>
          </p:nvPr>
        </p:nvGraphicFramePr>
        <p:xfrm>
          <a:off x="749508" y="1257284"/>
          <a:ext cx="10987789" cy="4373410"/>
        </p:xfrm>
        <a:graphic>
          <a:graphicData uri="http://schemas.openxmlformats.org/drawingml/2006/table">
            <a:tbl>
              <a:tblPr firstRow="1">
                <a:tableStyleId>{7DF18680-E054-41AD-8BC1-D1AEF772440D}</a:tableStyleId>
              </a:tblPr>
              <a:tblGrid>
                <a:gridCol w="3554001">
                  <a:extLst>
                    <a:ext uri="{9D8B030D-6E8A-4147-A177-3AD203B41FA5}">
                      <a16:colId xmlns:a16="http://schemas.microsoft.com/office/drawing/2014/main" val="3815369603"/>
                    </a:ext>
                  </a:extLst>
                </a:gridCol>
                <a:gridCol w="2102785">
                  <a:extLst>
                    <a:ext uri="{9D8B030D-6E8A-4147-A177-3AD203B41FA5}">
                      <a16:colId xmlns:a16="http://schemas.microsoft.com/office/drawing/2014/main" val="2150863135"/>
                    </a:ext>
                  </a:extLst>
                </a:gridCol>
                <a:gridCol w="1777001">
                  <a:extLst>
                    <a:ext uri="{9D8B030D-6E8A-4147-A177-3AD203B41FA5}">
                      <a16:colId xmlns:a16="http://schemas.microsoft.com/office/drawing/2014/main" val="1037440383"/>
                    </a:ext>
                  </a:extLst>
                </a:gridCol>
                <a:gridCol w="1777001">
                  <a:extLst>
                    <a:ext uri="{9D8B030D-6E8A-4147-A177-3AD203B41FA5}">
                      <a16:colId xmlns:a16="http://schemas.microsoft.com/office/drawing/2014/main" val="4024831842"/>
                    </a:ext>
                  </a:extLst>
                </a:gridCol>
                <a:gridCol w="1777001">
                  <a:extLst>
                    <a:ext uri="{9D8B030D-6E8A-4147-A177-3AD203B41FA5}">
                      <a16:colId xmlns:a16="http://schemas.microsoft.com/office/drawing/2014/main" val="3599794830"/>
                    </a:ext>
                  </a:extLst>
                </a:gridCol>
              </a:tblGrid>
              <a:tr h="265930">
                <a:tc>
                  <a:txBody>
                    <a:bodyPr/>
                    <a:lstStyle/>
                    <a:p>
                      <a:pPr algn="ctr" fontAlgn="ctr"/>
                      <a:r>
                        <a:rPr lang="es-CO" sz="1400" u="none" strike="noStrike" dirty="0">
                          <a:effectLst/>
                        </a:rPr>
                        <a:t>PROCESO</a:t>
                      </a:r>
                      <a:endParaRPr lang="es-CO" sz="1400" b="1" i="0" u="none" strike="noStrike" dirty="0">
                        <a:effectLst/>
                        <a:latin typeface="Arial" panose="020B0604020202020204" pitchFamily="34" charset="0"/>
                      </a:endParaRPr>
                    </a:p>
                  </a:txBody>
                  <a:tcPr marL="9525" marR="9525" marT="9525" marB="0" anchor="ctr"/>
                </a:tc>
                <a:tc>
                  <a:txBody>
                    <a:bodyPr/>
                    <a:lstStyle/>
                    <a:p>
                      <a:pPr algn="ctr" fontAlgn="ctr"/>
                      <a:r>
                        <a:rPr lang="es-CO" sz="1400" u="none" strike="noStrike" dirty="0">
                          <a:effectLst/>
                        </a:rPr>
                        <a:t>ACTIVIDADES</a:t>
                      </a:r>
                      <a:endParaRPr lang="es-CO" sz="1400" b="1" i="0" u="none" strike="noStrike" dirty="0">
                        <a:effectLst/>
                        <a:latin typeface="Arial" panose="020B0604020202020204" pitchFamily="34" charset="0"/>
                      </a:endParaRPr>
                    </a:p>
                  </a:txBody>
                  <a:tcPr marL="9525" marR="9525" marT="9525" marB="0" anchor="ctr"/>
                </a:tc>
                <a:tc>
                  <a:txBody>
                    <a:bodyPr/>
                    <a:lstStyle/>
                    <a:p>
                      <a:pPr algn="ctr" fontAlgn="ctr"/>
                      <a:r>
                        <a:rPr lang="es-CO" sz="1400" u="none" strike="noStrike" dirty="0">
                          <a:effectLst/>
                        </a:rPr>
                        <a:t>I TRIM</a:t>
                      </a:r>
                      <a:endParaRPr lang="es-CO" sz="1400" b="1" i="0" u="none" strike="noStrike" dirty="0">
                        <a:effectLst/>
                        <a:latin typeface="Arial" panose="020B0604020202020204" pitchFamily="34" charset="0"/>
                      </a:endParaRPr>
                    </a:p>
                  </a:txBody>
                  <a:tcPr marL="9525" marR="9525" marT="9525" marB="0" anchor="ctr"/>
                </a:tc>
                <a:tc>
                  <a:txBody>
                    <a:bodyPr/>
                    <a:lstStyle/>
                    <a:p>
                      <a:pPr algn="ctr" fontAlgn="ctr"/>
                      <a:r>
                        <a:rPr lang="es-CO" sz="1400" u="none" strike="noStrike" dirty="0">
                          <a:effectLst/>
                        </a:rPr>
                        <a:t>II TRIM</a:t>
                      </a:r>
                      <a:endParaRPr lang="es-CO" sz="1400" b="1" i="0" u="none" strike="noStrike" dirty="0">
                        <a:effectLst/>
                        <a:latin typeface="Arial" panose="020B0604020202020204" pitchFamily="34" charset="0"/>
                      </a:endParaRPr>
                    </a:p>
                  </a:txBody>
                  <a:tcPr marL="9525" marR="9525" marT="9525" marB="0" anchor="ctr"/>
                </a:tc>
                <a:tc>
                  <a:txBody>
                    <a:bodyPr/>
                    <a:lstStyle/>
                    <a:p>
                      <a:pPr algn="ctr" fontAlgn="ctr"/>
                      <a:r>
                        <a:rPr lang="es-CO" sz="1400" u="none" strike="noStrike" dirty="0">
                          <a:effectLst/>
                        </a:rPr>
                        <a:t>III TRIM</a:t>
                      </a:r>
                      <a:endParaRPr lang="es-CO" sz="1400" b="1" i="0" u="none" strike="noStrike" dirty="0">
                        <a:effectLst/>
                        <a:latin typeface="Arial" panose="020B0604020202020204" pitchFamily="34" charset="0"/>
                      </a:endParaRPr>
                    </a:p>
                  </a:txBody>
                  <a:tcPr marL="9525" marR="9525" marT="9525" marB="0" anchor="ctr"/>
                </a:tc>
                <a:extLst>
                  <a:ext uri="{0D108BD9-81ED-4DB2-BD59-A6C34878D82A}">
                    <a16:rowId xmlns:a16="http://schemas.microsoft.com/office/drawing/2014/main" val="2941151577"/>
                  </a:ext>
                </a:extLst>
              </a:tr>
              <a:tr h="342290">
                <a:tc>
                  <a:txBody>
                    <a:bodyPr/>
                    <a:lstStyle/>
                    <a:p>
                      <a:pPr algn="ctr" fontAlgn="ctr"/>
                      <a:r>
                        <a:rPr lang="es-CO" sz="1100" b="1" u="none" strike="noStrike" dirty="0">
                          <a:effectLst/>
                        </a:rPr>
                        <a:t>Direccionamiento Estratégico</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3</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NA</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96%</a:t>
                      </a:r>
                      <a:endParaRPr lang="es-CO" sz="1100" b="1" i="0" u="none" strike="noStrike">
                        <a:effectLst/>
                        <a:latin typeface="Arial" panose="020B0604020202020204" pitchFamily="34" charset="0"/>
                      </a:endParaRPr>
                    </a:p>
                  </a:txBody>
                  <a:tcPr marL="9525" marR="9525" marT="9525" marB="0" anchor="ctr"/>
                </a:tc>
                <a:tc>
                  <a:txBody>
                    <a:bodyPr/>
                    <a:lstStyle/>
                    <a:p>
                      <a:pPr algn="ctr" fontAlgn="ctr"/>
                      <a:r>
                        <a:rPr lang="es-CO" sz="1100" b="1" u="none" strike="noStrike">
                          <a:effectLst/>
                        </a:rPr>
                        <a:t>NA</a:t>
                      </a:r>
                      <a:endParaRPr lang="es-CO" sz="1100" b="1" i="0" u="none" strike="noStrike">
                        <a:effectLst/>
                        <a:latin typeface="Arial" panose="020B0604020202020204" pitchFamily="34" charset="0"/>
                      </a:endParaRPr>
                    </a:p>
                  </a:txBody>
                  <a:tcPr marL="9525" marR="9525" marT="9525" marB="0" anchor="ctr"/>
                </a:tc>
                <a:extLst>
                  <a:ext uri="{0D108BD9-81ED-4DB2-BD59-A6C34878D82A}">
                    <a16:rowId xmlns:a16="http://schemas.microsoft.com/office/drawing/2014/main" val="1064896144"/>
                  </a:ext>
                </a:extLst>
              </a:tr>
              <a:tr h="342290">
                <a:tc>
                  <a:txBody>
                    <a:bodyPr/>
                    <a:lstStyle/>
                    <a:p>
                      <a:pPr algn="ctr" fontAlgn="ctr"/>
                      <a:r>
                        <a:rPr lang="es-CO" sz="1100" b="1" u="none" strike="noStrike">
                          <a:effectLst/>
                        </a:rPr>
                        <a:t>Relación con la  Ciudadanía</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3</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NA</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NA</a:t>
                      </a:r>
                      <a:endParaRPr lang="es-CO" sz="1100" b="1" i="0" u="none" strike="noStrike">
                        <a:effectLst/>
                        <a:latin typeface="Arial" panose="020B0604020202020204" pitchFamily="34" charset="0"/>
                      </a:endParaRPr>
                    </a:p>
                  </a:txBody>
                  <a:tcPr marL="9525" marR="9525" marT="9525" marB="0" anchor="ctr"/>
                </a:tc>
                <a:tc>
                  <a:txBody>
                    <a:bodyPr/>
                    <a:lstStyle/>
                    <a:p>
                      <a:pPr algn="ctr" fontAlgn="ctr"/>
                      <a:r>
                        <a:rPr lang="es-CO" sz="1100" b="1" u="none" strike="noStrike">
                          <a:effectLst/>
                        </a:rPr>
                        <a:t>NA</a:t>
                      </a:r>
                      <a:endParaRPr lang="es-CO" sz="1100" b="1" i="0" u="none" strike="noStrike">
                        <a:effectLst/>
                        <a:latin typeface="Arial" panose="020B0604020202020204" pitchFamily="34" charset="0"/>
                      </a:endParaRPr>
                    </a:p>
                  </a:txBody>
                  <a:tcPr marL="9525" marR="9525" marT="9525" marB="0" anchor="ctr"/>
                </a:tc>
                <a:extLst>
                  <a:ext uri="{0D108BD9-81ED-4DB2-BD59-A6C34878D82A}">
                    <a16:rowId xmlns:a16="http://schemas.microsoft.com/office/drawing/2014/main" val="792675003"/>
                  </a:ext>
                </a:extLst>
              </a:tr>
              <a:tr h="342290">
                <a:tc>
                  <a:txBody>
                    <a:bodyPr/>
                    <a:lstStyle/>
                    <a:p>
                      <a:pPr algn="ctr" fontAlgn="ctr"/>
                      <a:r>
                        <a:rPr lang="es-CO" sz="1100" b="1" u="none" strike="noStrike">
                          <a:effectLst/>
                        </a:rPr>
                        <a:t>Gestión de Comunicaciones</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5</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NA</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83%</a:t>
                      </a:r>
                      <a:endParaRPr lang="es-CO" sz="1100" b="1" i="0" u="none" strike="noStrike">
                        <a:effectLst/>
                        <a:latin typeface="Arial" panose="020B0604020202020204" pitchFamily="34" charset="0"/>
                      </a:endParaRPr>
                    </a:p>
                  </a:txBody>
                  <a:tcPr marL="9525" marR="9525" marT="9525" marB="0" anchor="ctr"/>
                </a:tc>
                <a:tc>
                  <a:txBody>
                    <a:bodyPr/>
                    <a:lstStyle/>
                    <a:p>
                      <a:pPr algn="ctr" fontAlgn="ctr"/>
                      <a:r>
                        <a:rPr lang="es-CO" sz="1100" b="1" u="none" strike="noStrike">
                          <a:effectLst/>
                        </a:rPr>
                        <a:t>NA</a:t>
                      </a:r>
                      <a:endParaRPr lang="es-CO" sz="1100" b="1" i="0" u="none" strike="noStrike">
                        <a:effectLst/>
                        <a:latin typeface="Arial" panose="020B0604020202020204" pitchFamily="34" charset="0"/>
                      </a:endParaRPr>
                    </a:p>
                  </a:txBody>
                  <a:tcPr marL="9525" marR="9525" marT="9525" marB="0" anchor="ctr"/>
                </a:tc>
                <a:extLst>
                  <a:ext uri="{0D108BD9-81ED-4DB2-BD59-A6C34878D82A}">
                    <a16:rowId xmlns:a16="http://schemas.microsoft.com/office/drawing/2014/main" val="196315759"/>
                  </a:ext>
                </a:extLst>
              </a:tr>
              <a:tr h="342290">
                <a:tc>
                  <a:txBody>
                    <a:bodyPr/>
                    <a:lstStyle/>
                    <a:p>
                      <a:pPr algn="ctr" fontAlgn="ctr"/>
                      <a:r>
                        <a:rPr lang="es-CO" sz="1100" b="1" u="none" strike="noStrike" dirty="0">
                          <a:effectLst/>
                        </a:rPr>
                        <a:t>Gestión Jurídica</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4</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NA</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95%</a:t>
                      </a:r>
                      <a:endParaRPr lang="es-CO" sz="1100" b="1" i="0" u="none" strike="noStrike">
                        <a:effectLst/>
                        <a:latin typeface="Arial" panose="020B0604020202020204" pitchFamily="34" charset="0"/>
                      </a:endParaRPr>
                    </a:p>
                  </a:txBody>
                  <a:tcPr marL="9525" marR="9525" marT="9525" marB="0" anchor="ctr"/>
                </a:tc>
                <a:tc>
                  <a:txBody>
                    <a:bodyPr/>
                    <a:lstStyle/>
                    <a:p>
                      <a:pPr algn="ctr" fontAlgn="ctr"/>
                      <a:r>
                        <a:rPr lang="es-CO" sz="1100" b="1" u="none" strike="noStrike" dirty="0">
                          <a:effectLst/>
                        </a:rPr>
                        <a:t> NA</a:t>
                      </a:r>
                      <a:endParaRPr lang="es-CO" sz="1100" b="1" i="0" u="none" strike="noStrike" dirty="0">
                        <a:effectLst/>
                        <a:latin typeface="Arial" panose="020B0604020202020204" pitchFamily="34" charset="0"/>
                      </a:endParaRPr>
                    </a:p>
                  </a:txBody>
                  <a:tcPr marL="9525" marR="9525" marT="9525" marB="0" anchor="ctr"/>
                </a:tc>
                <a:extLst>
                  <a:ext uri="{0D108BD9-81ED-4DB2-BD59-A6C34878D82A}">
                    <a16:rowId xmlns:a16="http://schemas.microsoft.com/office/drawing/2014/main" val="3928244549"/>
                  </a:ext>
                </a:extLst>
              </a:tr>
              <a:tr h="342290">
                <a:tc>
                  <a:txBody>
                    <a:bodyPr/>
                    <a:lstStyle/>
                    <a:p>
                      <a:pPr algn="ctr" fontAlgn="ctr"/>
                      <a:r>
                        <a:rPr lang="es-CO" sz="1100" b="1" u="none" strike="noStrike" dirty="0">
                          <a:effectLst/>
                        </a:rPr>
                        <a:t>Gestión Contractual</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6</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100%</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88%</a:t>
                      </a:r>
                      <a:endParaRPr lang="es-CO" sz="1100" b="1" i="0" u="none" strike="noStrike">
                        <a:effectLst/>
                        <a:latin typeface="Arial" panose="020B0604020202020204" pitchFamily="34" charset="0"/>
                      </a:endParaRPr>
                    </a:p>
                  </a:txBody>
                  <a:tcPr marL="9525" marR="9525" marT="9525" marB="0" anchor="ctr"/>
                </a:tc>
                <a:tc>
                  <a:txBody>
                    <a:bodyPr/>
                    <a:lstStyle/>
                    <a:p>
                      <a:pPr algn="ctr" fontAlgn="ctr"/>
                      <a:r>
                        <a:rPr lang="es-CO" sz="1100" b="1" u="none" strike="noStrike">
                          <a:effectLst/>
                        </a:rPr>
                        <a:t>100%</a:t>
                      </a:r>
                      <a:endParaRPr lang="es-CO" sz="1100" b="1" i="0" u="none" strike="noStrike">
                        <a:effectLst/>
                        <a:latin typeface="Arial" panose="020B0604020202020204" pitchFamily="34" charset="0"/>
                      </a:endParaRPr>
                    </a:p>
                  </a:txBody>
                  <a:tcPr marL="9525" marR="9525" marT="9525" marB="0" anchor="ctr"/>
                </a:tc>
                <a:extLst>
                  <a:ext uri="{0D108BD9-81ED-4DB2-BD59-A6C34878D82A}">
                    <a16:rowId xmlns:a16="http://schemas.microsoft.com/office/drawing/2014/main" val="805442360"/>
                  </a:ext>
                </a:extLst>
              </a:tr>
              <a:tr h="342290">
                <a:tc>
                  <a:txBody>
                    <a:bodyPr/>
                    <a:lstStyle/>
                    <a:p>
                      <a:pPr algn="ctr" fontAlgn="ctr"/>
                      <a:r>
                        <a:rPr lang="es-MX" sz="1100" b="1" u="none" strike="noStrike">
                          <a:effectLst/>
                        </a:rPr>
                        <a:t>Gestión de Tecnologias de Información</a:t>
                      </a:r>
                      <a:endParaRPr lang="es-MX"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3</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NA</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solidFill>
                            <a:srgbClr val="FF0000"/>
                          </a:solidFill>
                          <a:effectLst/>
                        </a:rPr>
                        <a:t>33%</a:t>
                      </a:r>
                      <a:endParaRPr lang="es-CO" sz="1100" b="1" i="0" u="none" strike="noStrike" dirty="0">
                        <a:solidFill>
                          <a:srgbClr val="FF0000"/>
                        </a:solidFill>
                        <a:effectLst/>
                        <a:latin typeface="Arial" panose="020B0604020202020204" pitchFamily="34" charset="0"/>
                      </a:endParaRPr>
                    </a:p>
                  </a:txBody>
                  <a:tcPr marL="9525" marR="9525" marT="9525" marB="0" anchor="ctr"/>
                </a:tc>
                <a:tc>
                  <a:txBody>
                    <a:bodyPr/>
                    <a:lstStyle/>
                    <a:p>
                      <a:pPr algn="ctr" fontAlgn="ctr"/>
                      <a:r>
                        <a:rPr lang="es-CO" sz="1100" b="1" u="none" strike="noStrike">
                          <a:effectLst/>
                        </a:rPr>
                        <a:t>97%</a:t>
                      </a:r>
                      <a:endParaRPr lang="es-CO" sz="1100" b="1" i="0" u="none" strike="noStrike">
                        <a:effectLst/>
                        <a:latin typeface="Arial" panose="020B0604020202020204" pitchFamily="34" charset="0"/>
                      </a:endParaRPr>
                    </a:p>
                  </a:txBody>
                  <a:tcPr marL="9525" marR="9525" marT="9525" marB="0" anchor="ctr"/>
                </a:tc>
                <a:extLst>
                  <a:ext uri="{0D108BD9-81ED-4DB2-BD59-A6C34878D82A}">
                    <a16:rowId xmlns:a16="http://schemas.microsoft.com/office/drawing/2014/main" val="2279227773"/>
                  </a:ext>
                </a:extLst>
              </a:tr>
              <a:tr h="342290">
                <a:tc>
                  <a:txBody>
                    <a:bodyPr/>
                    <a:lstStyle/>
                    <a:p>
                      <a:pPr algn="ctr" fontAlgn="ctr"/>
                      <a:r>
                        <a:rPr lang="es-CO" sz="1100" b="1" u="none" strike="noStrike">
                          <a:effectLst/>
                        </a:rPr>
                        <a:t>Gestión del Talento Humano</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6</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 NA </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73%</a:t>
                      </a:r>
                      <a:endParaRPr lang="es-CO" sz="1100" b="1" i="0" u="none" strike="noStrike" dirty="0">
                        <a:effectLst/>
                        <a:latin typeface="Arial" panose="020B0604020202020204" pitchFamily="34" charset="0"/>
                      </a:endParaRPr>
                    </a:p>
                  </a:txBody>
                  <a:tcPr marL="9525" marR="9525" marT="9525" marB="0" anchor="ctr"/>
                </a:tc>
                <a:tc>
                  <a:txBody>
                    <a:bodyPr/>
                    <a:lstStyle/>
                    <a:p>
                      <a:pPr algn="ctr" fontAlgn="ctr"/>
                      <a:r>
                        <a:rPr lang="es-CO" sz="1100" b="1" u="none" strike="noStrike">
                          <a:effectLst/>
                        </a:rPr>
                        <a:t>100%</a:t>
                      </a:r>
                      <a:endParaRPr lang="es-CO" sz="1100" b="1" i="0" u="none" strike="noStrike">
                        <a:effectLst/>
                        <a:latin typeface="Arial" panose="020B0604020202020204" pitchFamily="34" charset="0"/>
                      </a:endParaRPr>
                    </a:p>
                  </a:txBody>
                  <a:tcPr marL="9525" marR="9525" marT="9525" marB="0" anchor="ctr"/>
                </a:tc>
                <a:extLst>
                  <a:ext uri="{0D108BD9-81ED-4DB2-BD59-A6C34878D82A}">
                    <a16:rowId xmlns:a16="http://schemas.microsoft.com/office/drawing/2014/main" val="2027247782"/>
                  </a:ext>
                </a:extLst>
              </a:tr>
              <a:tr h="342290">
                <a:tc>
                  <a:txBody>
                    <a:bodyPr/>
                    <a:lstStyle/>
                    <a:p>
                      <a:pPr algn="ctr" fontAlgn="ctr"/>
                      <a:r>
                        <a:rPr lang="es-CO" sz="1100" b="1" u="none" strike="noStrike" dirty="0">
                          <a:effectLst/>
                        </a:rPr>
                        <a:t>Gestión de Calidad</a:t>
                      </a:r>
                      <a:endParaRPr lang="es-CO" sz="1100" b="1" i="0" u="none" strike="noStrike" dirty="0">
                        <a:effectLst/>
                        <a:latin typeface="Arial" panose="020B0604020202020204" pitchFamily="34" charset="0"/>
                      </a:endParaRPr>
                    </a:p>
                  </a:txBody>
                  <a:tcPr marL="9525" marR="9525" marT="9525" marB="0" anchor="ctr"/>
                </a:tc>
                <a:tc>
                  <a:txBody>
                    <a:bodyPr/>
                    <a:lstStyle/>
                    <a:p>
                      <a:pPr algn="ctr" fontAlgn="ctr"/>
                      <a:r>
                        <a:rPr lang="es-CO" sz="1100" b="1" u="none" strike="noStrike">
                          <a:effectLst/>
                        </a:rPr>
                        <a:t>2</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NA</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100%</a:t>
                      </a:r>
                      <a:endParaRPr lang="es-CO" sz="1100" b="1" i="0" u="none" strike="noStrike" dirty="0">
                        <a:effectLst/>
                        <a:latin typeface="Arial" panose="020B0604020202020204" pitchFamily="34" charset="0"/>
                      </a:endParaRPr>
                    </a:p>
                  </a:txBody>
                  <a:tcPr marL="9525" marR="9525" marT="9525" marB="0" anchor="ctr"/>
                </a:tc>
                <a:tc>
                  <a:txBody>
                    <a:bodyPr/>
                    <a:lstStyle/>
                    <a:p>
                      <a:pPr algn="ctr" fontAlgn="ctr"/>
                      <a:r>
                        <a:rPr lang="es-CO" sz="1100" b="1" u="none" strike="noStrike" dirty="0">
                          <a:effectLst/>
                        </a:rPr>
                        <a:t>NA</a:t>
                      </a:r>
                      <a:endParaRPr lang="es-CO" sz="1100" b="1" i="0" u="none" strike="noStrike" dirty="0">
                        <a:effectLst/>
                        <a:latin typeface="Arial" panose="020B0604020202020204" pitchFamily="34" charset="0"/>
                      </a:endParaRPr>
                    </a:p>
                  </a:txBody>
                  <a:tcPr marL="9525" marR="9525" marT="9525" marB="0" anchor="ctr"/>
                </a:tc>
                <a:extLst>
                  <a:ext uri="{0D108BD9-81ED-4DB2-BD59-A6C34878D82A}">
                    <a16:rowId xmlns:a16="http://schemas.microsoft.com/office/drawing/2014/main" val="2011167373"/>
                  </a:ext>
                </a:extLst>
              </a:tr>
              <a:tr h="342290">
                <a:tc>
                  <a:txBody>
                    <a:bodyPr/>
                    <a:lstStyle/>
                    <a:p>
                      <a:pPr algn="ctr" fontAlgn="ctr"/>
                      <a:r>
                        <a:rPr lang="es-CO" sz="1100" b="1" u="none" strike="noStrike">
                          <a:effectLst/>
                        </a:rPr>
                        <a:t>Gestión Administrativa y Financiera</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10</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84%</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88%</a:t>
                      </a:r>
                      <a:endParaRPr lang="es-CO" sz="1100" b="1" i="0" u="none" strike="noStrike" dirty="0">
                        <a:effectLst/>
                        <a:latin typeface="Arial" panose="020B0604020202020204" pitchFamily="34" charset="0"/>
                      </a:endParaRPr>
                    </a:p>
                  </a:txBody>
                  <a:tcPr marL="9525" marR="9525" marT="9525" marB="0" anchor="ctr"/>
                </a:tc>
                <a:tc>
                  <a:txBody>
                    <a:bodyPr/>
                    <a:lstStyle/>
                    <a:p>
                      <a:pPr algn="ctr" fontAlgn="ctr"/>
                      <a:r>
                        <a:rPr lang="es-CO" sz="1100" b="1" u="none" strike="noStrike" dirty="0">
                          <a:effectLst/>
                        </a:rPr>
                        <a:t>94%</a:t>
                      </a:r>
                      <a:endParaRPr lang="es-CO" sz="1100" b="1" i="0" u="none" strike="noStrike" dirty="0">
                        <a:effectLst/>
                        <a:latin typeface="Arial" panose="020B0604020202020204" pitchFamily="34" charset="0"/>
                      </a:endParaRPr>
                    </a:p>
                  </a:txBody>
                  <a:tcPr marL="9525" marR="9525" marT="9525" marB="0" anchor="ctr"/>
                </a:tc>
                <a:extLst>
                  <a:ext uri="{0D108BD9-81ED-4DB2-BD59-A6C34878D82A}">
                    <a16:rowId xmlns:a16="http://schemas.microsoft.com/office/drawing/2014/main" val="449618791"/>
                  </a:ext>
                </a:extLst>
              </a:tr>
              <a:tr h="342290">
                <a:tc>
                  <a:txBody>
                    <a:bodyPr/>
                    <a:lstStyle/>
                    <a:p>
                      <a:pPr algn="ctr" fontAlgn="ctr"/>
                      <a:r>
                        <a:rPr lang="es-CO" sz="1100" b="1" u="none" strike="noStrike">
                          <a:effectLst/>
                        </a:rPr>
                        <a:t>Gestión Documental</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4</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solidFill>
                            <a:schemeClr val="accent4">
                              <a:lumMod val="75000"/>
                            </a:schemeClr>
                          </a:solidFill>
                          <a:effectLst/>
                        </a:rPr>
                        <a:t>75%</a:t>
                      </a:r>
                      <a:endParaRPr lang="es-CO" sz="1100" b="1" i="0" u="none" strike="noStrike" dirty="0">
                        <a:solidFill>
                          <a:schemeClr val="accent4">
                            <a:lumMod val="75000"/>
                          </a:schemeClr>
                        </a:solidFill>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100%</a:t>
                      </a:r>
                      <a:endParaRPr lang="es-CO" sz="1100" b="1" i="0" u="none" strike="noStrike" dirty="0">
                        <a:effectLst/>
                        <a:latin typeface="Arial" panose="020B0604020202020204" pitchFamily="34" charset="0"/>
                      </a:endParaRPr>
                    </a:p>
                  </a:txBody>
                  <a:tcPr marL="9525" marR="9525" marT="9525" marB="0" anchor="ctr"/>
                </a:tc>
                <a:tc>
                  <a:txBody>
                    <a:bodyPr/>
                    <a:lstStyle/>
                    <a:p>
                      <a:pPr algn="ctr" fontAlgn="ctr"/>
                      <a:r>
                        <a:rPr lang="es-CO" sz="1100" b="1" u="none" strike="noStrike">
                          <a:effectLst/>
                        </a:rPr>
                        <a:t>100%</a:t>
                      </a:r>
                      <a:endParaRPr lang="es-CO" sz="1100" b="1" i="0" u="none" strike="noStrike">
                        <a:effectLst/>
                        <a:latin typeface="Arial" panose="020B0604020202020204" pitchFamily="34" charset="0"/>
                      </a:endParaRPr>
                    </a:p>
                  </a:txBody>
                  <a:tcPr marL="9525" marR="9525" marT="9525" marB="0" anchor="ctr"/>
                </a:tc>
                <a:extLst>
                  <a:ext uri="{0D108BD9-81ED-4DB2-BD59-A6C34878D82A}">
                    <a16:rowId xmlns:a16="http://schemas.microsoft.com/office/drawing/2014/main" val="2748223343"/>
                  </a:ext>
                </a:extLst>
              </a:tr>
              <a:tr h="342290">
                <a:tc>
                  <a:txBody>
                    <a:bodyPr/>
                    <a:lstStyle/>
                    <a:p>
                      <a:pPr algn="ctr" fontAlgn="ctr"/>
                      <a:r>
                        <a:rPr lang="es-MX" sz="1100" b="1" u="none" strike="noStrike">
                          <a:effectLst/>
                        </a:rPr>
                        <a:t>control politico y tramites de proyectos de acuerdo</a:t>
                      </a:r>
                      <a:endParaRPr lang="es-MX"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7</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82%</a:t>
                      </a:r>
                      <a:endParaRPr lang="es-CO" sz="1100" b="1" i="0" u="none" strike="noStrike" dirty="0">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84%</a:t>
                      </a:r>
                      <a:endParaRPr lang="es-CO" sz="1100" b="1" i="0" u="none" strike="noStrike" dirty="0">
                        <a:effectLst/>
                        <a:latin typeface="Arial" panose="020B0604020202020204" pitchFamily="34" charset="0"/>
                      </a:endParaRPr>
                    </a:p>
                  </a:txBody>
                  <a:tcPr marL="9525" marR="9525" marT="9525" marB="0" anchor="ctr"/>
                </a:tc>
                <a:tc>
                  <a:txBody>
                    <a:bodyPr/>
                    <a:lstStyle/>
                    <a:p>
                      <a:pPr algn="ctr" fontAlgn="ctr"/>
                      <a:r>
                        <a:rPr lang="es-CO" sz="1100" b="1" u="none" strike="noStrike" dirty="0">
                          <a:effectLst/>
                        </a:rPr>
                        <a:t>94%</a:t>
                      </a:r>
                      <a:endParaRPr lang="es-CO" sz="1100" b="1" i="0" u="none" strike="noStrike" dirty="0">
                        <a:effectLst/>
                        <a:latin typeface="Arial" panose="020B0604020202020204" pitchFamily="34" charset="0"/>
                      </a:endParaRPr>
                    </a:p>
                  </a:txBody>
                  <a:tcPr marL="9525" marR="9525" marT="9525" marB="0" anchor="ctr"/>
                </a:tc>
                <a:extLst>
                  <a:ext uri="{0D108BD9-81ED-4DB2-BD59-A6C34878D82A}">
                    <a16:rowId xmlns:a16="http://schemas.microsoft.com/office/drawing/2014/main" val="1114233719"/>
                  </a:ext>
                </a:extLst>
              </a:tr>
              <a:tr h="342290">
                <a:tc>
                  <a:txBody>
                    <a:bodyPr/>
                    <a:lstStyle/>
                    <a:p>
                      <a:pPr algn="ctr" fontAlgn="ctr"/>
                      <a:r>
                        <a:rPr lang="es-CO" sz="1100" b="1" u="none" strike="noStrike">
                          <a:effectLst/>
                        </a:rPr>
                        <a:t>Gestion de evaluación independiente </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4</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a:effectLst/>
                        </a:rPr>
                        <a:t>100%</a:t>
                      </a:r>
                      <a:endParaRPr lang="es-CO" sz="1100" b="1" i="0" u="none" strike="noStrike">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100%</a:t>
                      </a:r>
                      <a:endParaRPr lang="es-CO" sz="1100" b="1" i="0" u="none" strike="noStrike" dirty="0">
                        <a:effectLst/>
                        <a:latin typeface="Arial" panose="020B0604020202020204" pitchFamily="34" charset="0"/>
                      </a:endParaRPr>
                    </a:p>
                  </a:txBody>
                  <a:tcPr marL="9525" marR="9525" marT="9525" marB="0" anchor="ctr"/>
                </a:tc>
                <a:tc>
                  <a:txBody>
                    <a:bodyPr/>
                    <a:lstStyle/>
                    <a:p>
                      <a:pPr algn="ctr" fontAlgn="ctr"/>
                      <a:r>
                        <a:rPr lang="es-CO" sz="1100" b="1" u="none" strike="noStrike" dirty="0">
                          <a:effectLst/>
                        </a:rPr>
                        <a:t>100%</a:t>
                      </a:r>
                      <a:endParaRPr lang="es-CO" sz="1100" b="1" i="0" u="none" strike="noStrike" dirty="0">
                        <a:effectLst/>
                        <a:latin typeface="Arial" panose="020B0604020202020204" pitchFamily="34" charset="0"/>
                      </a:endParaRPr>
                    </a:p>
                  </a:txBody>
                  <a:tcPr marL="9525" marR="9525" marT="9525" marB="0" anchor="ctr"/>
                </a:tc>
                <a:extLst>
                  <a:ext uri="{0D108BD9-81ED-4DB2-BD59-A6C34878D82A}">
                    <a16:rowId xmlns:a16="http://schemas.microsoft.com/office/drawing/2014/main" val="356160551"/>
                  </a:ext>
                </a:extLst>
              </a:tr>
            </a:tbl>
          </a:graphicData>
        </a:graphic>
      </p:graphicFrame>
    </p:spTree>
    <p:extLst>
      <p:ext uri="{BB962C8B-B14F-4D97-AF65-F5344CB8AC3E}">
        <p14:creationId xmlns:p14="http://schemas.microsoft.com/office/powerpoint/2010/main" val="233114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186356C-DC5C-C26A-DB1E-176C35F9083B}"/>
              </a:ext>
            </a:extLst>
          </p:cNvPr>
          <p:cNvSpPr txBox="1"/>
          <p:nvPr/>
        </p:nvSpPr>
        <p:spPr>
          <a:xfrm>
            <a:off x="266219" y="1499111"/>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3" name="CuadroTexto 2">
            <a:extLst>
              <a:ext uri="{FF2B5EF4-FFF2-40B4-BE49-F238E27FC236}">
                <a16:creationId xmlns:a16="http://schemas.microsoft.com/office/drawing/2014/main" id="{242F9BAF-459E-EA13-6B74-549AA4D90CAD}"/>
              </a:ext>
            </a:extLst>
          </p:cNvPr>
          <p:cNvSpPr txBox="1"/>
          <p:nvPr/>
        </p:nvSpPr>
        <p:spPr>
          <a:xfrm>
            <a:off x="407147" y="2438613"/>
            <a:ext cx="11257613" cy="3785652"/>
          </a:xfrm>
          <a:prstGeom prst="rect">
            <a:avLst/>
          </a:prstGeom>
          <a:noFill/>
        </p:spPr>
        <p:txBody>
          <a:bodyPr wrap="square" rtlCol="0">
            <a:spAutoFit/>
          </a:bodyPr>
          <a:lstStyle/>
          <a:p>
            <a:pPr marL="342900" marR="0" lvl="0" indent="-342900" algn="just" defTabSz="914400" rtl="0" eaLnBrk="1" fontAlgn="auto" latinLnBrk="0" hangingPunct="1">
              <a:lnSpc>
                <a:spcPct val="100000"/>
              </a:lnSpc>
              <a:spcBef>
                <a:spcPts val="0"/>
              </a:spcBef>
              <a:spcAft>
                <a:spcPts val="1800"/>
              </a:spcAft>
              <a:buClrTx/>
              <a:buSzTx/>
              <a:buFont typeface="+mj-lt"/>
              <a:buAutoNum type="arabicPeriod"/>
              <a:tabLst/>
              <a:defRPr/>
            </a:pPr>
            <a:r>
              <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rPr>
              <a:t> Continuar fortaleciendo la </a:t>
            </a:r>
            <a:r>
              <a:rPr lang="es-CO" dirty="0">
                <a:solidFill>
                  <a:prstClr val="black"/>
                </a:solidFill>
                <a:latin typeface="Calibri" panose="020F0502020204030204"/>
              </a:rPr>
              <a:t>construcción del Plan e Acción frente a los indicadores de algunos procesos (formulación e interpretación) </a:t>
            </a:r>
            <a:r>
              <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rPr>
              <a:t>del reporte de los planes de acción, verificar si se puede generar una metodología a través de sistemas para la recolección de la información.</a:t>
            </a:r>
          </a:p>
          <a:p>
            <a:pPr marL="342900" marR="0" lvl="0" indent="-342900" algn="l" defTabSz="914400" rtl="0" eaLnBrk="1" fontAlgn="auto" latinLnBrk="0" hangingPunct="1">
              <a:lnSpc>
                <a:spcPct val="100000"/>
              </a:lnSpc>
              <a:spcBef>
                <a:spcPts val="0"/>
              </a:spcBef>
              <a:spcAft>
                <a:spcPts val="1800"/>
              </a:spcAft>
              <a:buClrTx/>
              <a:buSzTx/>
              <a:buFont typeface="+mj-lt"/>
              <a:buAutoNum type="arabicPeriod"/>
              <a:tabLst/>
              <a:defRPr/>
            </a:pPr>
            <a:r>
              <a:rPr lang="es-CO" dirty="0">
                <a:solidFill>
                  <a:prstClr val="black"/>
                </a:solidFill>
                <a:latin typeface="Calibri" panose="020F0502020204030204"/>
              </a:rPr>
              <a:t>Unificar frecuencias de reportes de medición y seguimiento de riesgos, indicadores, plan de acción.</a:t>
            </a:r>
            <a:endPar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800"/>
              </a:spcAft>
              <a:buClrTx/>
              <a:buSzTx/>
              <a:buFont typeface="+mj-lt"/>
              <a:buAutoNum type="arabicPeriod"/>
              <a:tabLst/>
              <a:defRPr/>
            </a:pPr>
            <a:r>
              <a:rPr lang="es-CO" dirty="0">
                <a:solidFill>
                  <a:prstClr val="black"/>
                </a:solidFill>
                <a:latin typeface="Calibri" panose="020F0502020204030204"/>
              </a:rPr>
              <a:t>Definir nueva metodología para la formulación del plan de acción, identificando las actividades e indicadores que aportan o contribuyan al Plan Estratégico Institucional.</a:t>
            </a:r>
          </a:p>
          <a:p>
            <a:pPr marL="342900" marR="0" lvl="0" indent="-342900" algn="l" defTabSz="914400" rtl="0" eaLnBrk="1" fontAlgn="auto" latinLnBrk="0" hangingPunct="1">
              <a:lnSpc>
                <a:spcPct val="100000"/>
              </a:lnSpc>
              <a:spcBef>
                <a:spcPts val="0"/>
              </a:spcBef>
              <a:spcAft>
                <a:spcPts val="1800"/>
              </a:spcAft>
              <a:buClrTx/>
              <a:buSzTx/>
              <a:buFont typeface="+mj-lt"/>
              <a:buAutoNum type="arabicPeriod"/>
              <a:tabLst/>
              <a:defRPr/>
            </a:pPr>
            <a:r>
              <a:rPr lang="es-CO" dirty="0">
                <a:solidFill>
                  <a:prstClr val="black"/>
                </a:solidFill>
                <a:latin typeface="Calibri" panose="020F0502020204030204"/>
              </a:rPr>
              <a:t>Verificar la frecuencia del calculo de los indicadores de gestión .</a:t>
            </a:r>
          </a:p>
          <a:p>
            <a:pPr marL="342900" marR="0" lvl="0" indent="-342900" algn="l" defTabSz="914400" rtl="0" eaLnBrk="1" fontAlgn="auto" latinLnBrk="0" hangingPunct="1">
              <a:lnSpc>
                <a:spcPct val="100000"/>
              </a:lnSpc>
              <a:spcBef>
                <a:spcPts val="0"/>
              </a:spcBef>
              <a:spcAft>
                <a:spcPts val="1800"/>
              </a:spcAft>
              <a:buClrTx/>
              <a:buSzTx/>
              <a:buFont typeface="+mj-lt"/>
              <a:buAutoNum type="arabicPeriod"/>
              <a:tabLst/>
              <a:defRPr/>
            </a:pPr>
            <a:r>
              <a:rPr lang="es-CO" dirty="0" err="1">
                <a:solidFill>
                  <a:prstClr val="black"/>
                </a:solidFill>
                <a:latin typeface="Calibri" panose="020F0502020204030204"/>
              </a:rPr>
              <a:t>Ajsutar</a:t>
            </a:r>
            <a:r>
              <a:rPr lang="es-CO" dirty="0">
                <a:solidFill>
                  <a:prstClr val="black"/>
                </a:solidFill>
                <a:latin typeface="Calibri" panose="020F0502020204030204"/>
              </a:rPr>
              <a:t> indicadores de STT, a través de los fortalecer </a:t>
            </a:r>
            <a:r>
              <a:rPr lang="es-CO" dirty="0" err="1">
                <a:solidFill>
                  <a:prstClr val="black"/>
                </a:solidFill>
                <a:latin typeface="Calibri" panose="020F0502020204030204"/>
              </a:rPr>
              <a:t>socializaicón</a:t>
            </a:r>
            <a:r>
              <a:rPr lang="es-CO" dirty="0">
                <a:solidFill>
                  <a:prstClr val="black"/>
                </a:solidFill>
                <a:latin typeface="Calibri" panose="020F0502020204030204"/>
              </a:rPr>
              <a:t> de la importancia de las </a:t>
            </a:r>
            <a:r>
              <a:rPr lang="es-CO" dirty="0" err="1">
                <a:solidFill>
                  <a:prstClr val="black"/>
                </a:solidFill>
                <a:latin typeface="Calibri" panose="020F0502020204030204"/>
              </a:rPr>
              <a:t>apausactividas</a:t>
            </a:r>
            <a:r>
              <a:rPr lang="es-CO" dirty="0">
                <a:solidFill>
                  <a:prstClr val="black"/>
                </a:solidFill>
                <a:latin typeface="Calibri" panose="020F0502020204030204"/>
              </a:rPr>
              <a:t>, pasar reportes de asistencia a los Jefe,  </a:t>
            </a:r>
            <a:r>
              <a:rPr lang="es-CO" dirty="0" err="1">
                <a:solidFill>
                  <a:prstClr val="black"/>
                </a:solidFill>
                <a:latin typeface="Calibri" panose="020F0502020204030204"/>
              </a:rPr>
              <a:t>forltacer</a:t>
            </a:r>
            <a:r>
              <a:rPr lang="es-CO" dirty="0">
                <a:solidFill>
                  <a:prstClr val="black"/>
                </a:solidFill>
                <a:latin typeface="Calibri" panose="020F0502020204030204"/>
              </a:rPr>
              <a:t> la estrategia para la realización de las pausas </a:t>
            </a:r>
            <a:r>
              <a:rPr lang="es-CO" dirty="0" err="1">
                <a:solidFill>
                  <a:prstClr val="black"/>
                </a:solidFill>
                <a:latin typeface="Calibri" panose="020F0502020204030204"/>
              </a:rPr>
              <a:t>actividade</a:t>
            </a:r>
            <a:r>
              <a:rPr lang="es-CO" dirty="0">
                <a:solidFill>
                  <a:prstClr val="black"/>
                </a:solidFill>
                <a:latin typeface="Calibri" panose="020F0502020204030204"/>
              </a:rPr>
              <a:t> (generales y particulares </a:t>
            </a:r>
            <a:r>
              <a:rPr lang="es-CO" dirty="0" err="1">
                <a:solidFill>
                  <a:prstClr val="black"/>
                </a:solidFill>
                <a:latin typeface="Calibri" panose="020F0502020204030204"/>
              </a:rPr>
              <a:t>po</a:t>
            </a:r>
            <a:r>
              <a:rPr lang="es-CO" dirty="0">
                <a:solidFill>
                  <a:prstClr val="black"/>
                </a:solidFill>
                <a:latin typeface="Calibri" panose="020F0502020204030204"/>
              </a:rPr>
              <a:t> dependencia)</a:t>
            </a:r>
          </a:p>
        </p:txBody>
      </p:sp>
    </p:spTree>
    <p:extLst>
      <p:ext uri="{BB962C8B-B14F-4D97-AF65-F5344CB8AC3E}">
        <p14:creationId xmlns:p14="http://schemas.microsoft.com/office/powerpoint/2010/main" val="233301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4C83C6E5-0CE5-7F04-BDB6-F1D5D0593663}"/>
              </a:ext>
            </a:extLst>
          </p:cNvPr>
          <p:cNvSpPr txBox="1"/>
          <p:nvPr/>
        </p:nvSpPr>
        <p:spPr>
          <a:xfrm>
            <a:off x="1086424" y="1794118"/>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4.|</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BE8D4A32-39DC-0844-5949-D781C37EF449}"/>
              </a:ext>
            </a:extLst>
          </p:cNvPr>
          <p:cNvSpPr>
            <a:spLocks noChangeArrowheads="1"/>
          </p:cNvSpPr>
          <p:nvPr/>
        </p:nvSpPr>
        <p:spPr bwMode="auto">
          <a:xfrm>
            <a:off x="2163679" y="1886452"/>
            <a:ext cx="928394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RESULTADO DEL DESEMPEÑO INSTITUCIONAL</a:t>
            </a:r>
          </a:p>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tx1"/>
                </a:solidFill>
                <a:effectLst/>
                <a:uLnTx/>
                <a:uFillTx/>
                <a:latin typeface="Calibri" panose="020F0502020204030204"/>
                <a:ea typeface="Work Sans Light" charset="0"/>
                <a:cs typeface="Work Sans Light" charset="0"/>
              </a:rPr>
              <a:t>B. Cumplimiento de la Política y Objetivos de la calidad</a:t>
            </a:r>
          </a:p>
        </p:txBody>
      </p:sp>
      <p:sp>
        <p:nvSpPr>
          <p:cNvPr id="7" name="CuadroTexto 6">
            <a:extLst>
              <a:ext uri="{FF2B5EF4-FFF2-40B4-BE49-F238E27FC236}">
                <a16:creationId xmlns:a16="http://schemas.microsoft.com/office/drawing/2014/main" id="{F04BD22F-3E84-C66D-BDE4-EF8F1F9B923F}"/>
              </a:ext>
            </a:extLst>
          </p:cNvPr>
          <p:cNvSpPr txBox="1"/>
          <p:nvPr/>
        </p:nvSpPr>
        <p:spPr>
          <a:xfrm>
            <a:off x="3166750" y="5141444"/>
            <a:ext cx="6098344" cy="703591"/>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mn-cs"/>
              </a:rPr>
              <a:t>AIDA PAOLA GUEVARA MORALES</a:t>
            </a:r>
          </a:p>
          <a:p>
            <a:pPr marL="0" marR="0" lvl="0" indent="0" algn="ctr" defTabSz="914400" rtl="0" eaLnBrk="1" fontAlgn="auto" latinLnBrk="0" hangingPunct="1">
              <a:lnSpc>
                <a:spcPct val="115000"/>
              </a:lnSpc>
              <a:spcBef>
                <a:spcPts val="0"/>
              </a:spcBef>
              <a:spcAft>
                <a:spcPts val="0"/>
              </a:spcAft>
              <a:buClrTx/>
              <a:buSzTx/>
              <a:buFontTx/>
              <a:buNone/>
              <a:tabLst/>
              <a:defRPr/>
            </a:pPr>
            <a:r>
              <a:rPr lang="es-MX" dirty="0">
                <a:solidFill>
                  <a:prstClr val="black"/>
                </a:solidFill>
                <a:latin typeface="Arial" panose="020B0604020202020204" pitchFamily="34" charset="0"/>
                <a:ea typeface="Times New Roman" panose="02020603050405020304" pitchFamily="18" charset="0"/>
              </a:rPr>
              <a:t>Gestión de Calidad</a:t>
            </a:r>
            <a:endParaRPr kumimoji="0" lang="es-ES" sz="120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2639957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283B629-2AEB-5772-A6A2-FB2735EFFE8E}"/>
              </a:ext>
            </a:extLst>
          </p:cNvPr>
          <p:cNvSpPr txBox="1"/>
          <p:nvPr/>
        </p:nvSpPr>
        <p:spPr>
          <a:xfrm>
            <a:off x="7689954" y="864567"/>
            <a:ext cx="2428407" cy="707886"/>
          </a:xfrm>
          <a:prstGeom prst="rect">
            <a:avLst/>
          </a:prstGeom>
          <a:noFill/>
        </p:spPr>
        <p:txBody>
          <a:bodyPr wrap="square" rtlCol="0">
            <a:spAutoFit/>
          </a:bodyPr>
          <a:lstStyle/>
          <a:p>
            <a:r>
              <a:rPr lang="es-CO" sz="4000" dirty="0">
                <a:latin typeface="Arial Black" panose="020B0A04020102020204" pitchFamily="34" charset="0"/>
              </a:rPr>
              <a:t>92,02%</a:t>
            </a:r>
          </a:p>
        </p:txBody>
      </p:sp>
      <p:sp>
        <p:nvSpPr>
          <p:cNvPr id="3" name="CuadroTexto 2">
            <a:extLst>
              <a:ext uri="{FF2B5EF4-FFF2-40B4-BE49-F238E27FC236}">
                <a16:creationId xmlns:a16="http://schemas.microsoft.com/office/drawing/2014/main" id="{13BD3396-3ADB-0A07-91BA-721BFDA2EAEF}"/>
              </a:ext>
            </a:extLst>
          </p:cNvPr>
          <p:cNvSpPr txBox="1"/>
          <p:nvPr/>
        </p:nvSpPr>
        <p:spPr>
          <a:xfrm>
            <a:off x="919398" y="784274"/>
            <a:ext cx="6385810" cy="830997"/>
          </a:xfrm>
          <a:prstGeom prst="rect">
            <a:avLst/>
          </a:prstGeom>
          <a:noFill/>
        </p:spPr>
        <p:txBody>
          <a:bodyPr wrap="square" rtlCol="0">
            <a:spAutoFit/>
          </a:bodyPr>
          <a:lstStyle/>
          <a:p>
            <a:r>
              <a:rPr lang="es-CO" sz="2800" b="1" dirty="0"/>
              <a:t>Cumplimiento Objetivos de Calidad 2022</a:t>
            </a:r>
          </a:p>
          <a:p>
            <a:r>
              <a:rPr lang="es-CO" b="1" i="1" dirty="0"/>
              <a:t>Corte 30-11-2022 </a:t>
            </a:r>
          </a:p>
        </p:txBody>
      </p:sp>
      <p:graphicFrame>
        <p:nvGraphicFramePr>
          <p:cNvPr id="7" name="Tabla 6">
            <a:extLst>
              <a:ext uri="{FF2B5EF4-FFF2-40B4-BE49-F238E27FC236}">
                <a16:creationId xmlns:a16="http://schemas.microsoft.com/office/drawing/2014/main" id="{DE54FD90-F19E-00CC-3E19-7B4986C0BE63}"/>
              </a:ext>
            </a:extLst>
          </p:cNvPr>
          <p:cNvGraphicFramePr>
            <a:graphicFrameLocks noGrp="1"/>
          </p:cNvGraphicFramePr>
          <p:nvPr>
            <p:extLst>
              <p:ext uri="{D42A27DB-BD31-4B8C-83A1-F6EECF244321}">
                <p14:modId xmlns:p14="http://schemas.microsoft.com/office/powerpoint/2010/main" val="600714414"/>
              </p:ext>
            </p:extLst>
          </p:nvPr>
        </p:nvGraphicFramePr>
        <p:xfrm>
          <a:off x="627452" y="1704493"/>
          <a:ext cx="10937095" cy="4928235"/>
        </p:xfrm>
        <a:graphic>
          <a:graphicData uri="http://schemas.openxmlformats.org/drawingml/2006/table">
            <a:tbl>
              <a:tblPr/>
              <a:tblGrid>
                <a:gridCol w="1351250">
                  <a:extLst>
                    <a:ext uri="{9D8B030D-6E8A-4147-A177-3AD203B41FA5}">
                      <a16:colId xmlns:a16="http://schemas.microsoft.com/office/drawing/2014/main" val="3967579926"/>
                    </a:ext>
                  </a:extLst>
                </a:gridCol>
                <a:gridCol w="1762832">
                  <a:extLst>
                    <a:ext uri="{9D8B030D-6E8A-4147-A177-3AD203B41FA5}">
                      <a16:colId xmlns:a16="http://schemas.microsoft.com/office/drawing/2014/main" val="2545769153"/>
                    </a:ext>
                  </a:extLst>
                </a:gridCol>
                <a:gridCol w="1393238">
                  <a:extLst>
                    <a:ext uri="{9D8B030D-6E8A-4147-A177-3AD203B41FA5}">
                      <a16:colId xmlns:a16="http://schemas.microsoft.com/office/drawing/2014/main" val="4205383929"/>
                    </a:ext>
                  </a:extLst>
                </a:gridCol>
                <a:gridCol w="1976452">
                  <a:extLst>
                    <a:ext uri="{9D8B030D-6E8A-4147-A177-3AD203B41FA5}">
                      <a16:colId xmlns:a16="http://schemas.microsoft.com/office/drawing/2014/main" val="1197110794"/>
                    </a:ext>
                  </a:extLst>
                </a:gridCol>
                <a:gridCol w="1641645">
                  <a:extLst>
                    <a:ext uri="{9D8B030D-6E8A-4147-A177-3AD203B41FA5}">
                      <a16:colId xmlns:a16="http://schemas.microsoft.com/office/drawing/2014/main" val="3497091028"/>
                    </a:ext>
                  </a:extLst>
                </a:gridCol>
                <a:gridCol w="936026">
                  <a:extLst>
                    <a:ext uri="{9D8B030D-6E8A-4147-A177-3AD203B41FA5}">
                      <a16:colId xmlns:a16="http://schemas.microsoft.com/office/drawing/2014/main" val="1227725543"/>
                    </a:ext>
                  </a:extLst>
                </a:gridCol>
                <a:gridCol w="936026">
                  <a:extLst>
                    <a:ext uri="{9D8B030D-6E8A-4147-A177-3AD203B41FA5}">
                      <a16:colId xmlns:a16="http://schemas.microsoft.com/office/drawing/2014/main" val="385986264"/>
                    </a:ext>
                  </a:extLst>
                </a:gridCol>
                <a:gridCol w="939626">
                  <a:extLst>
                    <a:ext uri="{9D8B030D-6E8A-4147-A177-3AD203B41FA5}">
                      <a16:colId xmlns:a16="http://schemas.microsoft.com/office/drawing/2014/main" val="2990457629"/>
                    </a:ext>
                  </a:extLst>
                </a:gridCol>
              </a:tblGrid>
              <a:tr h="409575">
                <a:tc>
                  <a:txBody>
                    <a:bodyPr/>
                    <a:lstStyle/>
                    <a:p>
                      <a:pPr algn="l" fontAlgn="ctr"/>
                      <a:r>
                        <a:rPr lang="es-CO" sz="1050" b="1" i="0" u="none" strike="noStrike">
                          <a:solidFill>
                            <a:srgbClr val="FFFFFF"/>
                          </a:solidFill>
                          <a:effectLst/>
                          <a:latin typeface="Arial" panose="020B0604020202020204" pitchFamily="34" charset="0"/>
                        </a:rPr>
                        <a:t>POLITICA DE CALIDAD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Calibri" panose="020F0502020204030204" pitchFamily="34" charset="0"/>
                        </a:rPr>
                        <a:t>OBJETIVOS ESTRATÉGICO-CALIDAD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dirty="0">
                          <a:solidFill>
                            <a:srgbClr val="FFFFFF"/>
                          </a:solidFill>
                          <a:effectLst/>
                          <a:latin typeface="Calibri" panose="020F0502020204030204" pitchFamily="34" charset="0"/>
                        </a:rPr>
                        <a:t>PROCESO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Calibri" panose="020F0502020204030204" pitchFamily="34" charset="0"/>
                        </a:rPr>
                        <a:t>NOMBRE DEL INDICADOR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Calibri" panose="020F0502020204030204" pitchFamily="34" charset="0"/>
                        </a:rPr>
                        <a:t>INDICADOR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Calibri" panose="020F0502020204030204" pitchFamily="34" charset="0"/>
                        </a:rPr>
                        <a:t>META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Calibri" panose="020F0502020204030204" pitchFamily="34" charset="0"/>
                        </a:rPr>
                        <a:t>RESULTADO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Calibri" panose="020F0502020204030204" pitchFamily="34" charset="0"/>
                        </a:rPr>
                        <a:t>% CUMPLIMIENTO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576435175"/>
                  </a:ext>
                </a:extLst>
              </a:tr>
              <a:tr h="1028700">
                <a:tc rowSpan="4">
                  <a:txBody>
                    <a:bodyPr/>
                    <a:lstStyle/>
                    <a:p>
                      <a:pPr algn="ctr" fontAlgn="ctr"/>
                      <a:r>
                        <a:rPr lang="es-MX" sz="1100" b="0" i="0" u="none" strike="noStrike" dirty="0">
                          <a:effectLst/>
                          <a:latin typeface="Calibri" panose="020F0502020204030204" pitchFamily="34" charset="0"/>
                        </a:rPr>
                        <a:t>Se compromete a ejercer el Control Político a la Administración Municipal, estudiar y aprobar proyectos de acuerdo que promocionen el desarrollo económico, social y político del municipio y propiciar la participación ciudadana dentro del marco de la constitución y la ley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a:solidFill>
                            <a:srgbClr val="000000"/>
                          </a:solidFill>
                          <a:effectLst/>
                          <a:latin typeface="Calibri" panose="020F0502020204030204" pitchFamily="34" charset="0"/>
                        </a:rPr>
                        <a:t>Gestionar las iniciativas presentadas por las diferentes instancias permitidas por la ley (proyectos de acuerdo) con el fin de establecer un desarrollo productivo que busque el beneficio de la comunidad del Municipio.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Calibri" panose="020F0502020204030204" pitchFamily="34" charset="0"/>
                        </a:rPr>
                        <a:t>Gestión Proyectos de Acuerdo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050" b="0" i="0" u="none" strike="noStrike">
                          <a:solidFill>
                            <a:srgbClr val="000000"/>
                          </a:solidFill>
                          <a:effectLst/>
                          <a:latin typeface="Calibri" panose="020F0502020204030204" pitchFamily="34" charset="0"/>
                        </a:rPr>
                        <a:t>Gestión de Proyecto de Acuerdo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050" b="0" i="0" u="none" strike="noStrike">
                          <a:solidFill>
                            <a:srgbClr val="000000"/>
                          </a:solidFill>
                          <a:effectLst/>
                          <a:latin typeface="Calibri" panose="020F0502020204030204" pitchFamily="34" charset="0"/>
                        </a:rPr>
                        <a:t>(N° de proyectos de acuerdo con cumplimiento de requisitos / N° total de proyectos de acuerdo presentados)*100%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050" b="0"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050" b="0"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050" b="1" i="0" u="none" strike="noStrike">
                          <a:solidFill>
                            <a:srgbClr val="000000"/>
                          </a:solidFill>
                          <a:effectLst/>
                          <a:latin typeface="Calibri" panose="020F0502020204030204" pitchFamily="34" charset="0"/>
                        </a:rPr>
                        <a:t>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53256275"/>
                  </a:ext>
                </a:extLst>
              </a:tr>
              <a:tr h="1162050">
                <a:tc vMerge="1">
                  <a:txBody>
                    <a:bodyPr/>
                    <a:lstStyle/>
                    <a:p>
                      <a:endParaRPr lang="es-CO"/>
                    </a:p>
                  </a:txBody>
                  <a:tcPr/>
                </a:tc>
                <a:tc>
                  <a:txBody>
                    <a:bodyPr/>
                    <a:lstStyle/>
                    <a:p>
                      <a:pPr algn="ctr" rtl="0" fontAlgn="ctr"/>
                      <a:r>
                        <a:rPr lang="es-MX" sz="1050" b="0" i="0" u="none" strike="noStrike" dirty="0">
                          <a:solidFill>
                            <a:srgbClr val="000000"/>
                          </a:solidFill>
                          <a:effectLst/>
                          <a:latin typeface="Calibri" panose="020F0502020204030204" pitchFamily="34" charset="0"/>
                        </a:rPr>
                        <a:t>Ejercer vigilancia y Control Político de la administración municipal de las actuaciones y operaciones administrativas del ejecutivo sus secretarios de despacho y entes descentralizados de conformidad con la normatividad aplicable.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Calibri" panose="020F0502020204030204" pitchFamily="34" charset="0"/>
                        </a:rPr>
                        <a:t>Control Político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050" b="0" i="0" u="none" strike="noStrike">
                          <a:solidFill>
                            <a:srgbClr val="000000"/>
                          </a:solidFill>
                          <a:effectLst/>
                          <a:latin typeface="Calibri" panose="020F0502020204030204" pitchFamily="34" charset="0"/>
                        </a:rPr>
                        <a:t>Gestión Control político.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050" b="0" i="0" u="none" strike="noStrike">
                          <a:solidFill>
                            <a:srgbClr val="000000"/>
                          </a:solidFill>
                          <a:effectLst/>
                          <a:latin typeface="Calibri" panose="020F0502020204030204" pitchFamily="34" charset="0"/>
                        </a:rPr>
                        <a:t>(Número de Proposiciones de Control Políticos aprobadas / Numero de Control Políticos Realizados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050" b="0" i="0" u="none" strike="noStrike">
                          <a:solidFill>
                            <a:srgbClr val="000000"/>
                          </a:solidFill>
                          <a:effectLst/>
                          <a:latin typeface="Calibri" panose="020F0502020204030204" pitchFamily="34" charset="0"/>
                        </a:rPr>
                        <a:t>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05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050" b="1" i="0" u="none" strike="noStrike">
                          <a:solidFill>
                            <a:srgbClr val="000000"/>
                          </a:solidFill>
                          <a:effectLst/>
                          <a:latin typeface="Calibri" panose="020F0502020204030204" pitchFamily="34" charset="0"/>
                        </a:rPr>
                        <a:t>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649566147"/>
                  </a:ext>
                </a:extLst>
              </a:tr>
              <a:tr h="723900">
                <a:tc vMerge="1">
                  <a:txBody>
                    <a:bodyPr/>
                    <a:lstStyle/>
                    <a:p>
                      <a:endParaRPr lang="es-CO"/>
                    </a:p>
                  </a:txBody>
                  <a:tcPr/>
                </a:tc>
                <a:tc>
                  <a:txBody>
                    <a:bodyPr/>
                    <a:lstStyle/>
                    <a:p>
                      <a:pPr algn="ctr" rtl="0" fontAlgn="ctr"/>
                      <a:r>
                        <a:rPr lang="es-MX" sz="1050" b="0" i="0" u="none" strike="noStrike" dirty="0">
                          <a:solidFill>
                            <a:srgbClr val="000000"/>
                          </a:solidFill>
                          <a:effectLst/>
                          <a:latin typeface="Calibri" panose="020F0502020204030204" pitchFamily="34" charset="0"/>
                        </a:rPr>
                        <a:t>Establecer estrategias de promoción de la participación ciudadana en el cumplimiento de las funciones misionales del Concejo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ctr" rtl="0" fontAlgn="ctr"/>
                      <a:r>
                        <a:rPr lang="es-CO" sz="1050" b="0" i="0" u="none" strike="noStrike">
                          <a:solidFill>
                            <a:srgbClr val="000000"/>
                          </a:solidFill>
                          <a:effectLst/>
                          <a:latin typeface="Calibri" panose="020F0502020204030204" pitchFamily="34" charset="0"/>
                        </a:rPr>
                        <a:t>Gestión de Calidad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s-MX" sz="1050" b="0" i="0" u="none" strike="noStrike">
                          <a:solidFill>
                            <a:srgbClr val="000000"/>
                          </a:solidFill>
                          <a:effectLst/>
                          <a:latin typeface="Calibri" panose="020F0502020204030204" pitchFamily="34" charset="0"/>
                        </a:rPr>
                        <a:t>Percepción de la satisfacción de los clientes y usuarios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s-MX" sz="1050" b="0" i="0" u="none" strike="noStrike">
                          <a:solidFill>
                            <a:srgbClr val="000000"/>
                          </a:solidFill>
                          <a:effectLst/>
                          <a:latin typeface="Calibri" panose="020F0502020204030204" pitchFamily="34" charset="0"/>
                        </a:rPr>
                        <a:t>Promedio de la calificación resultados de la Encuesta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s-CO" sz="1050" b="0" i="0" u="none" strike="noStrike">
                          <a:solidFill>
                            <a:srgbClr val="000000"/>
                          </a:solidFill>
                          <a:effectLst/>
                          <a:latin typeface="Calibri" panose="020F0502020204030204" pitchFamily="34" charset="0"/>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s-CO" sz="1050" b="0" i="0" u="none" strike="noStrike">
                          <a:solidFill>
                            <a:srgbClr val="000000"/>
                          </a:solidFill>
                          <a:effectLst/>
                          <a:latin typeface="Calibri" panose="020F0502020204030204" pitchFamily="34" charset="0"/>
                        </a:rPr>
                        <a:t>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2">
                  <a:txBody>
                    <a:bodyPr/>
                    <a:lstStyle/>
                    <a:p>
                      <a:pPr algn="ctr" rtl="0" fontAlgn="ctr"/>
                      <a:r>
                        <a:rPr lang="es-CO" sz="1050" b="1" i="0" u="none" strike="noStrike">
                          <a:solidFill>
                            <a:srgbClr val="000000"/>
                          </a:solidFill>
                          <a:effectLst/>
                          <a:latin typeface="Calibri" panose="020F050202020403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2970412438"/>
                  </a:ext>
                </a:extLst>
              </a:tr>
              <a:tr h="904875">
                <a:tc vMerge="1">
                  <a:txBody>
                    <a:bodyPr/>
                    <a:lstStyle/>
                    <a:p>
                      <a:endParaRPr lang="es-CO"/>
                    </a:p>
                  </a:txBody>
                  <a:tcPr/>
                </a:tc>
                <a:tc>
                  <a:txBody>
                    <a:bodyPr/>
                    <a:lstStyle/>
                    <a:p>
                      <a:pPr algn="ctr" rtl="0" fontAlgn="ctr"/>
                      <a:r>
                        <a:rPr lang="es-MX" sz="1050" b="0" i="0" u="none" strike="noStrike" dirty="0">
                          <a:solidFill>
                            <a:srgbClr val="000000"/>
                          </a:solidFill>
                          <a:effectLst/>
                          <a:latin typeface="Calibri" panose="020F0502020204030204" pitchFamily="34" charset="0"/>
                        </a:rPr>
                        <a:t>Desarrollar y controlar productos y servicios que satisfagan las expectativas de nuestras partes interesadas y que conduzcan al logro de los objetivos institucionales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extLst>
                  <a:ext uri="{0D108BD9-81ED-4DB2-BD59-A6C34878D82A}">
                    <a16:rowId xmlns:a16="http://schemas.microsoft.com/office/drawing/2014/main" val="790069336"/>
                  </a:ext>
                </a:extLst>
              </a:tr>
            </a:tbl>
          </a:graphicData>
        </a:graphic>
      </p:graphicFrame>
    </p:spTree>
    <p:extLst>
      <p:ext uri="{BB962C8B-B14F-4D97-AF65-F5344CB8AC3E}">
        <p14:creationId xmlns:p14="http://schemas.microsoft.com/office/powerpoint/2010/main" val="1442781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F8717545-9BC6-FC9E-1B88-D8B445338253}"/>
              </a:ext>
            </a:extLst>
          </p:cNvPr>
          <p:cNvGraphicFramePr>
            <a:graphicFrameLocks noGrp="1"/>
          </p:cNvGraphicFramePr>
          <p:nvPr>
            <p:extLst>
              <p:ext uri="{D42A27DB-BD31-4B8C-83A1-F6EECF244321}">
                <p14:modId xmlns:p14="http://schemas.microsoft.com/office/powerpoint/2010/main" val="134820222"/>
              </p:ext>
            </p:extLst>
          </p:nvPr>
        </p:nvGraphicFramePr>
        <p:xfrm>
          <a:off x="299803" y="878352"/>
          <a:ext cx="11527434" cy="5578997"/>
        </p:xfrm>
        <a:graphic>
          <a:graphicData uri="http://schemas.openxmlformats.org/drawingml/2006/table">
            <a:tbl>
              <a:tblPr/>
              <a:tblGrid>
                <a:gridCol w="1199034">
                  <a:extLst>
                    <a:ext uri="{9D8B030D-6E8A-4147-A177-3AD203B41FA5}">
                      <a16:colId xmlns:a16="http://schemas.microsoft.com/office/drawing/2014/main" val="843308396"/>
                    </a:ext>
                  </a:extLst>
                </a:gridCol>
                <a:gridCol w="2083133">
                  <a:extLst>
                    <a:ext uri="{9D8B030D-6E8A-4147-A177-3AD203B41FA5}">
                      <a16:colId xmlns:a16="http://schemas.microsoft.com/office/drawing/2014/main" val="868299231"/>
                    </a:ext>
                  </a:extLst>
                </a:gridCol>
                <a:gridCol w="1468440">
                  <a:extLst>
                    <a:ext uri="{9D8B030D-6E8A-4147-A177-3AD203B41FA5}">
                      <a16:colId xmlns:a16="http://schemas.microsoft.com/office/drawing/2014/main" val="235064814"/>
                    </a:ext>
                  </a:extLst>
                </a:gridCol>
                <a:gridCol w="2083133">
                  <a:extLst>
                    <a:ext uri="{9D8B030D-6E8A-4147-A177-3AD203B41FA5}">
                      <a16:colId xmlns:a16="http://schemas.microsoft.com/office/drawing/2014/main" val="2708154044"/>
                    </a:ext>
                  </a:extLst>
                </a:gridCol>
                <a:gridCol w="1730255">
                  <a:extLst>
                    <a:ext uri="{9D8B030D-6E8A-4147-A177-3AD203B41FA5}">
                      <a16:colId xmlns:a16="http://schemas.microsoft.com/office/drawing/2014/main" val="500228923"/>
                    </a:ext>
                  </a:extLst>
                </a:gridCol>
                <a:gridCol w="986548">
                  <a:extLst>
                    <a:ext uri="{9D8B030D-6E8A-4147-A177-3AD203B41FA5}">
                      <a16:colId xmlns:a16="http://schemas.microsoft.com/office/drawing/2014/main" val="3200285117"/>
                    </a:ext>
                  </a:extLst>
                </a:gridCol>
                <a:gridCol w="986548">
                  <a:extLst>
                    <a:ext uri="{9D8B030D-6E8A-4147-A177-3AD203B41FA5}">
                      <a16:colId xmlns:a16="http://schemas.microsoft.com/office/drawing/2014/main" val="4254299404"/>
                    </a:ext>
                  </a:extLst>
                </a:gridCol>
                <a:gridCol w="990343">
                  <a:extLst>
                    <a:ext uri="{9D8B030D-6E8A-4147-A177-3AD203B41FA5}">
                      <a16:colId xmlns:a16="http://schemas.microsoft.com/office/drawing/2014/main" val="382363304"/>
                    </a:ext>
                  </a:extLst>
                </a:gridCol>
              </a:tblGrid>
              <a:tr h="388942">
                <a:tc>
                  <a:txBody>
                    <a:bodyPr/>
                    <a:lstStyle/>
                    <a:p>
                      <a:pPr algn="l" fontAlgn="ctr"/>
                      <a:r>
                        <a:rPr lang="es-CO" sz="1050" b="1" i="0" u="none" strike="noStrike" dirty="0">
                          <a:solidFill>
                            <a:srgbClr val="FFFFFF"/>
                          </a:solidFill>
                          <a:effectLst/>
                          <a:latin typeface="+mn-lt"/>
                        </a:rPr>
                        <a:t>POLITICA DE CALIDAD</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dirty="0">
                          <a:solidFill>
                            <a:srgbClr val="FFFFFF"/>
                          </a:solidFill>
                          <a:effectLst/>
                          <a:latin typeface="+mn-lt"/>
                        </a:rPr>
                        <a:t>OBJETIVOS ESTRATÉGICO-CALIDAD</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mn-lt"/>
                        </a:rPr>
                        <a:t>PROCESO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mn-lt"/>
                        </a:rPr>
                        <a:t>NOMBRE DEL INDICADOR</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mn-lt"/>
                        </a:rPr>
                        <a:t>INDICADOR</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mn-lt"/>
                        </a:rPr>
                        <a:t>META</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mn-lt"/>
                        </a:rPr>
                        <a:t>RESULTADO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rtl="0" fontAlgn="ctr"/>
                      <a:r>
                        <a:rPr lang="es-CO" sz="1050" b="1" i="0" u="none" strike="noStrike">
                          <a:solidFill>
                            <a:srgbClr val="FFFFFF"/>
                          </a:solidFill>
                          <a:effectLst/>
                          <a:latin typeface="+mn-lt"/>
                        </a:rPr>
                        <a:t>% CUMPLIMIENTO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545690352"/>
                  </a:ext>
                </a:extLst>
              </a:tr>
              <a:tr h="596982">
                <a:tc rowSpan="8">
                  <a:txBody>
                    <a:bodyPr/>
                    <a:lstStyle/>
                    <a:p>
                      <a:pPr algn="ctr" fontAlgn="ctr"/>
                      <a:r>
                        <a:rPr lang="es-MX" sz="1050" b="0" i="0" u="none" strike="noStrike" dirty="0">
                          <a:effectLst/>
                          <a:latin typeface="+mn-lt"/>
                        </a:rPr>
                        <a:t>Así mismo, prestará un servicio contando con procesos de calidad, funcionarios comprometidos y capacitados y un proceso de evaluación, seguimiento y control de la de gestión y la administración del riesgo, aplicando los principios de eficiencia, eficacia y efectividad en pro a la satisfacción de las necesidades de los Ciudadanos.</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ctr" rtl="0" fontAlgn="ctr"/>
                      <a:r>
                        <a:rPr lang="es-MX" sz="1050" b="0" i="0" u="none" strike="noStrike" dirty="0">
                          <a:solidFill>
                            <a:srgbClr val="000000"/>
                          </a:solidFill>
                          <a:effectLst/>
                          <a:latin typeface="+mn-lt"/>
                        </a:rPr>
                        <a:t>Asegurar la disponibilidad de recursos humanos, físicos, tecnológicos, financieros e informativos necesarios para apoyar la ejecución de los procesos y la eficacia del Sistema de Gestión.</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Gestión TI</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050" b="0" i="0" u="none" strike="noStrike">
                          <a:solidFill>
                            <a:srgbClr val="000000"/>
                          </a:solidFill>
                          <a:effectLst/>
                          <a:latin typeface="+mn-lt"/>
                        </a:rPr>
                        <a:t>Gestión de Incidencias TI</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pt-BR" sz="1050" b="0" i="0" u="none" strike="noStrike">
                          <a:solidFill>
                            <a:srgbClr val="000000"/>
                          </a:solidFill>
                          <a:effectLst/>
                          <a:latin typeface="+mn-lt"/>
                        </a:rPr>
                        <a:t>(N° de incidencias gestionadas oportunamente / N° Total de Incidencias reportadas TI)*100%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050" b="0" i="0" u="none" strike="noStrike">
                          <a:solidFill>
                            <a:srgbClr val="000000"/>
                          </a:solidFill>
                          <a:effectLst/>
                          <a:latin typeface="+mn-lt"/>
                        </a:rPr>
                        <a:t>92%</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050" b="0" i="0" u="none" strike="noStrike">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050" b="1" i="0" u="none" strike="noStrike" dirty="0">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265885497"/>
                  </a:ext>
                </a:extLst>
              </a:tr>
              <a:tr h="560801">
                <a:tc vMerge="1">
                  <a:txBody>
                    <a:bodyPr/>
                    <a:lstStyle/>
                    <a:p>
                      <a:endParaRPr lang="es-CO"/>
                    </a:p>
                  </a:txBody>
                  <a:tcPr/>
                </a:tc>
                <a:tc vMerge="1">
                  <a:txBody>
                    <a:bodyPr/>
                    <a:lstStyle/>
                    <a:p>
                      <a:endParaRPr lang="es-CO"/>
                    </a:p>
                  </a:txBody>
                  <a:tcPr/>
                </a:tc>
                <a:tc>
                  <a:txBody>
                    <a:bodyPr/>
                    <a:lstStyle/>
                    <a:p>
                      <a:pPr algn="ctr" rtl="0" fontAlgn="ctr"/>
                      <a:r>
                        <a:rPr lang="es-CO" sz="1050" b="0" i="0" u="none" strike="noStrike" dirty="0">
                          <a:solidFill>
                            <a:srgbClr val="000000"/>
                          </a:solidFill>
                          <a:effectLst/>
                          <a:latin typeface="+mn-lt"/>
                        </a:rPr>
                        <a:t>Gestión ti</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dirty="0">
                          <a:solidFill>
                            <a:srgbClr val="000000"/>
                          </a:solidFill>
                          <a:effectLst/>
                          <a:latin typeface="+mn-lt"/>
                        </a:rPr>
                        <a:t>Cumplimiento de Plan de Mantenimiento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(N° de actividades ejecutadas en el periodo / N° Total de actividades)*100%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95%</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67%</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1" i="0" u="none" strike="noStrike" dirty="0">
                          <a:effectLst/>
                          <a:latin typeface="+mn-lt"/>
                        </a:rPr>
                        <a:t>70%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254644517"/>
                  </a:ext>
                </a:extLst>
              </a:tr>
              <a:tr h="569846">
                <a:tc vMerge="1">
                  <a:txBody>
                    <a:bodyPr/>
                    <a:lstStyle/>
                    <a:p>
                      <a:endParaRPr lang="es-CO"/>
                    </a:p>
                  </a:txBody>
                  <a:tcPr/>
                </a:tc>
                <a:tc vMerge="1">
                  <a:txBody>
                    <a:bodyPr/>
                    <a:lstStyle/>
                    <a:p>
                      <a:endParaRPr lang="es-CO"/>
                    </a:p>
                  </a:txBody>
                  <a:tcPr/>
                </a:tc>
                <a:tc>
                  <a:txBody>
                    <a:bodyPr/>
                    <a:lstStyle/>
                    <a:p>
                      <a:pPr algn="ctr" rtl="0" fontAlgn="ctr"/>
                      <a:r>
                        <a:rPr lang="es-CO" sz="1050" b="0" i="0" u="none" strike="noStrike" dirty="0">
                          <a:solidFill>
                            <a:srgbClr val="000000"/>
                          </a:solidFill>
                          <a:effectLst/>
                          <a:latin typeface="+mn-lt"/>
                        </a:rPr>
                        <a:t>Gestión Administrativa y Financiera</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mn-lt"/>
                        </a:rPr>
                        <a:t>Ejecución Presupuestal</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a:solidFill>
                            <a:srgbClr val="000000"/>
                          </a:solidFill>
                          <a:effectLst/>
                          <a:latin typeface="+mn-lt"/>
                        </a:rPr>
                        <a:t>Presupuesto ejecutado / Presupuesto aprobado) X 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95%</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67%</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1" i="0" u="none" strike="noStrike">
                          <a:effectLst/>
                          <a:latin typeface="+mn-lt"/>
                        </a:rPr>
                        <a:t>71%</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632800975"/>
                  </a:ext>
                </a:extLst>
              </a:tr>
              <a:tr h="443214">
                <a:tc vMerge="1">
                  <a:txBody>
                    <a:bodyPr/>
                    <a:lstStyle/>
                    <a:p>
                      <a:endParaRPr lang="es-CO"/>
                    </a:p>
                  </a:txBody>
                  <a:tcPr/>
                </a:tc>
                <a:tc vMerge="1">
                  <a:txBody>
                    <a:bodyPr/>
                    <a:lstStyle/>
                    <a:p>
                      <a:endParaRPr lang="es-CO"/>
                    </a:p>
                  </a:txBody>
                  <a:tcPr/>
                </a:tc>
                <a:tc>
                  <a:txBody>
                    <a:bodyPr/>
                    <a:lstStyle/>
                    <a:p>
                      <a:pPr algn="ctr" rtl="0" fontAlgn="ctr"/>
                      <a:r>
                        <a:rPr lang="es-CO" sz="1050" b="0" i="0" u="none" strike="noStrike" dirty="0">
                          <a:solidFill>
                            <a:srgbClr val="000000"/>
                          </a:solidFill>
                          <a:effectLst/>
                          <a:latin typeface="+mn-lt"/>
                        </a:rPr>
                        <a:t>Gestión del Talento Humano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dirty="0">
                          <a:solidFill>
                            <a:srgbClr val="000000"/>
                          </a:solidFill>
                          <a:effectLst/>
                          <a:latin typeface="+mn-lt"/>
                        </a:rPr>
                        <a:t>Cumplimiento del Plan de Capacitaciones</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a:solidFill>
                            <a:srgbClr val="000000"/>
                          </a:solidFill>
                          <a:effectLst/>
                          <a:latin typeface="+mn-lt"/>
                        </a:rPr>
                        <a:t># (Capacitaciones Ejecutadas/ Capacitaciones planificadas x 100 )</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1" i="0" u="none" strike="noStrike" dirty="0">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419414093"/>
                  </a:ext>
                </a:extLst>
              </a:tr>
              <a:tr h="1139693">
                <a:tc vMerge="1">
                  <a:txBody>
                    <a:bodyPr/>
                    <a:lstStyle/>
                    <a:p>
                      <a:endParaRPr lang="es-CO"/>
                    </a:p>
                  </a:txBody>
                  <a:tcPr/>
                </a:tc>
                <a:tc rowSpan="2">
                  <a:txBody>
                    <a:bodyPr/>
                    <a:lstStyle/>
                    <a:p>
                      <a:pPr algn="ctr" rtl="0" fontAlgn="ctr"/>
                      <a:r>
                        <a:rPr lang="es-MX" sz="1050" b="0" i="0" u="none" strike="noStrike" dirty="0">
                          <a:solidFill>
                            <a:srgbClr val="000000"/>
                          </a:solidFill>
                          <a:effectLst/>
                          <a:latin typeface="+mn-lt"/>
                        </a:rPr>
                        <a:t>Fortalecer el desempeño del Sistema de Gestión de Calidad, para la mejora continua, por medio del establecimiento, implementación y seguimiento de Políticas, Planes y Programas.</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mn-lt"/>
                        </a:rPr>
                        <a:t>Gestión Calidad</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mn-lt"/>
                        </a:rPr>
                        <a:t>Seguimiento a Acciones Correctivas.</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dirty="0">
                          <a:solidFill>
                            <a:srgbClr val="000000"/>
                          </a:solidFill>
                          <a:effectLst/>
                          <a:latin typeface="+mn-lt"/>
                        </a:rPr>
                        <a:t>(</a:t>
                      </a:r>
                      <a:r>
                        <a:rPr lang="es-MX" sz="1050" b="0" i="0" u="none" strike="noStrike" dirty="0" err="1">
                          <a:solidFill>
                            <a:srgbClr val="000000"/>
                          </a:solidFill>
                          <a:effectLst/>
                          <a:latin typeface="+mn-lt"/>
                        </a:rPr>
                        <a:t>Nº</a:t>
                      </a:r>
                      <a:r>
                        <a:rPr lang="es-MX" sz="1050" b="0" i="0" u="none" strike="noStrike" dirty="0">
                          <a:solidFill>
                            <a:srgbClr val="000000"/>
                          </a:solidFill>
                          <a:effectLst/>
                          <a:latin typeface="+mn-lt"/>
                        </a:rPr>
                        <a:t> de planes de mejoramiento cerradas a la fecha /</a:t>
                      </a:r>
                      <a:r>
                        <a:rPr lang="es-MX" sz="1050" b="0" i="0" u="none" strike="noStrike" dirty="0" err="1">
                          <a:solidFill>
                            <a:srgbClr val="000000"/>
                          </a:solidFill>
                          <a:effectLst/>
                          <a:latin typeface="+mn-lt"/>
                        </a:rPr>
                        <a:t>Nº</a:t>
                      </a:r>
                      <a:r>
                        <a:rPr lang="es-MX" sz="1050" b="0" i="0" u="none" strike="noStrike" dirty="0">
                          <a:solidFill>
                            <a:srgbClr val="000000"/>
                          </a:solidFill>
                          <a:effectLst/>
                          <a:latin typeface="+mn-lt"/>
                        </a:rPr>
                        <a:t> de planes de mejoramiento previsto cerrar en el periodo) *100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90%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1" i="0" u="none" strike="noStrike" dirty="0">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349481467"/>
                  </a:ext>
                </a:extLst>
              </a:tr>
              <a:tr h="356380">
                <a:tc vMerge="1">
                  <a:txBody>
                    <a:bodyPr/>
                    <a:lstStyle/>
                    <a:p>
                      <a:endParaRPr lang="es-CO"/>
                    </a:p>
                  </a:txBody>
                  <a:tcPr/>
                </a:tc>
                <a:tc vMerge="1">
                  <a:txBody>
                    <a:bodyPr/>
                    <a:lstStyle/>
                    <a:p>
                      <a:endParaRPr lang="es-CO"/>
                    </a:p>
                  </a:txBody>
                  <a:tcPr/>
                </a:tc>
                <a:tc>
                  <a:txBody>
                    <a:bodyPr/>
                    <a:lstStyle/>
                    <a:p>
                      <a:pPr algn="ctr" rtl="0" fontAlgn="ctr"/>
                      <a:r>
                        <a:rPr lang="es-CO" sz="1050" b="0" i="0" u="none" strike="noStrike">
                          <a:solidFill>
                            <a:srgbClr val="000000"/>
                          </a:solidFill>
                          <a:effectLst/>
                          <a:latin typeface="+mn-lt"/>
                        </a:rPr>
                        <a:t>Direccionamiento Estratégico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a:solidFill>
                            <a:srgbClr val="000000"/>
                          </a:solidFill>
                          <a:effectLst/>
                          <a:latin typeface="+mn-lt"/>
                        </a:rPr>
                        <a:t>% de cumplimiento de las metas definidas en el plan de acción del Concejo Municipal de Chía</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dirty="0">
                          <a:solidFill>
                            <a:srgbClr val="000000"/>
                          </a:solidFill>
                          <a:effectLst/>
                          <a:latin typeface="+mn-lt"/>
                        </a:rPr>
                        <a:t>Promedio del Cumplimiento del Plan de Acción</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mn-lt"/>
                        </a:rPr>
                        <a:t>90%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mn-lt"/>
                        </a:rPr>
                        <a:t>91,7</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1" i="0" u="none" strike="noStrike" dirty="0">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377869831"/>
                  </a:ext>
                </a:extLst>
              </a:tr>
              <a:tr h="587937">
                <a:tc vMerge="1">
                  <a:txBody>
                    <a:bodyPr/>
                    <a:lstStyle/>
                    <a:p>
                      <a:endParaRPr lang="es-CO"/>
                    </a:p>
                  </a:txBody>
                  <a:tcPr/>
                </a:tc>
                <a:tc>
                  <a:txBody>
                    <a:bodyPr/>
                    <a:lstStyle/>
                    <a:p>
                      <a:pPr algn="ctr" rtl="0" fontAlgn="ctr"/>
                      <a:r>
                        <a:rPr lang="es-MX" sz="1050" b="0" i="0" u="none" strike="noStrike">
                          <a:solidFill>
                            <a:srgbClr val="000000"/>
                          </a:solidFill>
                          <a:effectLst/>
                          <a:latin typeface="+mn-lt"/>
                        </a:rPr>
                        <a:t>Asegurar la custodia, organización y disponibilidad de la documentación producida por la Entidad, mediante el uso de los instrumentos archivísticos establecidos.</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Gestión Documental</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Cumplimiento del PGD</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a:solidFill>
                            <a:srgbClr val="000000"/>
                          </a:solidFill>
                          <a:effectLst/>
                          <a:latin typeface="+mn-lt"/>
                        </a:rPr>
                        <a:t>(# actividades ejecutadas en el periodo/ # actividades programadas en el periodo ) *100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mn-lt"/>
                        </a:rPr>
                        <a:t>95%</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dirty="0">
                          <a:solidFill>
                            <a:srgbClr val="000000"/>
                          </a:solidFill>
                          <a:effectLst/>
                          <a:latin typeface="+mn-lt"/>
                        </a:rPr>
                        <a:t>100,00%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1" i="0" u="none" strike="noStrike" dirty="0">
                          <a:solidFill>
                            <a:srgbClr val="000000"/>
                          </a:solidFill>
                          <a:effectLst/>
                          <a:latin typeface="+mn-lt"/>
                        </a:rPr>
                        <a:t>100%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73656169"/>
                  </a:ext>
                </a:extLst>
              </a:tr>
              <a:tr h="356380">
                <a:tc vMerge="1">
                  <a:txBody>
                    <a:bodyPr/>
                    <a:lstStyle/>
                    <a:p>
                      <a:endParaRPr lang="es-CO"/>
                    </a:p>
                  </a:txBody>
                  <a:tcPr/>
                </a:tc>
                <a:tc>
                  <a:txBody>
                    <a:bodyPr/>
                    <a:lstStyle/>
                    <a:p>
                      <a:pPr algn="ctr" rtl="0" fontAlgn="ctr"/>
                      <a:r>
                        <a:rPr lang="es-MX" sz="1050" b="0" i="0" u="none" strike="noStrike">
                          <a:solidFill>
                            <a:srgbClr val="000000"/>
                          </a:solidFill>
                          <a:effectLst/>
                          <a:latin typeface="+mn-lt"/>
                        </a:rPr>
                        <a:t>Fortalecer la gestión de los riesgos definiendo e implementando mecanismos de control efectivos</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Evaluación y Mejora</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Índice de Desempeño Institucional del Sistema de Control Interno -FURAG</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1050" b="0" i="0" u="none" strike="noStrike">
                          <a:solidFill>
                            <a:srgbClr val="000000"/>
                          </a:solidFill>
                          <a:effectLst/>
                          <a:latin typeface="+mn-lt"/>
                        </a:rPr>
                        <a:t>Índice de Desempeño Institucional del Sistema de Control interno</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dirty="0">
                          <a:solidFill>
                            <a:srgbClr val="000000"/>
                          </a:solidFill>
                          <a:effectLst/>
                          <a:latin typeface="+mn-lt"/>
                        </a:rPr>
                        <a:t>7</a:t>
                      </a:r>
                      <a:r>
                        <a:rPr lang="es-CO" sz="1050" b="0" i="0" u="none" strike="noStrike" dirty="0">
                          <a:solidFill>
                            <a:srgbClr val="000000"/>
                          </a:solidFill>
                          <a:effectLst/>
                          <a:latin typeface="+mn-lt"/>
                        </a:rPr>
                        <a:t>0</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0" i="0" u="none" strike="noStrike" dirty="0">
                          <a:solidFill>
                            <a:srgbClr val="000000"/>
                          </a:solidFill>
                          <a:effectLst/>
                          <a:latin typeface="+mn-lt"/>
                        </a:rPr>
                        <a:t>6</a:t>
                      </a:r>
                      <a:r>
                        <a:rPr lang="es-CO" sz="1050" b="0" i="0" u="none" strike="noStrike" dirty="0">
                          <a:solidFill>
                            <a:srgbClr val="000000"/>
                          </a:solidFill>
                          <a:effectLst/>
                          <a:latin typeface="+mn-lt"/>
                        </a:rPr>
                        <a:t>4,8</a:t>
                      </a: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1050" b="1" i="0" u="none" strike="noStrike" dirty="0">
                          <a:solidFill>
                            <a:srgbClr val="000000"/>
                          </a:solidFill>
                          <a:effectLst/>
                          <a:latin typeface="+mn-lt"/>
                        </a:rPr>
                        <a:t>92%</a:t>
                      </a:r>
                      <a:endParaRPr lang="es-CO" sz="1050" b="1" i="0" u="none" strike="noStrike" dirty="0">
                        <a:solidFill>
                          <a:srgbClr val="000000"/>
                        </a:solidFill>
                        <a:effectLst/>
                        <a:latin typeface="+mn-lt"/>
                      </a:endParaRPr>
                    </a:p>
                  </a:txBody>
                  <a:tcPr marL="7871" marR="7871" marT="78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20754476"/>
                  </a:ext>
                </a:extLst>
              </a:tr>
            </a:tbl>
          </a:graphicData>
        </a:graphic>
      </p:graphicFrame>
    </p:spTree>
    <p:extLst>
      <p:ext uri="{BB962C8B-B14F-4D97-AF65-F5344CB8AC3E}">
        <p14:creationId xmlns:p14="http://schemas.microsoft.com/office/powerpoint/2010/main" val="3924465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A59E9F3-40D7-6446-F218-DF14E71F4162}"/>
              </a:ext>
            </a:extLst>
          </p:cNvPr>
          <p:cNvSpPr txBox="1"/>
          <p:nvPr/>
        </p:nvSpPr>
        <p:spPr>
          <a:xfrm>
            <a:off x="7824865" y="1848576"/>
            <a:ext cx="2428407" cy="707886"/>
          </a:xfrm>
          <a:prstGeom prst="rect">
            <a:avLst/>
          </a:prstGeom>
          <a:noFill/>
        </p:spPr>
        <p:txBody>
          <a:bodyPr wrap="square" rtlCol="0">
            <a:spAutoFit/>
          </a:bodyPr>
          <a:lstStyle/>
          <a:p>
            <a:r>
              <a:rPr lang="es-CO" sz="4000" dirty="0">
                <a:solidFill>
                  <a:schemeClr val="accent5"/>
                </a:solidFill>
                <a:latin typeface="Arial Black" panose="020B0A04020102020204" pitchFamily="34" charset="0"/>
              </a:rPr>
              <a:t>92,02%</a:t>
            </a:r>
          </a:p>
        </p:txBody>
      </p:sp>
      <p:sp>
        <p:nvSpPr>
          <p:cNvPr id="3" name="CuadroTexto 2">
            <a:extLst>
              <a:ext uri="{FF2B5EF4-FFF2-40B4-BE49-F238E27FC236}">
                <a16:creationId xmlns:a16="http://schemas.microsoft.com/office/drawing/2014/main" id="{D5631E12-8DC0-6D0C-EABD-9F5876B5E035}"/>
              </a:ext>
            </a:extLst>
          </p:cNvPr>
          <p:cNvSpPr txBox="1"/>
          <p:nvPr/>
        </p:nvSpPr>
        <p:spPr>
          <a:xfrm>
            <a:off x="769496" y="1848576"/>
            <a:ext cx="6385810" cy="830997"/>
          </a:xfrm>
          <a:prstGeom prst="rect">
            <a:avLst/>
          </a:prstGeom>
          <a:noFill/>
        </p:spPr>
        <p:txBody>
          <a:bodyPr wrap="square" rtlCol="0">
            <a:spAutoFit/>
          </a:bodyPr>
          <a:lstStyle/>
          <a:p>
            <a:r>
              <a:rPr lang="es-CO" sz="2800" b="1" dirty="0"/>
              <a:t>Cumplimiento Objetivos de Calidad 2022</a:t>
            </a:r>
          </a:p>
          <a:p>
            <a:r>
              <a:rPr lang="es-CO" b="1" i="1" dirty="0"/>
              <a:t>Corte 30-11-2022 </a:t>
            </a:r>
          </a:p>
        </p:txBody>
      </p:sp>
      <p:sp>
        <p:nvSpPr>
          <p:cNvPr id="4" name="CuadroTexto 3">
            <a:extLst>
              <a:ext uri="{FF2B5EF4-FFF2-40B4-BE49-F238E27FC236}">
                <a16:creationId xmlns:a16="http://schemas.microsoft.com/office/drawing/2014/main" id="{AAB0FB27-7A27-F9C2-CD95-7A1DF76A3626}"/>
              </a:ext>
            </a:extLst>
          </p:cNvPr>
          <p:cNvSpPr txBox="1"/>
          <p:nvPr/>
        </p:nvSpPr>
        <p:spPr>
          <a:xfrm>
            <a:off x="769496" y="3013501"/>
            <a:ext cx="6385810" cy="830997"/>
          </a:xfrm>
          <a:prstGeom prst="rect">
            <a:avLst/>
          </a:prstGeom>
          <a:noFill/>
        </p:spPr>
        <p:txBody>
          <a:bodyPr wrap="square" rtlCol="0">
            <a:spAutoFit/>
          </a:bodyPr>
          <a:lstStyle/>
          <a:p>
            <a:r>
              <a:rPr lang="es-CO" sz="2800" b="1" dirty="0"/>
              <a:t>Cumplimiento Objetivos de Calidad 2021</a:t>
            </a:r>
          </a:p>
          <a:p>
            <a:r>
              <a:rPr lang="es-CO" b="1" i="1" dirty="0"/>
              <a:t>Corte 15-11-2021</a:t>
            </a:r>
          </a:p>
        </p:txBody>
      </p:sp>
      <p:sp>
        <p:nvSpPr>
          <p:cNvPr id="6" name="CuadroTexto 5">
            <a:extLst>
              <a:ext uri="{FF2B5EF4-FFF2-40B4-BE49-F238E27FC236}">
                <a16:creationId xmlns:a16="http://schemas.microsoft.com/office/drawing/2014/main" id="{A29983DD-8F46-1E28-80A8-39F5D46A2588}"/>
              </a:ext>
            </a:extLst>
          </p:cNvPr>
          <p:cNvSpPr txBox="1"/>
          <p:nvPr/>
        </p:nvSpPr>
        <p:spPr>
          <a:xfrm>
            <a:off x="8424471" y="3010313"/>
            <a:ext cx="2428407" cy="707886"/>
          </a:xfrm>
          <a:prstGeom prst="rect">
            <a:avLst/>
          </a:prstGeom>
          <a:noFill/>
        </p:spPr>
        <p:txBody>
          <a:bodyPr wrap="square" rtlCol="0">
            <a:spAutoFit/>
          </a:bodyPr>
          <a:lstStyle/>
          <a:p>
            <a:r>
              <a:rPr lang="es-CO" sz="4000" dirty="0">
                <a:solidFill>
                  <a:schemeClr val="accent5"/>
                </a:solidFill>
                <a:latin typeface="Arial Black" panose="020B0A04020102020204" pitchFamily="34" charset="0"/>
              </a:rPr>
              <a:t>90%</a:t>
            </a:r>
          </a:p>
        </p:txBody>
      </p:sp>
      <p:cxnSp>
        <p:nvCxnSpPr>
          <p:cNvPr id="8" name="Conector recto de flecha 7">
            <a:extLst>
              <a:ext uri="{FF2B5EF4-FFF2-40B4-BE49-F238E27FC236}">
                <a16:creationId xmlns:a16="http://schemas.microsoft.com/office/drawing/2014/main" id="{64465ACE-1AAB-233A-9FA7-C838515EAB83}"/>
              </a:ext>
            </a:extLst>
          </p:cNvPr>
          <p:cNvCxnSpPr>
            <a:cxnSpLocks/>
          </p:cNvCxnSpPr>
          <p:nvPr/>
        </p:nvCxnSpPr>
        <p:spPr>
          <a:xfrm flipV="1">
            <a:off x="10253272" y="2139427"/>
            <a:ext cx="0" cy="98477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4ECB8D86-2EE6-4BA4-F739-401EB4FEEC43}"/>
              </a:ext>
            </a:extLst>
          </p:cNvPr>
          <p:cNvSpPr txBox="1"/>
          <p:nvPr/>
        </p:nvSpPr>
        <p:spPr>
          <a:xfrm>
            <a:off x="10328223" y="2444224"/>
            <a:ext cx="2428407" cy="707886"/>
          </a:xfrm>
          <a:prstGeom prst="rect">
            <a:avLst/>
          </a:prstGeom>
          <a:noFill/>
        </p:spPr>
        <p:txBody>
          <a:bodyPr wrap="square" rtlCol="0">
            <a:spAutoFit/>
          </a:bodyPr>
          <a:lstStyle/>
          <a:p>
            <a:r>
              <a:rPr lang="es-CO" sz="4000" dirty="0">
                <a:solidFill>
                  <a:schemeClr val="accent5"/>
                </a:solidFill>
                <a:latin typeface="Arial Black" panose="020B0A04020102020204" pitchFamily="34" charset="0"/>
              </a:rPr>
              <a:t>2%</a:t>
            </a:r>
          </a:p>
        </p:txBody>
      </p:sp>
    </p:spTree>
    <p:extLst>
      <p:ext uri="{BB962C8B-B14F-4D97-AF65-F5344CB8AC3E}">
        <p14:creationId xmlns:p14="http://schemas.microsoft.com/office/powerpoint/2010/main" val="1595467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92EED6-F7E4-488A-84F0-0C26B1B10CC4}"/>
              </a:ext>
            </a:extLst>
          </p:cNvPr>
          <p:cNvSpPr txBox="1"/>
          <p:nvPr/>
        </p:nvSpPr>
        <p:spPr>
          <a:xfrm>
            <a:off x="326265" y="945113"/>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3" name="CuadroTexto 2">
            <a:extLst>
              <a:ext uri="{FF2B5EF4-FFF2-40B4-BE49-F238E27FC236}">
                <a16:creationId xmlns:a16="http://schemas.microsoft.com/office/drawing/2014/main" id="{28122757-E07B-F39A-80B1-347BF69D6F79}"/>
              </a:ext>
            </a:extLst>
          </p:cNvPr>
          <p:cNvSpPr txBox="1"/>
          <p:nvPr/>
        </p:nvSpPr>
        <p:spPr>
          <a:xfrm>
            <a:off x="910796" y="1499111"/>
            <a:ext cx="10852878" cy="4877104"/>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600"/>
              </a:spcAft>
              <a:buClrTx/>
              <a:buSzTx/>
              <a:tabLst/>
              <a:defRPr/>
            </a:pPr>
            <a:r>
              <a:rPr kumimoji="0" lang="es-CO"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1. Con relación al Plan de Acción es importante que para la vigencia 2022 se revise la articulación del Plan de Acción con los demás planes establecidos en el Decreto 612 de 2018.</a:t>
            </a:r>
          </a:p>
          <a:p>
            <a:pPr marL="864000" lvl="2"/>
            <a:r>
              <a:rPr lang="es-MX" sz="1400" b="0" i="0" dirty="0">
                <a:solidFill>
                  <a:srgbClr val="333333"/>
                </a:solidFill>
                <a:effectLst/>
                <a:latin typeface="Arial" panose="020B0604020202020204" pitchFamily="34" charset="0"/>
                <a:cs typeface="Arial" panose="020B0604020202020204" pitchFamily="34" charset="0"/>
              </a:rPr>
              <a:t>1. Plan Institucional de Archivos de la Entidad ­PINAR</a:t>
            </a:r>
          </a:p>
          <a:p>
            <a:pPr marL="864000" lvl="2"/>
            <a:r>
              <a:rPr lang="es-MX" sz="1400" b="0" i="0" dirty="0">
                <a:solidFill>
                  <a:srgbClr val="333333"/>
                </a:solidFill>
                <a:effectLst/>
                <a:latin typeface="Arial" panose="020B0604020202020204" pitchFamily="34" charset="0"/>
                <a:cs typeface="Arial" panose="020B0604020202020204" pitchFamily="34" charset="0"/>
              </a:rPr>
              <a:t>2. Plan Anual de Adquisiciones</a:t>
            </a:r>
          </a:p>
          <a:p>
            <a:pPr marL="864000" lvl="2"/>
            <a:r>
              <a:rPr lang="es-MX" sz="1400" b="0" i="0" dirty="0">
                <a:solidFill>
                  <a:srgbClr val="333333"/>
                </a:solidFill>
                <a:effectLst/>
                <a:latin typeface="Arial" panose="020B0604020202020204" pitchFamily="34" charset="0"/>
                <a:cs typeface="Arial" panose="020B0604020202020204" pitchFamily="34" charset="0"/>
              </a:rPr>
              <a:t>3. Plan Anual de Vacantes</a:t>
            </a:r>
          </a:p>
          <a:p>
            <a:pPr marL="864000" lvl="2"/>
            <a:r>
              <a:rPr lang="es-MX" sz="1400" b="0" i="0" dirty="0">
                <a:solidFill>
                  <a:srgbClr val="333333"/>
                </a:solidFill>
                <a:effectLst/>
                <a:latin typeface="Arial" panose="020B0604020202020204" pitchFamily="34" charset="0"/>
                <a:cs typeface="Arial" panose="020B0604020202020204" pitchFamily="34" charset="0"/>
              </a:rPr>
              <a:t>4. Plan de Previsión de Recursos Humanos</a:t>
            </a:r>
          </a:p>
          <a:p>
            <a:pPr marL="864000" lvl="2"/>
            <a:r>
              <a:rPr lang="es-MX" sz="1400" b="0" i="0" dirty="0">
                <a:solidFill>
                  <a:srgbClr val="333333"/>
                </a:solidFill>
                <a:effectLst/>
                <a:latin typeface="Arial" panose="020B0604020202020204" pitchFamily="34" charset="0"/>
                <a:cs typeface="Arial" panose="020B0604020202020204" pitchFamily="34" charset="0"/>
              </a:rPr>
              <a:t>5. Plan Estratégico de Talento Humano</a:t>
            </a:r>
          </a:p>
          <a:p>
            <a:pPr marL="864000" lvl="2"/>
            <a:r>
              <a:rPr lang="es-MX" sz="1400" b="0" i="0" dirty="0">
                <a:solidFill>
                  <a:srgbClr val="333333"/>
                </a:solidFill>
                <a:effectLst/>
                <a:latin typeface="Arial" panose="020B0604020202020204" pitchFamily="34" charset="0"/>
                <a:cs typeface="Arial" panose="020B0604020202020204" pitchFamily="34" charset="0"/>
              </a:rPr>
              <a:t>6. Plan Institucional de Capacitación</a:t>
            </a:r>
          </a:p>
          <a:p>
            <a:pPr marL="864000" lvl="2"/>
            <a:r>
              <a:rPr lang="es-MX" sz="1400" b="0" i="0" dirty="0">
                <a:solidFill>
                  <a:srgbClr val="333333"/>
                </a:solidFill>
                <a:effectLst/>
                <a:latin typeface="Arial" panose="020B0604020202020204" pitchFamily="34" charset="0"/>
                <a:cs typeface="Arial" panose="020B0604020202020204" pitchFamily="34" charset="0"/>
              </a:rPr>
              <a:t>7. Plan de Incentivos Institucionales</a:t>
            </a:r>
          </a:p>
          <a:p>
            <a:pPr marL="864000" lvl="2"/>
            <a:r>
              <a:rPr lang="es-MX" sz="1400" b="0" i="0" dirty="0">
                <a:solidFill>
                  <a:srgbClr val="333333"/>
                </a:solidFill>
                <a:effectLst/>
                <a:latin typeface="Arial" panose="020B0604020202020204" pitchFamily="34" charset="0"/>
                <a:cs typeface="Arial" panose="020B0604020202020204" pitchFamily="34" charset="0"/>
              </a:rPr>
              <a:t>8. Plan de Trabajo Anual en Seguridad y Salud en el Trabajo</a:t>
            </a:r>
          </a:p>
          <a:p>
            <a:pPr marL="864000" lvl="2"/>
            <a:r>
              <a:rPr lang="es-MX" sz="1400" b="0" i="0" dirty="0">
                <a:solidFill>
                  <a:srgbClr val="333333"/>
                </a:solidFill>
                <a:effectLst/>
                <a:latin typeface="Arial" panose="020B0604020202020204" pitchFamily="34" charset="0"/>
                <a:cs typeface="Arial" panose="020B0604020202020204" pitchFamily="34" charset="0"/>
              </a:rPr>
              <a:t>9. Plan Anticorrupción y de Atención al Ciudadano</a:t>
            </a:r>
          </a:p>
          <a:p>
            <a:pPr marL="864000" lvl="2"/>
            <a:r>
              <a:rPr lang="es-MX" sz="1400" b="0" i="0" dirty="0">
                <a:solidFill>
                  <a:srgbClr val="333333"/>
                </a:solidFill>
                <a:effectLst/>
                <a:latin typeface="Arial" panose="020B0604020202020204" pitchFamily="34" charset="0"/>
                <a:cs typeface="Arial" panose="020B0604020202020204" pitchFamily="34" charset="0"/>
              </a:rPr>
              <a:t>10. Plan Estratégico de Tecnologías de la Información y las Comunicaciones ­ PETI</a:t>
            </a:r>
          </a:p>
          <a:p>
            <a:pPr marL="864000" lvl="2"/>
            <a:r>
              <a:rPr lang="es-MX" sz="1400" b="0" i="0" dirty="0">
                <a:solidFill>
                  <a:srgbClr val="333333"/>
                </a:solidFill>
                <a:effectLst/>
                <a:latin typeface="Arial" panose="020B0604020202020204" pitchFamily="34" charset="0"/>
                <a:cs typeface="Arial" panose="020B0604020202020204" pitchFamily="34" charset="0"/>
              </a:rPr>
              <a:t>11. Plan de Tratamiento de Riesgos de Seguridad y Privacidad de la Información</a:t>
            </a:r>
          </a:p>
          <a:p>
            <a:pPr marL="864000" lvl="2"/>
            <a:endParaRPr lang="es-MX" sz="1400" dirty="0">
              <a:solidFill>
                <a:srgbClr val="333333"/>
              </a:solidFill>
              <a:latin typeface="Arial" panose="020B0604020202020204" pitchFamily="34" charset="0"/>
              <a:cs typeface="Arial" panose="020B0604020202020204" pitchFamily="34" charset="0"/>
            </a:endParaRPr>
          </a:p>
          <a:p>
            <a:pPr indent="-50400"/>
            <a:r>
              <a:rPr lang="es-MX" sz="1400" b="0" i="0" dirty="0">
                <a:solidFill>
                  <a:srgbClr val="333333"/>
                </a:solidFill>
                <a:effectLst/>
                <a:latin typeface="Arial" panose="020B0604020202020204" pitchFamily="34" charset="0"/>
                <a:cs typeface="Arial" panose="020B0604020202020204" pitchFamily="34" charset="0"/>
              </a:rPr>
              <a:t>2. Presentar resultados parciales ante el comité institucional de gestión y desempeño, con el fin de evaluar oportunamente los avances de los mismos.</a:t>
            </a:r>
          </a:p>
          <a:p>
            <a:pPr indent="-50400"/>
            <a:endParaRPr lang="es-MX" sz="1400" dirty="0">
              <a:solidFill>
                <a:srgbClr val="333333"/>
              </a:solidFill>
              <a:latin typeface="Arial" panose="020B0604020202020204" pitchFamily="34" charset="0"/>
              <a:cs typeface="Arial" panose="020B0604020202020204" pitchFamily="34" charset="0"/>
            </a:endParaRPr>
          </a:p>
          <a:p>
            <a:pPr indent="-50400"/>
            <a:r>
              <a:rPr lang="es-MX" sz="1400" b="0" i="0" dirty="0">
                <a:solidFill>
                  <a:srgbClr val="333333"/>
                </a:solidFill>
                <a:effectLst/>
                <a:latin typeface="Arial" panose="020B0604020202020204" pitchFamily="34" charset="0"/>
                <a:cs typeface="Arial" panose="020B0604020202020204" pitchFamily="34" charset="0"/>
              </a:rPr>
              <a:t>3. Evaluar los perfiles del proceso de Gesti</a:t>
            </a:r>
            <a:r>
              <a:rPr lang="es-MX" sz="1400" dirty="0">
                <a:solidFill>
                  <a:srgbClr val="333333"/>
                </a:solidFill>
                <a:latin typeface="Arial" panose="020B0604020202020204" pitchFamily="34" charset="0"/>
                <a:cs typeface="Arial" panose="020B0604020202020204" pitchFamily="34" charset="0"/>
              </a:rPr>
              <a:t>ón de la Tecnologías que permita aportar al fortalecimiento de este proceso.</a:t>
            </a:r>
          </a:p>
          <a:p>
            <a:pPr indent="-50400"/>
            <a:r>
              <a:rPr lang="es-CO" sz="1800" b="1" dirty="0">
                <a:effectLst/>
                <a:latin typeface="Calibri" panose="020F0502020204030204" pitchFamily="34" charset="0"/>
                <a:ea typeface="Calibri" panose="020F0502020204030204" pitchFamily="34" charset="0"/>
                <a:cs typeface="Times New Roman" panose="02020603050405020304" pitchFamily="18" charset="0"/>
              </a:rPr>
              <a:t>4. R</a:t>
            </a:r>
            <a:r>
              <a:rPr lang="es-CO" sz="1800" dirty="0">
                <a:effectLst/>
                <a:latin typeface="Calibri" panose="020F0502020204030204" pitchFamily="34" charset="0"/>
                <a:ea typeface="Calibri" panose="020F0502020204030204" pitchFamily="34" charset="0"/>
                <a:cs typeface="Times New Roman" panose="02020603050405020304" pitchFamily="18" charset="0"/>
              </a:rPr>
              <a:t>evisar de manera integral los indicadores ajustándolo los avances logrados en la vigencia.</a:t>
            </a:r>
          </a:p>
          <a:p>
            <a:pPr indent="-50400"/>
            <a:endParaRPr lang="es-MX" sz="1400" b="0" i="0" dirty="0">
              <a:solidFill>
                <a:srgbClr val="333333"/>
              </a:solidFill>
              <a:effectLst/>
              <a:latin typeface="Arial" panose="020B0604020202020204" pitchFamily="34" charset="0"/>
              <a:cs typeface="Arial" panose="020B0604020202020204" pitchFamily="34" charset="0"/>
            </a:endParaRPr>
          </a:p>
          <a:p>
            <a:pPr indent="-50400"/>
            <a:endParaRPr lang="es-MX" sz="1400" b="0" i="0" dirty="0">
              <a:solidFill>
                <a:srgbClr val="333333"/>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6647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8140484B-7107-7A4A-86C8-59237B64EB8B}"/>
              </a:ext>
            </a:extLst>
          </p:cNvPr>
          <p:cNvSpPr txBox="1"/>
          <p:nvPr/>
        </p:nvSpPr>
        <p:spPr>
          <a:xfrm>
            <a:off x="1086424" y="1794118"/>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cs typeface="+mn-cs"/>
              </a:rPr>
              <a:t>4.|</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76B8BC09-34B9-516A-0EA7-D6F957226E77}"/>
              </a:ext>
            </a:extLst>
          </p:cNvPr>
          <p:cNvSpPr>
            <a:spLocks noChangeArrowheads="1"/>
          </p:cNvSpPr>
          <p:nvPr/>
        </p:nvSpPr>
        <p:spPr bwMode="auto">
          <a:xfrm>
            <a:off x="2163679" y="1886452"/>
            <a:ext cx="928394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RESULTADO DEL DESEMPEÑO INSTITUCIONAL</a:t>
            </a:r>
          </a:p>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tx1"/>
                </a:solidFill>
                <a:effectLst/>
                <a:uLnTx/>
                <a:uFillTx/>
                <a:latin typeface="Calibri" panose="020F0502020204030204"/>
                <a:ea typeface="Work Sans Light" charset="0"/>
                <a:cs typeface="Work Sans Light" charset="0"/>
              </a:rPr>
              <a:t>C. Desempeño de los Procesos- Indicadores de Gestión </a:t>
            </a:r>
          </a:p>
        </p:txBody>
      </p:sp>
      <p:sp>
        <p:nvSpPr>
          <p:cNvPr id="5" name="CuadroTexto 4">
            <a:extLst>
              <a:ext uri="{FF2B5EF4-FFF2-40B4-BE49-F238E27FC236}">
                <a16:creationId xmlns:a16="http://schemas.microsoft.com/office/drawing/2014/main" id="{99643496-ED84-7EA9-752D-99F850D05F38}"/>
              </a:ext>
            </a:extLst>
          </p:cNvPr>
          <p:cNvSpPr txBox="1"/>
          <p:nvPr/>
        </p:nvSpPr>
        <p:spPr>
          <a:xfrm>
            <a:off x="3166750" y="5141444"/>
            <a:ext cx="6098344" cy="703591"/>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mn-cs"/>
              </a:rPr>
              <a:t>AIDA PAOLA GUEVARA MORALES</a:t>
            </a:r>
          </a:p>
          <a:p>
            <a:pPr marL="0" marR="0" lvl="0" indent="0" algn="ctr" defTabSz="914400" rtl="0" eaLnBrk="1" fontAlgn="auto" latinLnBrk="0" hangingPunct="1">
              <a:lnSpc>
                <a:spcPct val="115000"/>
              </a:lnSpc>
              <a:spcBef>
                <a:spcPts val="0"/>
              </a:spcBef>
              <a:spcAft>
                <a:spcPts val="0"/>
              </a:spcAft>
              <a:buClrTx/>
              <a:buSzTx/>
              <a:buFontTx/>
              <a:buNone/>
              <a:tabLst/>
              <a:defRPr/>
            </a:pPr>
            <a:r>
              <a:rPr lang="es-MX" dirty="0">
                <a:solidFill>
                  <a:prstClr val="black"/>
                </a:solidFill>
                <a:latin typeface="Arial" panose="020B0604020202020204" pitchFamily="34" charset="0"/>
                <a:ea typeface="Times New Roman" panose="02020603050405020304" pitchFamily="18" charset="0"/>
              </a:rPr>
              <a:t>Gestión de Calidad</a:t>
            </a:r>
            <a:endParaRPr kumimoji="0" lang="es-ES" sz="120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4287485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F346216-2A7C-2CDB-3EEF-0B41791E4377}"/>
              </a:ext>
            </a:extLst>
          </p:cNvPr>
          <p:cNvSpPr txBox="1"/>
          <p:nvPr/>
        </p:nvSpPr>
        <p:spPr>
          <a:xfrm>
            <a:off x="449704" y="1984523"/>
            <a:ext cx="3732552" cy="707886"/>
          </a:xfrm>
          <a:prstGeom prst="rect">
            <a:avLst/>
          </a:prstGeom>
          <a:noFill/>
        </p:spPr>
        <p:txBody>
          <a:bodyPr wrap="square" rtlCol="0">
            <a:spAutoFit/>
          </a:bodyPr>
          <a:lstStyle/>
          <a:p>
            <a:r>
              <a:rPr lang="es-CO" sz="2000" b="1" dirty="0"/>
              <a:t>% CUMPLIMIENTO INDICADORES DE GESTIÓN POR PROCESO 2022</a:t>
            </a:r>
          </a:p>
        </p:txBody>
      </p:sp>
      <p:graphicFrame>
        <p:nvGraphicFramePr>
          <p:cNvPr id="4" name="Tabla 3">
            <a:extLst>
              <a:ext uri="{FF2B5EF4-FFF2-40B4-BE49-F238E27FC236}">
                <a16:creationId xmlns:a16="http://schemas.microsoft.com/office/drawing/2014/main" id="{B05D8FEA-678D-3DC9-1AA5-4A04BAB181F4}"/>
              </a:ext>
            </a:extLst>
          </p:cNvPr>
          <p:cNvGraphicFramePr>
            <a:graphicFrameLocks noGrp="1"/>
          </p:cNvGraphicFramePr>
          <p:nvPr>
            <p:extLst>
              <p:ext uri="{D42A27DB-BD31-4B8C-83A1-F6EECF244321}">
                <p14:modId xmlns:p14="http://schemas.microsoft.com/office/powerpoint/2010/main" val="339500189"/>
              </p:ext>
            </p:extLst>
          </p:nvPr>
        </p:nvGraphicFramePr>
        <p:xfrm>
          <a:off x="4358807" y="1592349"/>
          <a:ext cx="5946097" cy="4093606"/>
        </p:xfrm>
        <a:graphic>
          <a:graphicData uri="http://schemas.openxmlformats.org/drawingml/2006/table">
            <a:tbl>
              <a:tblPr firstRow="1" bandRow="1">
                <a:tableStyleId>{7DF18680-E054-41AD-8BC1-D1AEF772440D}</a:tableStyleId>
              </a:tblPr>
              <a:tblGrid>
                <a:gridCol w="2649557">
                  <a:extLst>
                    <a:ext uri="{9D8B030D-6E8A-4147-A177-3AD203B41FA5}">
                      <a16:colId xmlns:a16="http://schemas.microsoft.com/office/drawing/2014/main" val="3683965651"/>
                    </a:ext>
                  </a:extLst>
                </a:gridCol>
                <a:gridCol w="1648270">
                  <a:extLst>
                    <a:ext uri="{9D8B030D-6E8A-4147-A177-3AD203B41FA5}">
                      <a16:colId xmlns:a16="http://schemas.microsoft.com/office/drawing/2014/main" val="1726480790"/>
                    </a:ext>
                  </a:extLst>
                </a:gridCol>
                <a:gridCol w="1648270">
                  <a:extLst>
                    <a:ext uri="{9D8B030D-6E8A-4147-A177-3AD203B41FA5}">
                      <a16:colId xmlns:a16="http://schemas.microsoft.com/office/drawing/2014/main" val="2010661677"/>
                    </a:ext>
                  </a:extLst>
                </a:gridCol>
              </a:tblGrid>
              <a:tr h="274316">
                <a:tc>
                  <a:txBody>
                    <a:bodyPr/>
                    <a:lstStyle/>
                    <a:p>
                      <a:pPr algn="ctr" fontAlgn="b"/>
                      <a:r>
                        <a:rPr lang="es-CO" sz="1200" u="none" strike="noStrike" dirty="0">
                          <a:solidFill>
                            <a:schemeClr val="bg1"/>
                          </a:solidFill>
                          <a:effectLst/>
                        </a:rPr>
                        <a:t>PROCESO</a:t>
                      </a:r>
                      <a:endParaRPr lang="es-CO" sz="1200" b="0" i="0" u="none" strike="noStrike" dirty="0">
                        <a:solidFill>
                          <a:schemeClr val="bg1"/>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solidFill>
                            <a:schemeClr val="bg1"/>
                          </a:solidFill>
                          <a:effectLst/>
                        </a:rPr>
                        <a:t>RESULTADO 2022</a:t>
                      </a:r>
                      <a:endParaRPr lang="es-CO" sz="1200" b="0" i="0" u="none" strike="noStrike" dirty="0">
                        <a:solidFill>
                          <a:schemeClr val="bg1"/>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chemeClr val="bg1"/>
                          </a:solidFill>
                          <a:effectLst/>
                          <a:latin typeface="Calibri" panose="020F0502020204030204" pitchFamily="34" charset="0"/>
                        </a:rPr>
                        <a:t>% CUMPLIMEINTOI</a:t>
                      </a:r>
                    </a:p>
                  </a:txBody>
                  <a:tcPr marL="9342" marR="9342" marT="9342" marB="0" anchor="ctr"/>
                </a:tc>
                <a:extLst>
                  <a:ext uri="{0D108BD9-81ED-4DB2-BD59-A6C34878D82A}">
                    <a16:rowId xmlns:a16="http://schemas.microsoft.com/office/drawing/2014/main" val="1360104649"/>
                  </a:ext>
                </a:extLst>
              </a:tr>
              <a:tr h="274316">
                <a:tc>
                  <a:txBody>
                    <a:bodyPr/>
                    <a:lstStyle/>
                    <a:p>
                      <a:pPr algn="ctr" fontAlgn="b"/>
                      <a:r>
                        <a:rPr lang="es-CO" sz="1200" u="none" strike="noStrike">
                          <a:effectLst/>
                        </a:rPr>
                        <a:t>Control Político</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85,70%</a:t>
                      </a:r>
                    </a:p>
                  </a:txBody>
                  <a:tcPr marL="9342" marR="9342" marT="9342"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CO" sz="1200" u="none" strike="noStrike" dirty="0">
                          <a:effectLst/>
                        </a:rPr>
                        <a:t>90%</a:t>
                      </a:r>
                      <a:endParaRPr lang="es-CO" sz="1200" b="0" i="0" u="none" strike="noStrike" dirty="0">
                        <a:solidFill>
                          <a:srgbClr val="000000"/>
                        </a:solidFill>
                        <a:effectLst/>
                        <a:latin typeface="Calibri" panose="020F0502020204030204" pitchFamily="34" charset="0"/>
                      </a:endParaRPr>
                    </a:p>
                  </a:txBody>
                  <a:tcPr marL="9342" marR="9342" marT="9342" marB="0" anchor="ctr"/>
                </a:tc>
                <a:extLst>
                  <a:ext uri="{0D108BD9-81ED-4DB2-BD59-A6C34878D82A}">
                    <a16:rowId xmlns:a16="http://schemas.microsoft.com/office/drawing/2014/main" val="1597724520"/>
                  </a:ext>
                </a:extLst>
              </a:tr>
              <a:tr h="274316">
                <a:tc>
                  <a:txBody>
                    <a:bodyPr/>
                    <a:lstStyle/>
                    <a:p>
                      <a:pPr algn="ctr" fontAlgn="b"/>
                      <a:r>
                        <a:rPr lang="es-CO" sz="1200" u="none" strike="noStrike" dirty="0" err="1">
                          <a:effectLst/>
                        </a:rPr>
                        <a:t>Direcconamiento</a:t>
                      </a:r>
                      <a:r>
                        <a:rPr lang="es-CO" sz="1200" u="none" strike="noStrike" dirty="0">
                          <a:effectLst/>
                        </a:rPr>
                        <a:t> Estratégico</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91,41%</a:t>
                      </a: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97%</a:t>
                      </a:r>
                    </a:p>
                  </a:txBody>
                  <a:tcPr marL="9342" marR="9342" marT="9342" marB="0" anchor="ctr"/>
                </a:tc>
                <a:extLst>
                  <a:ext uri="{0D108BD9-81ED-4DB2-BD59-A6C34878D82A}">
                    <a16:rowId xmlns:a16="http://schemas.microsoft.com/office/drawing/2014/main" val="255435724"/>
                  </a:ext>
                </a:extLst>
              </a:tr>
              <a:tr h="274316">
                <a:tc>
                  <a:txBody>
                    <a:bodyPr/>
                    <a:lstStyle/>
                    <a:p>
                      <a:pPr algn="ctr" fontAlgn="b"/>
                      <a:r>
                        <a:rPr lang="es-CO" sz="1200" u="none" strike="noStrike" dirty="0">
                          <a:effectLst/>
                        </a:rPr>
                        <a:t>Gestión Administrativa y Financiera</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92%</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92%</a:t>
                      </a:r>
                    </a:p>
                  </a:txBody>
                  <a:tcPr marL="9342" marR="9342" marT="9342" marB="0" anchor="ctr"/>
                </a:tc>
                <a:extLst>
                  <a:ext uri="{0D108BD9-81ED-4DB2-BD59-A6C34878D82A}">
                    <a16:rowId xmlns:a16="http://schemas.microsoft.com/office/drawing/2014/main" val="1229904093"/>
                  </a:ext>
                </a:extLst>
              </a:tr>
              <a:tr h="274316">
                <a:tc>
                  <a:txBody>
                    <a:bodyPr/>
                    <a:lstStyle/>
                    <a:p>
                      <a:pPr algn="ctr" fontAlgn="b"/>
                      <a:r>
                        <a:rPr lang="es-CO" sz="1200" u="none" strike="noStrike">
                          <a:effectLst/>
                        </a:rPr>
                        <a:t>Gestión Calidad</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CO" sz="1200" u="none" strike="noStrike" dirty="0">
                          <a:effectLst/>
                        </a:rPr>
                        <a:t>100%</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CO" sz="1200" u="none" strike="noStrike" dirty="0">
                          <a:effectLst/>
                        </a:rPr>
                        <a:t>100%</a:t>
                      </a:r>
                      <a:endParaRPr lang="es-CO" sz="1200" b="0" i="0" u="none" strike="noStrike" dirty="0">
                        <a:solidFill>
                          <a:srgbClr val="000000"/>
                        </a:solidFill>
                        <a:effectLst/>
                        <a:latin typeface="Calibri" panose="020F0502020204030204" pitchFamily="34" charset="0"/>
                      </a:endParaRPr>
                    </a:p>
                  </a:txBody>
                  <a:tcPr marL="9342" marR="9342" marT="9342" marB="0" anchor="ctr"/>
                </a:tc>
                <a:extLst>
                  <a:ext uri="{0D108BD9-81ED-4DB2-BD59-A6C34878D82A}">
                    <a16:rowId xmlns:a16="http://schemas.microsoft.com/office/drawing/2014/main" val="2237993801"/>
                  </a:ext>
                </a:extLst>
              </a:tr>
              <a:tr h="274316">
                <a:tc>
                  <a:txBody>
                    <a:bodyPr/>
                    <a:lstStyle/>
                    <a:p>
                      <a:pPr algn="ctr" fontAlgn="b"/>
                      <a:r>
                        <a:rPr lang="es-CO" sz="1200" u="none" strike="noStrike">
                          <a:effectLst/>
                        </a:rPr>
                        <a:t>Gestión Comunicaciones</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a:effectLst/>
                        </a:rPr>
                        <a:t>100%</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100%</a:t>
                      </a:r>
                    </a:p>
                  </a:txBody>
                  <a:tcPr marL="9342" marR="9342" marT="9342" marB="0" anchor="ctr"/>
                </a:tc>
                <a:extLst>
                  <a:ext uri="{0D108BD9-81ED-4DB2-BD59-A6C34878D82A}">
                    <a16:rowId xmlns:a16="http://schemas.microsoft.com/office/drawing/2014/main" val="2063463425"/>
                  </a:ext>
                </a:extLst>
              </a:tr>
              <a:tr h="274316">
                <a:tc>
                  <a:txBody>
                    <a:bodyPr/>
                    <a:lstStyle/>
                    <a:p>
                      <a:pPr algn="ctr" fontAlgn="b"/>
                      <a:r>
                        <a:rPr lang="es-CO" sz="1200" u="none" strike="noStrike">
                          <a:effectLst/>
                        </a:rPr>
                        <a:t>Gestión Contractual</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100%</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100%</a:t>
                      </a:r>
                    </a:p>
                  </a:txBody>
                  <a:tcPr marL="9342" marR="9342" marT="9342" marB="0" anchor="ctr"/>
                </a:tc>
                <a:extLst>
                  <a:ext uri="{0D108BD9-81ED-4DB2-BD59-A6C34878D82A}">
                    <a16:rowId xmlns:a16="http://schemas.microsoft.com/office/drawing/2014/main" val="2197773260"/>
                  </a:ext>
                </a:extLst>
              </a:tr>
              <a:tr h="274316">
                <a:tc>
                  <a:txBody>
                    <a:bodyPr/>
                    <a:lstStyle/>
                    <a:p>
                      <a:pPr algn="ctr" fontAlgn="b"/>
                      <a:r>
                        <a:rPr lang="es-CO" sz="1200" u="none" strike="noStrike">
                          <a:effectLst/>
                        </a:rPr>
                        <a:t>Gestion de Evaluacion Independiente</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100%</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100%</a:t>
                      </a:r>
                    </a:p>
                  </a:txBody>
                  <a:tcPr marL="9342" marR="9342" marT="9342" marB="0" anchor="ctr"/>
                </a:tc>
                <a:extLst>
                  <a:ext uri="{0D108BD9-81ED-4DB2-BD59-A6C34878D82A}">
                    <a16:rowId xmlns:a16="http://schemas.microsoft.com/office/drawing/2014/main" val="941756263"/>
                  </a:ext>
                </a:extLst>
              </a:tr>
              <a:tr h="274316">
                <a:tc>
                  <a:txBody>
                    <a:bodyPr/>
                    <a:lstStyle/>
                    <a:p>
                      <a:pPr algn="ctr" fontAlgn="b"/>
                      <a:r>
                        <a:rPr lang="es-MX" sz="1200" u="none" strike="noStrike">
                          <a:effectLst/>
                        </a:rPr>
                        <a:t>Gestión de Tecnologías de la Información</a:t>
                      </a:r>
                      <a:endParaRPr lang="es-MX"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89%</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90%</a:t>
                      </a:r>
                    </a:p>
                  </a:txBody>
                  <a:tcPr marL="9342" marR="9342" marT="9342" marB="0" anchor="ctr"/>
                </a:tc>
                <a:extLst>
                  <a:ext uri="{0D108BD9-81ED-4DB2-BD59-A6C34878D82A}">
                    <a16:rowId xmlns:a16="http://schemas.microsoft.com/office/drawing/2014/main" val="1712473532"/>
                  </a:ext>
                </a:extLst>
              </a:tr>
              <a:tr h="274316">
                <a:tc>
                  <a:txBody>
                    <a:bodyPr/>
                    <a:lstStyle/>
                    <a:p>
                      <a:pPr algn="ctr" fontAlgn="b"/>
                      <a:r>
                        <a:rPr lang="es-CO" sz="1200" u="none" strike="noStrike">
                          <a:effectLst/>
                        </a:rPr>
                        <a:t>Gestión del Talento Humano</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99%</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100%</a:t>
                      </a:r>
                    </a:p>
                  </a:txBody>
                  <a:tcPr marL="9342" marR="9342" marT="9342" marB="0" anchor="ctr"/>
                </a:tc>
                <a:extLst>
                  <a:ext uri="{0D108BD9-81ED-4DB2-BD59-A6C34878D82A}">
                    <a16:rowId xmlns:a16="http://schemas.microsoft.com/office/drawing/2014/main" val="1337745468"/>
                  </a:ext>
                </a:extLst>
              </a:tr>
              <a:tr h="274316">
                <a:tc>
                  <a:txBody>
                    <a:bodyPr/>
                    <a:lstStyle/>
                    <a:p>
                      <a:pPr algn="ctr" fontAlgn="b"/>
                      <a:r>
                        <a:rPr lang="es-CO" sz="1200" u="none" strike="noStrike">
                          <a:effectLst/>
                        </a:rPr>
                        <a:t>Gestión Documental</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100%</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100%</a:t>
                      </a:r>
                    </a:p>
                  </a:txBody>
                  <a:tcPr marL="9342" marR="9342" marT="9342" marB="0" anchor="ctr"/>
                </a:tc>
                <a:extLst>
                  <a:ext uri="{0D108BD9-81ED-4DB2-BD59-A6C34878D82A}">
                    <a16:rowId xmlns:a16="http://schemas.microsoft.com/office/drawing/2014/main" val="3618585661"/>
                  </a:ext>
                </a:extLst>
              </a:tr>
              <a:tr h="274316">
                <a:tc>
                  <a:txBody>
                    <a:bodyPr/>
                    <a:lstStyle/>
                    <a:p>
                      <a:pPr algn="ctr" fontAlgn="b"/>
                      <a:r>
                        <a:rPr lang="es-CO" sz="1200" u="none" strike="noStrike">
                          <a:effectLst/>
                        </a:rPr>
                        <a:t>Gestión Jurídica </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94%</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100%</a:t>
                      </a:r>
                    </a:p>
                  </a:txBody>
                  <a:tcPr marL="9342" marR="9342" marT="9342" marB="0" anchor="ctr"/>
                </a:tc>
                <a:extLst>
                  <a:ext uri="{0D108BD9-81ED-4DB2-BD59-A6C34878D82A}">
                    <a16:rowId xmlns:a16="http://schemas.microsoft.com/office/drawing/2014/main" val="1866527974"/>
                  </a:ext>
                </a:extLst>
              </a:tr>
              <a:tr h="274316">
                <a:tc>
                  <a:txBody>
                    <a:bodyPr/>
                    <a:lstStyle/>
                    <a:p>
                      <a:pPr algn="ctr" fontAlgn="b"/>
                      <a:r>
                        <a:rPr lang="es-CO" sz="1200" u="none" strike="noStrike">
                          <a:effectLst/>
                        </a:rPr>
                        <a:t>Relacionamiento con la Ciudadanía</a:t>
                      </a:r>
                      <a:endParaRPr lang="es-CO" sz="1200" b="0" i="0" u="none" strike="noStrike">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85%</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99%</a:t>
                      </a:r>
                    </a:p>
                  </a:txBody>
                  <a:tcPr marL="9342" marR="9342" marT="9342" marB="0" anchor="ctr"/>
                </a:tc>
                <a:extLst>
                  <a:ext uri="{0D108BD9-81ED-4DB2-BD59-A6C34878D82A}">
                    <a16:rowId xmlns:a16="http://schemas.microsoft.com/office/drawing/2014/main" val="1827550279"/>
                  </a:ext>
                </a:extLst>
              </a:tr>
              <a:tr h="274316">
                <a:tc>
                  <a:txBody>
                    <a:bodyPr/>
                    <a:lstStyle/>
                    <a:p>
                      <a:pPr algn="ctr" fontAlgn="b"/>
                      <a:r>
                        <a:rPr lang="es-MX" sz="1200" u="none" strike="noStrike" dirty="0">
                          <a:effectLst/>
                        </a:rPr>
                        <a:t>Tramites de Proyectos de Acuerdo </a:t>
                      </a:r>
                      <a:endParaRPr lang="es-MX"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u="none" strike="noStrike" dirty="0">
                          <a:effectLst/>
                        </a:rPr>
                        <a:t>89%</a:t>
                      </a:r>
                      <a:endParaRPr lang="es-CO" sz="1200" b="0"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200" b="0" i="0" u="none" strike="noStrike" dirty="0">
                          <a:solidFill>
                            <a:srgbClr val="000000"/>
                          </a:solidFill>
                          <a:effectLst/>
                          <a:latin typeface="Calibri" panose="020F0502020204030204" pitchFamily="34" charset="0"/>
                        </a:rPr>
                        <a:t>89%</a:t>
                      </a:r>
                    </a:p>
                  </a:txBody>
                  <a:tcPr marL="9342" marR="9342" marT="9342" marB="0" anchor="ctr"/>
                </a:tc>
                <a:extLst>
                  <a:ext uri="{0D108BD9-81ED-4DB2-BD59-A6C34878D82A}">
                    <a16:rowId xmlns:a16="http://schemas.microsoft.com/office/drawing/2014/main" val="310054887"/>
                  </a:ext>
                </a:extLst>
              </a:tr>
              <a:tr h="161100">
                <a:tc>
                  <a:txBody>
                    <a:bodyPr/>
                    <a:lstStyle/>
                    <a:p>
                      <a:pPr algn="ctr" fontAlgn="b"/>
                      <a:r>
                        <a:rPr lang="es-CO" sz="1600" b="1" u="none" strike="noStrike" dirty="0">
                          <a:effectLst/>
                        </a:rPr>
                        <a:t>TOTAL</a:t>
                      </a:r>
                      <a:endParaRPr lang="es-CO" sz="1600" b="1"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600" b="1" u="none" strike="noStrike" dirty="0">
                          <a:effectLst/>
                        </a:rPr>
                        <a:t>92%</a:t>
                      </a:r>
                      <a:endParaRPr lang="es-CO" sz="1600" b="1" i="0" u="none" strike="noStrike" dirty="0">
                        <a:solidFill>
                          <a:srgbClr val="000000"/>
                        </a:solidFill>
                        <a:effectLst/>
                        <a:latin typeface="Calibri" panose="020F0502020204030204" pitchFamily="34" charset="0"/>
                      </a:endParaRPr>
                    </a:p>
                  </a:txBody>
                  <a:tcPr marL="9342" marR="9342" marT="9342" marB="0" anchor="ctr"/>
                </a:tc>
                <a:tc>
                  <a:txBody>
                    <a:bodyPr/>
                    <a:lstStyle/>
                    <a:p>
                      <a:pPr algn="ctr" fontAlgn="b"/>
                      <a:r>
                        <a:rPr lang="es-CO" sz="1600" b="1" i="0" u="none" strike="noStrike" dirty="0">
                          <a:solidFill>
                            <a:srgbClr val="000000"/>
                          </a:solidFill>
                          <a:effectLst/>
                          <a:latin typeface="Calibri" panose="020F0502020204030204" pitchFamily="34" charset="0"/>
                        </a:rPr>
                        <a:t>97%</a:t>
                      </a:r>
                    </a:p>
                  </a:txBody>
                  <a:tcPr marL="9342" marR="9342" marT="9342" marB="0" anchor="ctr"/>
                </a:tc>
                <a:extLst>
                  <a:ext uri="{0D108BD9-81ED-4DB2-BD59-A6C34878D82A}">
                    <a16:rowId xmlns:a16="http://schemas.microsoft.com/office/drawing/2014/main" val="3023209076"/>
                  </a:ext>
                </a:extLst>
              </a:tr>
            </a:tbl>
          </a:graphicData>
        </a:graphic>
      </p:graphicFrame>
      <p:sp>
        <p:nvSpPr>
          <p:cNvPr id="5" name="CuadroTexto 4">
            <a:extLst>
              <a:ext uri="{FF2B5EF4-FFF2-40B4-BE49-F238E27FC236}">
                <a16:creationId xmlns:a16="http://schemas.microsoft.com/office/drawing/2014/main" id="{C531904D-C64F-8367-0D0A-3ED791FE6E35}"/>
              </a:ext>
            </a:extLst>
          </p:cNvPr>
          <p:cNvSpPr txBox="1"/>
          <p:nvPr/>
        </p:nvSpPr>
        <p:spPr>
          <a:xfrm>
            <a:off x="1509009" y="3075057"/>
            <a:ext cx="2428407" cy="707886"/>
          </a:xfrm>
          <a:prstGeom prst="rect">
            <a:avLst/>
          </a:prstGeom>
          <a:noFill/>
        </p:spPr>
        <p:txBody>
          <a:bodyPr wrap="square" rtlCol="0">
            <a:spAutoFit/>
          </a:bodyPr>
          <a:lstStyle/>
          <a:p>
            <a:r>
              <a:rPr lang="es-CO" sz="4000" dirty="0">
                <a:solidFill>
                  <a:schemeClr val="accent5"/>
                </a:solidFill>
                <a:latin typeface="Arial Black" panose="020B0A04020102020204" pitchFamily="34" charset="0"/>
              </a:rPr>
              <a:t>92%</a:t>
            </a:r>
          </a:p>
        </p:txBody>
      </p:sp>
    </p:spTree>
    <p:extLst>
      <p:ext uri="{BB962C8B-B14F-4D97-AF65-F5344CB8AC3E}">
        <p14:creationId xmlns:p14="http://schemas.microsoft.com/office/powerpoint/2010/main" val="3117788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7FD32BC-2180-04BF-BB12-DB242BA58CD0}"/>
              </a:ext>
            </a:extLst>
          </p:cNvPr>
          <p:cNvSpPr txBox="1"/>
          <p:nvPr/>
        </p:nvSpPr>
        <p:spPr>
          <a:xfrm>
            <a:off x="727960" y="693013"/>
            <a:ext cx="9398833" cy="369332"/>
          </a:xfrm>
          <a:prstGeom prst="rect">
            <a:avLst/>
          </a:prstGeom>
          <a:noFill/>
        </p:spPr>
        <p:txBody>
          <a:bodyPr wrap="square" rtlCol="0">
            <a:spAutoFit/>
          </a:bodyPr>
          <a:lstStyle/>
          <a:p>
            <a:r>
              <a:rPr lang="es-ES" b="1" dirty="0">
                <a:solidFill>
                  <a:schemeClr val="accent5"/>
                </a:solidFill>
              </a:rPr>
              <a:t>RESULTADOS POR PROCESO</a:t>
            </a:r>
          </a:p>
        </p:txBody>
      </p:sp>
      <p:graphicFrame>
        <p:nvGraphicFramePr>
          <p:cNvPr id="6" name="Tabla 5">
            <a:extLst>
              <a:ext uri="{FF2B5EF4-FFF2-40B4-BE49-F238E27FC236}">
                <a16:creationId xmlns:a16="http://schemas.microsoft.com/office/drawing/2014/main" id="{BDBFDCC5-1F0F-F03A-A5CD-A511FD853DAA}"/>
              </a:ext>
            </a:extLst>
          </p:cNvPr>
          <p:cNvGraphicFramePr>
            <a:graphicFrameLocks noGrp="1"/>
          </p:cNvGraphicFramePr>
          <p:nvPr>
            <p:extLst>
              <p:ext uri="{D42A27DB-BD31-4B8C-83A1-F6EECF244321}">
                <p14:modId xmlns:p14="http://schemas.microsoft.com/office/powerpoint/2010/main" val="365379093"/>
              </p:ext>
            </p:extLst>
          </p:nvPr>
        </p:nvGraphicFramePr>
        <p:xfrm>
          <a:off x="1051810" y="1465861"/>
          <a:ext cx="10088380" cy="4720169"/>
        </p:xfrm>
        <a:graphic>
          <a:graphicData uri="http://schemas.openxmlformats.org/drawingml/2006/table">
            <a:tbl>
              <a:tblPr/>
              <a:tblGrid>
                <a:gridCol w="1609895">
                  <a:extLst>
                    <a:ext uri="{9D8B030D-6E8A-4147-A177-3AD203B41FA5}">
                      <a16:colId xmlns:a16="http://schemas.microsoft.com/office/drawing/2014/main" val="2994769065"/>
                    </a:ext>
                  </a:extLst>
                </a:gridCol>
                <a:gridCol w="1698350">
                  <a:extLst>
                    <a:ext uri="{9D8B030D-6E8A-4147-A177-3AD203B41FA5}">
                      <a16:colId xmlns:a16="http://schemas.microsoft.com/office/drawing/2014/main" val="4231540951"/>
                    </a:ext>
                  </a:extLst>
                </a:gridCol>
                <a:gridCol w="1685083">
                  <a:extLst>
                    <a:ext uri="{9D8B030D-6E8A-4147-A177-3AD203B41FA5}">
                      <a16:colId xmlns:a16="http://schemas.microsoft.com/office/drawing/2014/main" val="1115373081"/>
                    </a:ext>
                  </a:extLst>
                </a:gridCol>
                <a:gridCol w="1061469">
                  <a:extLst>
                    <a:ext uri="{9D8B030D-6E8A-4147-A177-3AD203B41FA5}">
                      <a16:colId xmlns:a16="http://schemas.microsoft.com/office/drawing/2014/main" val="2104290923"/>
                    </a:ext>
                  </a:extLst>
                </a:gridCol>
                <a:gridCol w="1061469">
                  <a:extLst>
                    <a:ext uri="{9D8B030D-6E8A-4147-A177-3AD203B41FA5}">
                      <a16:colId xmlns:a16="http://schemas.microsoft.com/office/drawing/2014/main" val="3401746611"/>
                    </a:ext>
                  </a:extLst>
                </a:gridCol>
                <a:gridCol w="1486057">
                  <a:extLst>
                    <a:ext uri="{9D8B030D-6E8A-4147-A177-3AD203B41FA5}">
                      <a16:colId xmlns:a16="http://schemas.microsoft.com/office/drawing/2014/main" val="1582487726"/>
                    </a:ext>
                  </a:extLst>
                </a:gridCol>
                <a:gridCol w="1486057">
                  <a:extLst>
                    <a:ext uri="{9D8B030D-6E8A-4147-A177-3AD203B41FA5}">
                      <a16:colId xmlns:a16="http://schemas.microsoft.com/office/drawing/2014/main" val="3029807074"/>
                    </a:ext>
                  </a:extLst>
                </a:gridCol>
              </a:tblGrid>
              <a:tr h="125761">
                <a:tc rowSpan="2">
                  <a:txBody>
                    <a:bodyPr/>
                    <a:lstStyle/>
                    <a:p>
                      <a:pPr algn="ctr" rtl="0" fontAlgn="ctr"/>
                      <a:r>
                        <a:rPr lang="es-CO" sz="1050" b="0" i="0" u="none" strike="noStrike">
                          <a:solidFill>
                            <a:srgbClr val="FFFFFF"/>
                          </a:solidFill>
                          <a:effectLst/>
                          <a:latin typeface="Calibri" panose="020F0502020204030204" pitchFamily="34" charset="0"/>
                        </a:rPr>
                        <a:t>PROCESO</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1050" b="0" i="0" u="none" strike="noStrike">
                          <a:solidFill>
                            <a:srgbClr val="FFFFFF"/>
                          </a:solidFill>
                          <a:effectLst/>
                          <a:latin typeface="Calibri" panose="020F0502020204030204" pitchFamily="34" charset="0"/>
                        </a:rPr>
                        <a:t>Nombre</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1050" b="0" i="0" u="none" strike="noStrike">
                          <a:solidFill>
                            <a:srgbClr val="FFFFFF"/>
                          </a:solidFill>
                          <a:effectLst/>
                          <a:latin typeface="Calibri" panose="020F0502020204030204" pitchFamily="34" charset="0"/>
                        </a:rPr>
                        <a:t>Formula</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1050" b="0" i="0" u="none" strike="noStrike">
                          <a:solidFill>
                            <a:srgbClr val="FFFFFF"/>
                          </a:solidFill>
                          <a:effectLst/>
                          <a:latin typeface="Calibri" panose="020F0502020204030204" pitchFamily="34" charset="0"/>
                        </a:rPr>
                        <a:t>Meta</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1050" b="0" i="0" u="none" strike="noStrike">
                          <a:solidFill>
                            <a:srgbClr val="FFFFFF"/>
                          </a:solidFill>
                          <a:effectLst/>
                          <a:latin typeface="Calibri" panose="020F0502020204030204" pitchFamily="34" charset="0"/>
                        </a:rPr>
                        <a:t>Frecuencia</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gridSpan="2">
                  <a:txBody>
                    <a:bodyPr/>
                    <a:lstStyle/>
                    <a:p>
                      <a:pPr algn="ctr" rtl="0" fontAlgn="ctr"/>
                      <a:r>
                        <a:rPr lang="es-CO" sz="1050" b="1" i="0" u="none" strike="noStrike">
                          <a:solidFill>
                            <a:srgbClr val="FFFFFF"/>
                          </a:solidFill>
                          <a:effectLst/>
                          <a:latin typeface="Calibri" panose="020F0502020204030204" pitchFamily="34" charset="0"/>
                        </a:rPr>
                        <a:t>RESULTADOS 2022</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hMerge="1">
                  <a:txBody>
                    <a:bodyPr/>
                    <a:lstStyle/>
                    <a:p>
                      <a:endParaRPr lang="es-CO"/>
                    </a:p>
                  </a:txBody>
                  <a:tcPr/>
                </a:tc>
                <a:extLst>
                  <a:ext uri="{0D108BD9-81ED-4DB2-BD59-A6C34878D82A}">
                    <a16:rowId xmlns:a16="http://schemas.microsoft.com/office/drawing/2014/main" val="3666793062"/>
                  </a:ext>
                </a:extLst>
              </a:tr>
              <a:tr h="134145">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tc>
                  <a:txBody>
                    <a:bodyPr/>
                    <a:lstStyle/>
                    <a:p>
                      <a:pPr algn="ctr" rtl="0" fontAlgn="ctr"/>
                      <a:r>
                        <a:rPr lang="es-CO" sz="1050" b="0" i="0" u="none" strike="noStrike">
                          <a:solidFill>
                            <a:srgbClr val="FFFFFF"/>
                          </a:solidFill>
                          <a:effectLst/>
                          <a:latin typeface="Calibri" panose="020F0502020204030204" pitchFamily="34" charset="0"/>
                        </a:rPr>
                        <a:t>RESULTADO</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rtl="0" fontAlgn="ctr"/>
                      <a:r>
                        <a:rPr lang="es-CO" sz="1100" b="1" i="0" u="none" strike="noStrike">
                          <a:solidFill>
                            <a:srgbClr val="FFFFFF"/>
                          </a:solidFill>
                          <a:effectLst/>
                          <a:latin typeface="Calibri" panose="020F0502020204030204" pitchFamily="34" charset="0"/>
                        </a:rPr>
                        <a:t>% CUMPLIMIENTO</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3800570167"/>
                  </a:ext>
                </a:extLst>
              </a:tr>
              <a:tr h="628806">
                <a:tc>
                  <a:txBody>
                    <a:bodyPr/>
                    <a:lstStyle/>
                    <a:p>
                      <a:pPr algn="ctr" rtl="0" fontAlgn="ctr"/>
                      <a:r>
                        <a:rPr lang="es-CO" sz="1100" b="0" i="0" u="none" strike="noStrike" dirty="0">
                          <a:solidFill>
                            <a:srgbClr val="000000"/>
                          </a:solidFill>
                          <a:effectLst/>
                          <a:latin typeface="Calibri" panose="020F0502020204030204" pitchFamily="34" charset="0"/>
                        </a:rPr>
                        <a:t>Direccionamiento Estratégico</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dirty="0">
                          <a:solidFill>
                            <a:srgbClr val="000000"/>
                          </a:solidFill>
                          <a:effectLst/>
                          <a:latin typeface="Calibri" panose="020F0502020204030204" pitchFamily="34" charset="0"/>
                        </a:rPr>
                        <a:t>% de cumplimiento de las metas definidas en el plan de acción del Concejo Municipal de Chía</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dirty="0">
                          <a:solidFill>
                            <a:srgbClr val="000000"/>
                          </a:solidFill>
                          <a:effectLst/>
                          <a:latin typeface="Calibri" panose="020F0502020204030204" pitchFamily="34" charset="0"/>
                        </a:rPr>
                        <a:t>Promedio del Cumplimiento del Plan de Acción</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95%</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Semestral</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0" i="0" u="none" strike="noStrike">
                          <a:solidFill>
                            <a:srgbClr val="000000"/>
                          </a:solidFill>
                          <a:effectLst/>
                          <a:latin typeface="Arial" panose="020B0604020202020204" pitchFamily="34" charset="0"/>
                        </a:rPr>
                        <a:t>91,02%</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1" i="0" u="none" strike="noStrike">
                          <a:solidFill>
                            <a:srgbClr val="000000"/>
                          </a:solidFill>
                          <a:effectLst/>
                          <a:latin typeface="Arial" panose="020B0604020202020204" pitchFamily="34" charset="0"/>
                        </a:rPr>
                        <a:t>96%</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2346641356"/>
                  </a:ext>
                </a:extLst>
              </a:tr>
              <a:tr h="377284">
                <a:tc>
                  <a:txBody>
                    <a:bodyPr/>
                    <a:lstStyle/>
                    <a:p>
                      <a:pPr algn="ctr" rtl="0" fontAlgn="ctr"/>
                      <a:r>
                        <a:rPr lang="es-CO" sz="1100" b="0" i="0" u="none" strike="noStrike">
                          <a:solidFill>
                            <a:srgbClr val="000000"/>
                          </a:solidFill>
                          <a:effectLst/>
                          <a:latin typeface="Calibri" panose="020F0502020204030204" pitchFamily="34" charset="0"/>
                        </a:rPr>
                        <a:t>Direcconamiento Estratégico</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a:solidFill>
                            <a:srgbClr val="000000"/>
                          </a:solidFill>
                          <a:effectLst/>
                          <a:latin typeface="Calibri" panose="020F0502020204030204" pitchFamily="34" charset="0"/>
                        </a:rPr>
                        <a:t>% cumplimiento de los objetivos estratégicos</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dirty="0">
                          <a:solidFill>
                            <a:srgbClr val="000000"/>
                          </a:solidFill>
                          <a:effectLst/>
                          <a:latin typeface="Calibri" panose="020F0502020204030204" pitchFamily="34" charset="0"/>
                        </a:rPr>
                        <a:t>Promedio del Cumplimiento de los objetivos estratégicos</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95%</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Anual</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0" i="0" u="none" strike="noStrike">
                          <a:solidFill>
                            <a:srgbClr val="000000"/>
                          </a:solidFill>
                          <a:effectLst/>
                          <a:latin typeface="Arial" panose="020B0604020202020204" pitchFamily="34" charset="0"/>
                        </a:rPr>
                        <a:t>91,80%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1" i="0" u="none" strike="noStrike">
                          <a:solidFill>
                            <a:srgbClr val="000000"/>
                          </a:solidFill>
                          <a:effectLst/>
                          <a:latin typeface="Arial" panose="020B0604020202020204" pitchFamily="34" charset="0"/>
                        </a:rPr>
                        <a:t>97%</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043678383"/>
                  </a:ext>
                </a:extLst>
              </a:tr>
              <a:tr h="947401">
                <a:tc>
                  <a:txBody>
                    <a:bodyPr/>
                    <a:lstStyle/>
                    <a:p>
                      <a:pPr algn="ctr" rtl="0" fontAlgn="ctr"/>
                      <a:r>
                        <a:rPr lang="es-CO" sz="1100" b="0" i="0" u="none" strike="noStrike">
                          <a:solidFill>
                            <a:srgbClr val="000000"/>
                          </a:solidFill>
                          <a:effectLst/>
                          <a:latin typeface="Calibri" panose="020F0502020204030204" pitchFamily="34" charset="0"/>
                        </a:rPr>
                        <a:t>Gestión Calidad</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Seguimiento a Acciones Correctivas.</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a:solidFill>
                            <a:srgbClr val="000000"/>
                          </a:solidFill>
                          <a:effectLst/>
                          <a:latin typeface="Calibri" panose="020F0502020204030204" pitchFamily="34" charset="0"/>
                        </a:rPr>
                        <a:t>(Nº de planes de mejoramiento cerradas a la fecha /Nº de planes de mejoramiento previsto cerrar en el periodo) *100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dirty="0">
                          <a:solidFill>
                            <a:srgbClr val="000000"/>
                          </a:solidFill>
                          <a:effectLst/>
                          <a:latin typeface="Calibri" panose="020F0502020204030204" pitchFamily="34" charset="0"/>
                        </a:rPr>
                        <a:t>90%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Semestral</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0" i="0" u="none" strike="noStrike">
                          <a:solidFill>
                            <a:srgbClr val="000000"/>
                          </a:solidFill>
                          <a:effectLst/>
                          <a:latin typeface="Arial" panose="020B0604020202020204" pitchFamily="34" charset="0"/>
                        </a:rPr>
                        <a:t>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1" i="0" u="none" strike="noStrike">
                          <a:solidFill>
                            <a:srgbClr val="000000"/>
                          </a:solidFill>
                          <a:effectLst/>
                          <a:latin typeface="Arial" panose="020B0604020202020204" pitchFamily="34" charset="0"/>
                        </a:rPr>
                        <a:t>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2806039995"/>
                  </a:ext>
                </a:extLst>
              </a:tr>
              <a:tr h="754567">
                <a:tc>
                  <a:txBody>
                    <a:bodyPr/>
                    <a:lstStyle/>
                    <a:p>
                      <a:pPr algn="ctr" rtl="0" fontAlgn="ctr"/>
                      <a:r>
                        <a:rPr lang="es-CO" sz="1100" b="0" i="0" u="none" strike="noStrike">
                          <a:solidFill>
                            <a:srgbClr val="000000"/>
                          </a:solidFill>
                          <a:effectLst/>
                          <a:latin typeface="Calibri" panose="020F0502020204030204" pitchFamily="34" charset="0"/>
                        </a:rPr>
                        <a:t>Gestión Calidad</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a:solidFill>
                            <a:srgbClr val="000000"/>
                          </a:solidFill>
                          <a:effectLst/>
                          <a:latin typeface="Calibri" panose="020F0502020204030204" pitchFamily="34" charset="0"/>
                        </a:rPr>
                        <a:t>Eficacia. Cumplimiento al programa de Auditorías.</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(Nº de auditorías internas al sistema de gestión  calidad realizadas / Nº de auditorías internas de calidad programadas)</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dirty="0">
                          <a:solidFill>
                            <a:srgbClr val="000000"/>
                          </a:solidFill>
                          <a:effectLst/>
                          <a:latin typeface="Calibri" panose="020F0502020204030204" pitchFamily="34" charset="0"/>
                        </a:rPr>
                        <a:t>Anual</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0" i="0" u="none" strike="noStrike">
                          <a:solidFill>
                            <a:srgbClr val="000000"/>
                          </a:solidFill>
                          <a:effectLst/>
                          <a:latin typeface="Arial" panose="020B0604020202020204" pitchFamily="34" charset="0"/>
                        </a:rPr>
                        <a:t>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1" i="0" u="none" strike="noStrike">
                          <a:solidFill>
                            <a:srgbClr val="000000"/>
                          </a:solidFill>
                          <a:effectLst/>
                          <a:latin typeface="Arial" panose="020B0604020202020204" pitchFamily="34" charset="0"/>
                        </a:rPr>
                        <a:t>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108583486"/>
                  </a:ext>
                </a:extLst>
              </a:tr>
              <a:tr h="754567">
                <a:tc>
                  <a:txBody>
                    <a:bodyPr/>
                    <a:lstStyle/>
                    <a:p>
                      <a:pPr algn="ctr" rtl="0" fontAlgn="ctr"/>
                      <a:r>
                        <a:rPr lang="es-CO" sz="1100" b="0" i="0" u="none" strike="noStrike">
                          <a:solidFill>
                            <a:srgbClr val="000000"/>
                          </a:solidFill>
                          <a:effectLst/>
                          <a:latin typeface="Calibri" panose="020F0502020204030204" pitchFamily="34" charset="0"/>
                        </a:rPr>
                        <a:t>Control Político</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Aprobación Controles Politicos</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a:solidFill>
                            <a:srgbClr val="000000"/>
                          </a:solidFill>
                          <a:effectLst/>
                          <a:latin typeface="Calibri" panose="020F0502020204030204" pitchFamily="34" charset="0"/>
                        </a:rPr>
                        <a:t>(Numero de Control Políticos realizados para el periodo/ Número de Proposiciones de Control Políticos aprobadas para el periodo/)*100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a:solidFill>
                            <a:srgbClr val="000000"/>
                          </a:solidFill>
                          <a:effectLst/>
                          <a:latin typeface="Calibri" panose="020F0502020204030204" pitchFamily="34" charset="0"/>
                        </a:rPr>
                        <a:t>95%</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1100" b="0" i="0" u="none" strike="noStrike" dirty="0">
                          <a:solidFill>
                            <a:srgbClr val="000000"/>
                          </a:solidFill>
                          <a:effectLst/>
                          <a:latin typeface="Calibri" panose="020F0502020204030204" pitchFamily="34" charset="0"/>
                        </a:rPr>
                        <a:t>Cuatrimestral</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0" i="0" u="none" strike="noStrike" dirty="0">
                          <a:solidFill>
                            <a:srgbClr val="000000"/>
                          </a:solidFill>
                          <a:effectLst/>
                          <a:latin typeface="Arial" panose="020B0604020202020204" pitchFamily="34" charset="0"/>
                        </a:rPr>
                        <a:t>85,70%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1" i="0" u="none" strike="noStrike">
                          <a:solidFill>
                            <a:srgbClr val="000000"/>
                          </a:solidFill>
                          <a:effectLst/>
                          <a:latin typeface="Arial" panose="020B0604020202020204" pitchFamily="34" charset="0"/>
                        </a:rPr>
                        <a:t>90%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407754434"/>
                  </a:ext>
                </a:extLst>
              </a:tr>
              <a:tr h="628806">
                <a:tc>
                  <a:txBody>
                    <a:bodyPr/>
                    <a:lstStyle/>
                    <a:p>
                      <a:pPr algn="ctr" rtl="0" fontAlgn="ctr"/>
                      <a:r>
                        <a:rPr lang="es-MX" sz="1100" b="0" i="0" u="none" strike="noStrike">
                          <a:solidFill>
                            <a:srgbClr val="000000"/>
                          </a:solidFill>
                          <a:effectLst/>
                          <a:latin typeface="Calibri" panose="020F0502020204030204" pitchFamily="34" charset="0"/>
                        </a:rPr>
                        <a:t>Tramites de Proyectos de Acuerdo </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a:solidFill>
                            <a:srgbClr val="000000"/>
                          </a:solidFill>
                          <a:effectLst/>
                          <a:latin typeface="Calibri" panose="020F0502020204030204" pitchFamily="34" charset="0"/>
                        </a:rPr>
                        <a:t>Proyectos de Acuerdo con cumplimiento de Requisitos </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1100" b="0" i="0" u="none" strike="noStrike">
                          <a:solidFill>
                            <a:srgbClr val="000000"/>
                          </a:solidFill>
                          <a:effectLst/>
                          <a:latin typeface="Calibri" panose="020F0502020204030204" pitchFamily="34" charset="0"/>
                        </a:rPr>
                        <a:t>(N° de Proyectos de Acuerdo con tramite completo / N° de Proyectos de Acuerdo Presentados)*100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0" i="0" u="none" strike="noStrike">
                          <a:solidFill>
                            <a:srgbClr val="000000"/>
                          </a:solidFill>
                          <a:effectLst/>
                          <a:latin typeface="Calibri" panose="020F0502020204030204" pitchFamily="34" charset="0"/>
                        </a:rPr>
                        <a:t>100%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100" b="0" i="0" u="none" strike="noStrike">
                          <a:solidFill>
                            <a:srgbClr val="000000"/>
                          </a:solidFill>
                          <a:effectLst/>
                          <a:latin typeface="Calibri" panose="020F0502020204030204" pitchFamily="34" charset="0"/>
                        </a:rPr>
                        <a:t>Cuatrimestral</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1100" b="0" i="0" u="none" strike="noStrike" dirty="0">
                          <a:solidFill>
                            <a:srgbClr val="000000"/>
                          </a:solidFill>
                          <a:effectLst/>
                          <a:latin typeface="Calibri" panose="020F0502020204030204" pitchFamily="34" charset="0"/>
                        </a:rPr>
                        <a:t>88,90%</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100" b="1" i="0" u="none" strike="noStrike" dirty="0">
                          <a:solidFill>
                            <a:srgbClr val="000000"/>
                          </a:solidFill>
                          <a:effectLst/>
                          <a:latin typeface="Calibri" panose="020F0502020204030204" pitchFamily="34" charset="0"/>
                        </a:rPr>
                        <a:t>89%</a:t>
                      </a:r>
                    </a:p>
                  </a:txBody>
                  <a:tcPr marL="8384" marR="8384" marT="83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2443845880"/>
                  </a:ext>
                </a:extLst>
              </a:tr>
            </a:tbl>
          </a:graphicData>
        </a:graphic>
      </p:graphicFrame>
    </p:spTree>
    <p:extLst>
      <p:ext uri="{BB962C8B-B14F-4D97-AF65-F5344CB8AC3E}">
        <p14:creationId xmlns:p14="http://schemas.microsoft.com/office/powerpoint/2010/main" val="3634333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7FD32BC-2180-04BF-BB12-DB242BA58CD0}"/>
              </a:ext>
            </a:extLst>
          </p:cNvPr>
          <p:cNvSpPr txBox="1"/>
          <p:nvPr/>
        </p:nvSpPr>
        <p:spPr>
          <a:xfrm>
            <a:off x="727960" y="693013"/>
            <a:ext cx="9398833" cy="369332"/>
          </a:xfrm>
          <a:prstGeom prst="rect">
            <a:avLst/>
          </a:prstGeom>
          <a:noFill/>
        </p:spPr>
        <p:txBody>
          <a:bodyPr wrap="square" rtlCol="0">
            <a:spAutoFit/>
          </a:bodyPr>
          <a:lstStyle/>
          <a:p>
            <a:r>
              <a:rPr lang="es-ES" b="1" dirty="0">
                <a:solidFill>
                  <a:schemeClr val="accent5"/>
                </a:solidFill>
              </a:rPr>
              <a:t>RESULTADOS POR PROCESO</a:t>
            </a:r>
          </a:p>
        </p:txBody>
      </p:sp>
      <p:graphicFrame>
        <p:nvGraphicFramePr>
          <p:cNvPr id="4" name="Tabla 3">
            <a:extLst>
              <a:ext uri="{FF2B5EF4-FFF2-40B4-BE49-F238E27FC236}">
                <a16:creationId xmlns:a16="http://schemas.microsoft.com/office/drawing/2014/main" id="{EB531A34-B056-11AA-CE51-EB5B7FAE6866}"/>
              </a:ext>
            </a:extLst>
          </p:cNvPr>
          <p:cNvGraphicFramePr>
            <a:graphicFrameLocks noGrp="1"/>
          </p:cNvGraphicFramePr>
          <p:nvPr>
            <p:extLst>
              <p:ext uri="{D42A27DB-BD31-4B8C-83A1-F6EECF244321}">
                <p14:modId xmlns:p14="http://schemas.microsoft.com/office/powerpoint/2010/main" val="733430415"/>
              </p:ext>
            </p:extLst>
          </p:nvPr>
        </p:nvGraphicFramePr>
        <p:xfrm>
          <a:off x="419724" y="1253331"/>
          <a:ext cx="11062742" cy="5453853"/>
        </p:xfrm>
        <a:graphic>
          <a:graphicData uri="http://schemas.openxmlformats.org/drawingml/2006/table">
            <a:tbl>
              <a:tblPr/>
              <a:tblGrid>
                <a:gridCol w="1765384">
                  <a:extLst>
                    <a:ext uri="{9D8B030D-6E8A-4147-A177-3AD203B41FA5}">
                      <a16:colId xmlns:a16="http://schemas.microsoft.com/office/drawing/2014/main" val="3697691538"/>
                    </a:ext>
                  </a:extLst>
                </a:gridCol>
                <a:gridCol w="1862381">
                  <a:extLst>
                    <a:ext uri="{9D8B030D-6E8A-4147-A177-3AD203B41FA5}">
                      <a16:colId xmlns:a16="http://schemas.microsoft.com/office/drawing/2014/main" val="3550396938"/>
                    </a:ext>
                  </a:extLst>
                </a:gridCol>
                <a:gridCol w="1847833">
                  <a:extLst>
                    <a:ext uri="{9D8B030D-6E8A-4147-A177-3AD203B41FA5}">
                      <a16:colId xmlns:a16="http://schemas.microsoft.com/office/drawing/2014/main" val="2078861424"/>
                    </a:ext>
                  </a:extLst>
                </a:gridCol>
                <a:gridCol w="1163988">
                  <a:extLst>
                    <a:ext uri="{9D8B030D-6E8A-4147-A177-3AD203B41FA5}">
                      <a16:colId xmlns:a16="http://schemas.microsoft.com/office/drawing/2014/main" val="896243996"/>
                    </a:ext>
                  </a:extLst>
                </a:gridCol>
                <a:gridCol w="1163988">
                  <a:extLst>
                    <a:ext uri="{9D8B030D-6E8A-4147-A177-3AD203B41FA5}">
                      <a16:colId xmlns:a16="http://schemas.microsoft.com/office/drawing/2014/main" val="2780904038"/>
                    </a:ext>
                  </a:extLst>
                </a:gridCol>
                <a:gridCol w="1629584">
                  <a:extLst>
                    <a:ext uri="{9D8B030D-6E8A-4147-A177-3AD203B41FA5}">
                      <a16:colId xmlns:a16="http://schemas.microsoft.com/office/drawing/2014/main" val="3028479250"/>
                    </a:ext>
                  </a:extLst>
                </a:gridCol>
                <a:gridCol w="1629584">
                  <a:extLst>
                    <a:ext uri="{9D8B030D-6E8A-4147-A177-3AD203B41FA5}">
                      <a16:colId xmlns:a16="http://schemas.microsoft.com/office/drawing/2014/main" val="2918604807"/>
                    </a:ext>
                  </a:extLst>
                </a:gridCol>
              </a:tblGrid>
              <a:tr h="94457">
                <a:tc rowSpan="2">
                  <a:txBody>
                    <a:bodyPr/>
                    <a:lstStyle/>
                    <a:p>
                      <a:pPr algn="ctr" rtl="0" fontAlgn="ctr"/>
                      <a:r>
                        <a:rPr lang="es-CO" sz="1000" b="0" i="0" u="none" strike="noStrike">
                          <a:solidFill>
                            <a:srgbClr val="FFFFFF"/>
                          </a:solidFill>
                          <a:effectLst/>
                          <a:latin typeface="Calibri" panose="020F0502020204030204" pitchFamily="34" charset="0"/>
                        </a:rPr>
                        <a:t>PROCESO</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1000" b="0" i="0" u="none" strike="noStrike">
                          <a:solidFill>
                            <a:srgbClr val="FFFFFF"/>
                          </a:solidFill>
                          <a:effectLst/>
                          <a:latin typeface="Calibri" panose="020F0502020204030204" pitchFamily="34" charset="0"/>
                        </a:rPr>
                        <a:t>Nombre</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1000" b="0" i="0" u="none" strike="noStrike">
                          <a:solidFill>
                            <a:srgbClr val="FFFFFF"/>
                          </a:solidFill>
                          <a:effectLst/>
                          <a:latin typeface="Calibri" panose="020F0502020204030204" pitchFamily="34" charset="0"/>
                        </a:rPr>
                        <a:t>Formula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1000" b="0" i="0" u="none" strike="noStrike">
                          <a:solidFill>
                            <a:srgbClr val="FFFFFF"/>
                          </a:solidFill>
                          <a:effectLst/>
                          <a:latin typeface="Calibri" panose="020F0502020204030204" pitchFamily="34" charset="0"/>
                        </a:rPr>
                        <a:t>Meta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1000" b="0" i="0" u="none" strike="noStrike">
                          <a:solidFill>
                            <a:srgbClr val="FFFFFF"/>
                          </a:solidFill>
                          <a:effectLst/>
                          <a:latin typeface="Calibri" panose="020F0502020204030204" pitchFamily="34" charset="0"/>
                        </a:rPr>
                        <a:t>Frecuencia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gridSpan="2">
                  <a:txBody>
                    <a:bodyPr/>
                    <a:lstStyle/>
                    <a:p>
                      <a:pPr algn="ctr" rtl="0" fontAlgn="ctr"/>
                      <a:r>
                        <a:rPr lang="es-CO" sz="1000" b="1" i="0" u="none" strike="noStrike">
                          <a:solidFill>
                            <a:srgbClr val="FFFFFF"/>
                          </a:solidFill>
                          <a:effectLst/>
                          <a:latin typeface="Calibri" panose="020F0502020204030204" pitchFamily="34" charset="0"/>
                        </a:rPr>
                        <a:t>RESULTADOS 2022</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hMerge="1">
                  <a:txBody>
                    <a:bodyPr/>
                    <a:lstStyle/>
                    <a:p>
                      <a:endParaRPr lang="es-CO"/>
                    </a:p>
                  </a:txBody>
                  <a:tcPr/>
                </a:tc>
                <a:extLst>
                  <a:ext uri="{0D108BD9-81ED-4DB2-BD59-A6C34878D82A}">
                    <a16:rowId xmlns:a16="http://schemas.microsoft.com/office/drawing/2014/main" val="2392457035"/>
                  </a:ext>
                </a:extLst>
              </a:tr>
              <a:tr h="100755">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tc>
                  <a:txBody>
                    <a:bodyPr/>
                    <a:lstStyle/>
                    <a:p>
                      <a:pPr algn="ctr" rtl="0" fontAlgn="ctr"/>
                      <a:r>
                        <a:rPr lang="es-CO" sz="1000" b="0" i="0" u="none" strike="noStrike">
                          <a:solidFill>
                            <a:srgbClr val="FFFFFF"/>
                          </a:solidFill>
                          <a:effectLst/>
                          <a:latin typeface="Calibri" panose="020F0502020204030204" pitchFamily="34" charset="0"/>
                        </a:rPr>
                        <a:t>RESULTADO</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rtl="0" fontAlgn="ctr"/>
                      <a:r>
                        <a:rPr lang="es-CO" sz="1050" b="1" i="0" u="none" strike="noStrike">
                          <a:solidFill>
                            <a:srgbClr val="FFFFFF"/>
                          </a:solidFill>
                          <a:effectLst/>
                          <a:latin typeface="Calibri" panose="020F0502020204030204" pitchFamily="34" charset="0"/>
                        </a:rPr>
                        <a:t>% CUMPLIMIENTO</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1568852691"/>
                  </a:ext>
                </a:extLst>
              </a:tr>
              <a:tr h="472287">
                <a:tc>
                  <a:txBody>
                    <a:bodyPr/>
                    <a:lstStyle/>
                    <a:p>
                      <a:pPr algn="ctr" rtl="0" fontAlgn="ctr"/>
                      <a:r>
                        <a:rPr lang="es-CO" sz="900" b="0" i="0" u="none" strike="noStrike" dirty="0">
                          <a:solidFill>
                            <a:srgbClr val="000000"/>
                          </a:solidFill>
                          <a:effectLst/>
                          <a:latin typeface="Calibri" panose="020F0502020204030204" pitchFamily="34" charset="0"/>
                        </a:rPr>
                        <a:t>Relacionamiento con la Ciudadanía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Cumplimiento de las Estrategias de relación estado con la ciudadanía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(Promedio del Avance de las actividades establecidas dentro del Plan de Relacionamiento Estado Ciudadano </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80%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900" b="0" i="0" u="none" strike="noStrike">
                          <a:solidFill>
                            <a:srgbClr val="000000"/>
                          </a:solidFill>
                          <a:effectLst/>
                          <a:latin typeface="Calibri" panose="020F0502020204030204" pitchFamily="34" charset="0"/>
                        </a:rPr>
                        <a:t>trimestral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77%</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96%</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2110113069"/>
                  </a:ext>
                </a:extLst>
              </a:tr>
              <a:tr h="472287">
                <a:tc>
                  <a:txBody>
                    <a:bodyPr/>
                    <a:lstStyle/>
                    <a:p>
                      <a:pPr algn="ctr" rtl="0" fontAlgn="ctr"/>
                      <a:r>
                        <a:rPr lang="es-CO" sz="900" b="0" i="0" u="none" strike="noStrike">
                          <a:solidFill>
                            <a:srgbClr val="000000"/>
                          </a:solidFill>
                          <a:effectLst/>
                          <a:latin typeface="Calibri" panose="020F0502020204030204" pitchFamily="34" charset="0"/>
                        </a:rPr>
                        <a:t>Relacionamiento con la Ciudadanía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Oportunidad en las respuestas emitidas a las PQRSDS</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dirty="0">
                          <a:solidFill>
                            <a:srgbClr val="000000"/>
                          </a:solidFill>
                          <a:effectLst/>
                          <a:latin typeface="Calibri" panose="020F0502020204030204" pitchFamily="34" charset="0"/>
                        </a:rPr>
                        <a:t>(</a:t>
                      </a:r>
                      <a:r>
                        <a:rPr lang="es-MX" sz="900" b="0" i="0" u="none" strike="noStrike" dirty="0" err="1">
                          <a:solidFill>
                            <a:srgbClr val="000000"/>
                          </a:solidFill>
                          <a:effectLst/>
                          <a:latin typeface="Calibri" panose="020F0502020204030204" pitchFamily="34" charset="0"/>
                        </a:rPr>
                        <a:t>N°</a:t>
                      </a:r>
                      <a:r>
                        <a:rPr lang="es-MX" sz="900" b="0" i="0" u="none" strike="noStrike" dirty="0">
                          <a:solidFill>
                            <a:srgbClr val="000000"/>
                          </a:solidFill>
                          <a:effectLst/>
                          <a:latin typeface="Calibri" panose="020F0502020204030204" pitchFamily="34" charset="0"/>
                        </a:rPr>
                        <a:t> de PQRSDS con respuesta oportuna en el periodo / </a:t>
                      </a:r>
                      <a:r>
                        <a:rPr lang="es-MX" sz="900" b="0" i="0" u="none" strike="noStrike" dirty="0" err="1">
                          <a:solidFill>
                            <a:srgbClr val="000000"/>
                          </a:solidFill>
                          <a:effectLst/>
                          <a:latin typeface="Calibri" panose="020F0502020204030204" pitchFamily="34" charset="0"/>
                        </a:rPr>
                        <a:t>N°</a:t>
                      </a:r>
                      <a:r>
                        <a:rPr lang="es-MX" sz="900" b="0" i="0" u="none" strike="noStrike" dirty="0">
                          <a:solidFill>
                            <a:srgbClr val="000000"/>
                          </a:solidFill>
                          <a:effectLst/>
                          <a:latin typeface="Calibri" panose="020F0502020204030204" pitchFamily="34" charset="0"/>
                        </a:rPr>
                        <a:t> de PQRSDS recibidos en el periodo) *100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900" b="0" i="0" u="none" strike="noStrike">
                          <a:solidFill>
                            <a:srgbClr val="000000"/>
                          </a:solidFill>
                          <a:effectLst/>
                          <a:latin typeface="Calibri" panose="020F0502020204030204" pitchFamily="34" charset="0"/>
                        </a:rPr>
                        <a:t>trimestral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731268926"/>
                  </a:ext>
                </a:extLst>
              </a:tr>
              <a:tr h="283372">
                <a:tc>
                  <a:txBody>
                    <a:bodyPr/>
                    <a:lstStyle/>
                    <a:p>
                      <a:pPr algn="ctr" rtl="0" fontAlgn="ctr"/>
                      <a:r>
                        <a:rPr lang="es-CO" sz="900" b="0" i="0" u="none" strike="noStrike">
                          <a:solidFill>
                            <a:srgbClr val="000000"/>
                          </a:solidFill>
                          <a:effectLst/>
                          <a:latin typeface="Calibri" panose="020F0502020204030204" pitchFamily="34" charset="0"/>
                        </a:rPr>
                        <a:t>Relacionamiento con la Ciudadanía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Percepción de la Satisfacción de los grupos de valor</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Calificación Promedio de la Encuesta de Percepción</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75%</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900" b="0" i="0" u="none" strike="noStrike">
                          <a:solidFill>
                            <a:srgbClr val="000000"/>
                          </a:solidFill>
                          <a:effectLst/>
                          <a:latin typeface="Calibri" panose="020F0502020204030204" pitchFamily="34" charset="0"/>
                        </a:rPr>
                        <a:t>Anual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78%</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625131948"/>
                  </a:ext>
                </a:extLst>
              </a:tr>
              <a:tr h="472287">
                <a:tc>
                  <a:txBody>
                    <a:bodyPr/>
                    <a:lstStyle/>
                    <a:p>
                      <a:pPr algn="ctr" rtl="0" fontAlgn="ctr"/>
                      <a:r>
                        <a:rPr lang="es-CO" sz="900" b="0" i="0" u="none" strike="noStrike">
                          <a:solidFill>
                            <a:srgbClr val="000000"/>
                          </a:solidFill>
                          <a:effectLst/>
                          <a:latin typeface="Calibri" panose="020F0502020204030204" pitchFamily="34" charset="0"/>
                        </a:rPr>
                        <a:t>Gestión Contractual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Publicidad de los procesos de contratación</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(Nº de procesos publicados en el SECOP II / Nº de procesos proyectados en el PAA)*100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900" b="0" i="0" u="none" strike="noStrike" dirty="0">
                          <a:solidFill>
                            <a:srgbClr val="000000"/>
                          </a:solidFill>
                          <a:effectLst/>
                          <a:latin typeface="Calibri" panose="020F0502020204030204" pitchFamily="34" charset="0"/>
                        </a:rPr>
                        <a:t>trimestral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592721082"/>
                  </a:ext>
                </a:extLst>
              </a:tr>
              <a:tr h="472287">
                <a:tc>
                  <a:txBody>
                    <a:bodyPr/>
                    <a:lstStyle/>
                    <a:p>
                      <a:pPr algn="ctr" rtl="0" fontAlgn="ctr"/>
                      <a:r>
                        <a:rPr lang="es-CO" sz="900" b="0" i="0" u="none" strike="noStrike">
                          <a:solidFill>
                            <a:srgbClr val="000000"/>
                          </a:solidFill>
                          <a:effectLst/>
                          <a:latin typeface="Calibri" panose="020F0502020204030204" pitchFamily="34" charset="0"/>
                        </a:rPr>
                        <a:t>Gestión Contractual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900" b="0" i="0" u="none" strike="noStrike" dirty="0">
                          <a:solidFill>
                            <a:srgbClr val="000000"/>
                          </a:solidFill>
                          <a:effectLst/>
                          <a:latin typeface="Calibri" panose="020F0502020204030204" pitchFamily="34" charset="0"/>
                        </a:rPr>
                        <a:t>Eficacia Ejecución de Contratos</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 De Informes  con calificación buena/ # total de Informes emitidos en el periodo)*100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98%</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900" b="0" i="0" u="none" strike="noStrike">
                          <a:solidFill>
                            <a:srgbClr val="000000"/>
                          </a:solidFill>
                          <a:effectLst/>
                          <a:latin typeface="Calibri" panose="020F0502020204030204" pitchFamily="34" charset="0"/>
                        </a:rPr>
                        <a:t>trimestral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dirty="0">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4107705212"/>
                  </a:ext>
                </a:extLst>
              </a:tr>
              <a:tr h="283372">
                <a:tc>
                  <a:txBody>
                    <a:bodyPr/>
                    <a:lstStyle/>
                    <a:p>
                      <a:pPr algn="ctr" rtl="0" fontAlgn="ctr"/>
                      <a:r>
                        <a:rPr lang="es-CO" sz="900" b="0" i="0" u="none" strike="noStrike">
                          <a:solidFill>
                            <a:srgbClr val="000000"/>
                          </a:solidFill>
                          <a:effectLst/>
                          <a:latin typeface="Calibri" panose="020F0502020204030204" pitchFamily="34" charset="0"/>
                        </a:rPr>
                        <a:t>Gestión Administrativa y Financiera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Porcentaje Acumulado de Ejecución del Presupuesto</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(Presupuesto Ejecutado/Presupuesto Aprobado)*100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95%</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900" b="0" i="0" u="none" strike="noStrike">
                          <a:solidFill>
                            <a:srgbClr val="000000"/>
                          </a:solidFill>
                          <a:effectLst/>
                          <a:latin typeface="Calibri" panose="020F0502020204030204" pitchFamily="34" charset="0"/>
                        </a:rPr>
                        <a:t>Anual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900" b="0" i="0" u="none" strike="noStrike">
                          <a:solidFill>
                            <a:srgbClr val="000000"/>
                          </a:solidFill>
                          <a:effectLst/>
                          <a:latin typeface="Calibri" panose="020F0502020204030204" pitchFamily="34" charset="0"/>
                        </a:rPr>
                        <a:t>67%</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71%</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46978252"/>
                  </a:ext>
                </a:extLst>
              </a:tr>
              <a:tr h="661202">
                <a:tc>
                  <a:txBody>
                    <a:bodyPr/>
                    <a:lstStyle/>
                    <a:p>
                      <a:pPr algn="ctr" rtl="0" fontAlgn="ctr"/>
                      <a:r>
                        <a:rPr lang="es-CO" sz="900" b="0" i="0" u="none" strike="noStrike">
                          <a:solidFill>
                            <a:srgbClr val="000000"/>
                          </a:solidFill>
                          <a:effectLst/>
                          <a:latin typeface="Calibri" panose="020F0502020204030204" pitchFamily="34" charset="0"/>
                        </a:rPr>
                        <a:t>Gestión Administrativa y Financiera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Porcentaje de cumplimiento en la presentación de informes</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Nivel de cumplimiento de elaboración y presentación de informes = (No de informes elaborados / No de informes requeridos)*100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900" b="0" i="0" u="none" strike="noStrike">
                          <a:solidFill>
                            <a:srgbClr val="000000"/>
                          </a:solidFill>
                          <a:effectLst/>
                          <a:latin typeface="Calibri" panose="020F0502020204030204" pitchFamily="34" charset="0"/>
                        </a:rPr>
                        <a:t>trimestral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900" b="0" i="0" u="none" strike="noStrike">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941221296"/>
                  </a:ext>
                </a:extLst>
              </a:tr>
              <a:tr h="283372">
                <a:tc>
                  <a:txBody>
                    <a:bodyPr/>
                    <a:lstStyle/>
                    <a:p>
                      <a:pPr algn="ctr" rtl="0" fontAlgn="ctr"/>
                      <a:r>
                        <a:rPr lang="es-CO" sz="900" b="0" i="0" u="none" strike="noStrike">
                          <a:solidFill>
                            <a:srgbClr val="000000"/>
                          </a:solidFill>
                          <a:effectLst/>
                          <a:latin typeface="Calibri" panose="020F0502020204030204" pitchFamily="34" charset="0"/>
                        </a:rPr>
                        <a:t>Gestión Administrativa y Financiera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Porcentaje Acumulado de Cumplimiento del Plan de Adquisiciones</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(Valor acumulado ejecutado en el periodo / valor Total del PAA)*100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95%</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900" b="0" i="0" u="none" strike="noStrike">
                          <a:solidFill>
                            <a:srgbClr val="000000"/>
                          </a:solidFill>
                          <a:effectLst/>
                          <a:latin typeface="Calibri" panose="020F0502020204030204" pitchFamily="34" charset="0"/>
                        </a:rPr>
                        <a:t>trimestral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91%</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96%</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2203714718"/>
                  </a:ext>
                </a:extLst>
              </a:tr>
              <a:tr h="755659">
                <a:tc>
                  <a:txBody>
                    <a:bodyPr/>
                    <a:lstStyle/>
                    <a:p>
                      <a:pPr algn="ctr" rtl="0" fontAlgn="ctr"/>
                      <a:r>
                        <a:rPr lang="es-CO" sz="900" b="0" i="0" u="none" strike="noStrike">
                          <a:solidFill>
                            <a:srgbClr val="000000"/>
                          </a:solidFill>
                          <a:effectLst/>
                          <a:latin typeface="Calibri" panose="020F0502020204030204" pitchFamily="34" charset="0"/>
                        </a:rPr>
                        <a:t>Gestión Administrativa y Financiera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CO" sz="900" b="0" i="0" u="none" strike="noStrike">
                          <a:solidFill>
                            <a:srgbClr val="000000"/>
                          </a:solidFill>
                          <a:effectLst/>
                          <a:latin typeface="Calibri" panose="020F0502020204030204" pitchFamily="34" charset="0"/>
                        </a:rPr>
                        <a:t>Variación del Inventario</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900" b="0" i="0" u="none" strike="noStrike">
                          <a:solidFill>
                            <a:srgbClr val="000000"/>
                          </a:solidFill>
                          <a:effectLst/>
                          <a:latin typeface="Calibri" panose="020F0502020204030204" pitchFamily="34" charset="0"/>
                        </a:rPr>
                        <a:t>(Elementos que deben existir en el inventario SINFA - Elementos que existen realmente en el inventario por conteo fisico)/ Elementos que deben existir en el inventario SINFA</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900" b="0" i="0" u="none" strike="noStrike">
                          <a:solidFill>
                            <a:srgbClr val="000000"/>
                          </a:solidFill>
                          <a:effectLst/>
                          <a:latin typeface="Calibri" panose="020F0502020204030204" pitchFamily="34" charset="0"/>
                        </a:rPr>
                        <a:t>trimestral</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900" b="0" i="0" u="none" strike="noStrike">
                          <a:solidFill>
                            <a:srgbClr val="000000"/>
                          </a:solidFill>
                          <a:effectLst/>
                          <a:latin typeface="Calibri" panose="020F0502020204030204" pitchFamily="34" charset="0"/>
                        </a:rPr>
                        <a:t>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00" b="1" i="0" u="none" strike="noStrike" dirty="0">
                          <a:solidFill>
                            <a:srgbClr val="000000"/>
                          </a:solidFill>
                          <a:effectLst/>
                          <a:latin typeface="Calibri" panose="020F0502020204030204" pitchFamily="34" charset="0"/>
                        </a:rPr>
                        <a:t>100%</a:t>
                      </a:r>
                    </a:p>
                  </a:txBody>
                  <a:tcPr marL="6297" marR="6297" marT="62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210603326"/>
                  </a:ext>
                </a:extLst>
              </a:tr>
              <a:tr h="755659">
                <a:tc>
                  <a:txBody>
                    <a:bodyPr/>
                    <a:lstStyle/>
                    <a:p>
                      <a:pPr algn="ctr" rtl="0" fontAlgn="ctr"/>
                      <a:r>
                        <a:rPr lang="es-CO" sz="800" b="0" i="0" u="none" strike="noStrike" dirty="0">
                          <a:solidFill>
                            <a:srgbClr val="000000"/>
                          </a:solidFill>
                          <a:effectLst/>
                          <a:latin typeface="Calibri" panose="020F0502020204030204" pitchFamily="34" charset="0"/>
                        </a:rPr>
                        <a:t>Gestión Comunicaciones</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800" b="0" i="0" u="none" strike="noStrike" dirty="0">
                          <a:solidFill>
                            <a:srgbClr val="000000"/>
                          </a:solidFill>
                          <a:effectLst/>
                          <a:latin typeface="Calibri" panose="020F0502020204030204" pitchFamily="34" charset="0"/>
                        </a:rPr>
                        <a:t> Cumplimiento del Plan de Comunicaciones</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s-MX" sz="800" b="0" i="0" u="none" strike="noStrike">
                          <a:solidFill>
                            <a:srgbClr val="000000"/>
                          </a:solidFill>
                          <a:effectLst/>
                          <a:latin typeface="Calibri" panose="020F0502020204030204" pitchFamily="34" charset="0"/>
                        </a:rPr>
                        <a:t>(Número de estrategias ejecutadas del PEC en el periodo/ Número de estrategias planeadas del PEC en el periodo) *100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800" b="0" i="0" u="none" strike="noStrike">
                          <a:solidFill>
                            <a:srgbClr val="000000"/>
                          </a:solidFill>
                          <a:effectLst/>
                          <a:latin typeface="Calibri" panose="020F0502020204030204" pitchFamily="34" charset="0"/>
                        </a:rPr>
                        <a:t>95%</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800" b="0" i="0" u="none" strike="noStrike">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CO" sz="800" b="0" i="0" u="none" strike="noStrike">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800" b="1"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476382375"/>
                  </a:ext>
                </a:extLst>
              </a:tr>
            </a:tbl>
          </a:graphicData>
        </a:graphic>
      </p:graphicFrame>
    </p:spTree>
    <p:extLst>
      <p:ext uri="{BB962C8B-B14F-4D97-AF65-F5344CB8AC3E}">
        <p14:creationId xmlns:p14="http://schemas.microsoft.com/office/powerpoint/2010/main" val="1643621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7FD32BC-2180-04BF-BB12-DB242BA58CD0}"/>
              </a:ext>
            </a:extLst>
          </p:cNvPr>
          <p:cNvSpPr txBox="1"/>
          <p:nvPr/>
        </p:nvSpPr>
        <p:spPr>
          <a:xfrm>
            <a:off x="727960" y="693013"/>
            <a:ext cx="9398833" cy="369332"/>
          </a:xfrm>
          <a:prstGeom prst="rect">
            <a:avLst/>
          </a:prstGeom>
          <a:noFill/>
        </p:spPr>
        <p:txBody>
          <a:bodyPr wrap="square" rtlCol="0">
            <a:spAutoFit/>
          </a:bodyPr>
          <a:lstStyle/>
          <a:p>
            <a:r>
              <a:rPr lang="es-ES" b="1" dirty="0">
                <a:solidFill>
                  <a:schemeClr val="accent5"/>
                </a:solidFill>
              </a:rPr>
              <a:t>RESULTADOS POR PROCESO</a:t>
            </a:r>
          </a:p>
        </p:txBody>
      </p:sp>
      <p:graphicFrame>
        <p:nvGraphicFramePr>
          <p:cNvPr id="5" name="Tabla 4">
            <a:extLst>
              <a:ext uri="{FF2B5EF4-FFF2-40B4-BE49-F238E27FC236}">
                <a16:creationId xmlns:a16="http://schemas.microsoft.com/office/drawing/2014/main" id="{98F1A309-3157-A358-83DB-524D05883876}"/>
              </a:ext>
            </a:extLst>
          </p:cNvPr>
          <p:cNvGraphicFramePr>
            <a:graphicFrameLocks noGrp="1"/>
          </p:cNvGraphicFramePr>
          <p:nvPr>
            <p:extLst>
              <p:ext uri="{D42A27DB-BD31-4B8C-83A1-F6EECF244321}">
                <p14:modId xmlns:p14="http://schemas.microsoft.com/office/powerpoint/2010/main" val="3547515332"/>
              </p:ext>
            </p:extLst>
          </p:nvPr>
        </p:nvGraphicFramePr>
        <p:xfrm>
          <a:off x="420264" y="1253333"/>
          <a:ext cx="11122162" cy="5245878"/>
        </p:xfrm>
        <a:graphic>
          <a:graphicData uri="http://schemas.openxmlformats.org/drawingml/2006/table">
            <a:tbl>
              <a:tblPr/>
              <a:tblGrid>
                <a:gridCol w="1774867">
                  <a:extLst>
                    <a:ext uri="{9D8B030D-6E8A-4147-A177-3AD203B41FA5}">
                      <a16:colId xmlns:a16="http://schemas.microsoft.com/office/drawing/2014/main" val="1082485686"/>
                    </a:ext>
                  </a:extLst>
                </a:gridCol>
                <a:gridCol w="1872386">
                  <a:extLst>
                    <a:ext uri="{9D8B030D-6E8A-4147-A177-3AD203B41FA5}">
                      <a16:colId xmlns:a16="http://schemas.microsoft.com/office/drawing/2014/main" val="369805201"/>
                    </a:ext>
                  </a:extLst>
                </a:gridCol>
                <a:gridCol w="1857757">
                  <a:extLst>
                    <a:ext uri="{9D8B030D-6E8A-4147-A177-3AD203B41FA5}">
                      <a16:colId xmlns:a16="http://schemas.microsoft.com/office/drawing/2014/main" val="1349840838"/>
                    </a:ext>
                  </a:extLst>
                </a:gridCol>
                <a:gridCol w="1170240">
                  <a:extLst>
                    <a:ext uri="{9D8B030D-6E8A-4147-A177-3AD203B41FA5}">
                      <a16:colId xmlns:a16="http://schemas.microsoft.com/office/drawing/2014/main" val="986691489"/>
                    </a:ext>
                  </a:extLst>
                </a:gridCol>
                <a:gridCol w="1170240">
                  <a:extLst>
                    <a:ext uri="{9D8B030D-6E8A-4147-A177-3AD203B41FA5}">
                      <a16:colId xmlns:a16="http://schemas.microsoft.com/office/drawing/2014/main" val="616197521"/>
                    </a:ext>
                  </a:extLst>
                </a:gridCol>
                <a:gridCol w="1638336">
                  <a:extLst>
                    <a:ext uri="{9D8B030D-6E8A-4147-A177-3AD203B41FA5}">
                      <a16:colId xmlns:a16="http://schemas.microsoft.com/office/drawing/2014/main" val="3623962821"/>
                    </a:ext>
                  </a:extLst>
                </a:gridCol>
                <a:gridCol w="1638336">
                  <a:extLst>
                    <a:ext uri="{9D8B030D-6E8A-4147-A177-3AD203B41FA5}">
                      <a16:colId xmlns:a16="http://schemas.microsoft.com/office/drawing/2014/main" val="899344773"/>
                    </a:ext>
                  </a:extLst>
                </a:gridCol>
              </a:tblGrid>
              <a:tr h="75486">
                <a:tc rowSpan="2">
                  <a:txBody>
                    <a:bodyPr/>
                    <a:lstStyle/>
                    <a:p>
                      <a:pPr algn="ctr" rtl="0" fontAlgn="ctr"/>
                      <a:r>
                        <a:rPr lang="es-CO" sz="900" b="0" i="0" u="none" strike="noStrike" dirty="0">
                          <a:solidFill>
                            <a:srgbClr val="FFFFFF"/>
                          </a:solidFill>
                          <a:effectLst/>
                          <a:latin typeface="Calibri" panose="020F0502020204030204" pitchFamily="34" charset="0"/>
                        </a:rPr>
                        <a:t>PROCESO</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900" b="0" i="0" u="none" strike="noStrike" dirty="0">
                          <a:solidFill>
                            <a:srgbClr val="FFFFFF"/>
                          </a:solidFill>
                          <a:effectLst/>
                          <a:latin typeface="Calibri" panose="020F0502020204030204" pitchFamily="34" charset="0"/>
                        </a:rPr>
                        <a:t>Nombre</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900" b="0" i="0" u="none" strike="noStrike" dirty="0">
                          <a:solidFill>
                            <a:srgbClr val="FFFFFF"/>
                          </a:solidFill>
                          <a:effectLst/>
                          <a:latin typeface="Calibri" panose="020F0502020204030204" pitchFamily="34" charset="0"/>
                        </a:rPr>
                        <a:t>Formula</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900" b="0" i="0" u="none" strike="noStrike" dirty="0">
                          <a:solidFill>
                            <a:srgbClr val="FFFFFF"/>
                          </a:solidFill>
                          <a:effectLst/>
                          <a:latin typeface="Calibri" panose="020F0502020204030204" pitchFamily="34" charset="0"/>
                        </a:rPr>
                        <a:t>Meta</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rowSpan="2">
                  <a:txBody>
                    <a:bodyPr/>
                    <a:lstStyle/>
                    <a:p>
                      <a:pPr algn="ctr" rtl="0" fontAlgn="ctr"/>
                      <a:r>
                        <a:rPr lang="es-CO" sz="900" b="0" i="0" u="none" strike="noStrike" dirty="0">
                          <a:solidFill>
                            <a:srgbClr val="FFFFFF"/>
                          </a:solidFill>
                          <a:effectLst/>
                          <a:latin typeface="Calibri" panose="020F0502020204030204" pitchFamily="34" charset="0"/>
                        </a:rPr>
                        <a:t>Frecuencia</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gridSpan="2">
                  <a:txBody>
                    <a:bodyPr/>
                    <a:lstStyle/>
                    <a:p>
                      <a:pPr algn="ctr" rtl="0" fontAlgn="ctr"/>
                      <a:r>
                        <a:rPr lang="es-CO" sz="800" b="1" i="0" u="none" strike="noStrike">
                          <a:solidFill>
                            <a:srgbClr val="FFFFFF"/>
                          </a:solidFill>
                          <a:effectLst/>
                          <a:latin typeface="Calibri" panose="020F0502020204030204" pitchFamily="34" charset="0"/>
                        </a:rPr>
                        <a:t>RESULTADOS 2022</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hMerge="1">
                  <a:txBody>
                    <a:bodyPr/>
                    <a:lstStyle/>
                    <a:p>
                      <a:endParaRPr lang="es-CO"/>
                    </a:p>
                  </a:txBody>
                  <a:tcPr/>
                </a:tc>
                <a:extLst>
                  <a:ext uri="{0D108BD9-81ED-4DB2-BD59-A6C34878D82A}">
                    <a16:rowId xmlns:a16="http://schemas.microsoft.com/office/drawing/2014/main" val="2868695238"/>
                  </a:ext>
                </a:extLst>
              </a:tr>
              <a:tr h="80519">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tc vMerge="1">
                  <a:txBody>
                    <a:bodyPr/>
                    <a:lstStyle/>
                    <a:p>
                      <a:endParaRPr lang="es-CO"/>
                    </a:p>
                  </a:txBody>
                  <a:tcPr/>
                </a:tc>
                <a:tc>
                  <a:txBody>
                    <a:bodyPr/>
                    <a:lstStyle/>
                    <a:p>
                      <a:pPr algn="ctr" rtl="0" fontAlgn="ctr"/>
                      <a:r>
                        <a:rPr lang="es-CO" sz="900" b="0" i="0" u="none" strike="noStrike" dirty="0">
                          <a:solidFill>
                            <a:srgbClr val="FFFFFF"/>
                          </a:solidFill>
                          <a:effectLst/>
                          <a:latin typeface="Calibri" panose="020F0502020204030204" pitchFamily="34" charset="0"/>
                        </a:rPr>
                        <a:t>RESULTADO</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rtl="0" fontAlgn="ctr"/>
                      <a:r>
                        <a:rPr lang="es-CO" sz="900" b="1" i="0" u="none" strike="noStrike" dirty="0">
                          <a:solidFill>
                            <a:srgbClr val="FFFFFF"/>
                          </a:solidFill>
                          <a:effectLst/>
                          <a:latin typeface="Calibri" panose="020F0502020204030204" pitchFamily="34" charset="0"/>
                        </a:rPr>
                        <a:t>% CUMPLIMIENTO</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2995340344"/>
                  </a:ext>
                </a:extLst>
              </a:tr>
              <a:tr h="528405">
                <a:tc>
                  <a:txBody>
                    <a:bodyPr/>
                    <a:lstStyle/>
                    <a:p>
                      <a:pPr algn="ctr" rtl="0" fontAlgn="ctr"/>
                      <a:r>
                        <a:rPr lang="es-CO" sz="900" b="0" i="0" u="none" strike="noStrike" dirty="0" err="1">
                          <a:solidFill>
                            <a:srgbClr val="000000"/>
                          </a:solidFill>
                          <a:effectLst/>
                          <a:latin typeface="Calibri" panose="020F0502020204030204" pitchFamily="34" charset="0"/>
                        </a:rPr>
                        <a:t>Gestion</a:t>
                      </a:r>
                      <a:r>
                        <a:rPr lang="es-CO" sz="900" b="0" i="0" u="none" strike="noStrike" dirty="0">
                          <a:solidFill>
                            <a:srgbClr val="000000"/>
                          </a:solidFill>
                          <a:effectLst/>
                          <a:latin typeface="Calibri" panose="020F0502020204030204" pitchFamily="34" charset="0"/>
                        </a:rPr>
                        <a:t> de </a:t>
                      </a:r>
                      <a:r>
                        <a:rPr lang="es-CO" sz="900" b="0" i="0" u="none" strike="noStrike" dirty="0" err="1">
                          <a:solidFill>
                            <a:srgbClr val="000000"/>
                          </a:solidFill>
                          <a:effectLst/>
                          <a:latin typeface="Calibri" panose="020F0502020204030204" pitchFamily="34" charset="0"/>
                        </a:rPr>
                        <a:t>Evaluacion</a:t>
                      </a:r>
                      <a:r>
                        <a:rPr lang="es-CO" sz="900" b="0" i="0" u="none" strike="noStrike" dirty="0">
                          <a:solidFill>
                            <a:srgbClr val="000000"/>
                          </a:solidFill>
                          <a:effectLst/>
                          <a:latin typeface="Calibri" panose="020F0502020204030204" pitchFamily="34" charset="0"/>
                        </a:rPr>
                        <a:t> Independiente</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900" b="0" i="0" u="none" strike="noStrike" dirty="0">
                          <a:solidFill>
                            <a:srgbClr val="000000"/>
                          </a:solidFill>
                          <a:effectLst/>
                          <a:latin typeface="Calibri" panose="020F0502020204030204" pitchFamily="34" charset="0"/>
                        </a:rPr>
                        <a:t>Cumplimiento de Plan Anual de Auditorias</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(Número de auditorias e informes ejecutados en el periodo / Número de auditorias e informes</a:t>
                      </a:r>
                      <a:br>
                        <a:rPr lang="es-CO" sz="900" b="0" i="0" u="none" strike="noStrike" dirty="0">
                          <a:solidFill>
                            <a:srgbClr val="000000"/>
                          </a:solidFill>
                          <a:effectLst/>
                          <a:latin typeface="Calibri" panose="020F0502020204030204" pitchFamily="34" charset="0"/>
                        </a:rPr>
                      </a:br>
                      <a:r>
                        <a:rPr lang="es-CO" sz="900" b="0" i="0" u="none" strike="noStrike" dirty="0">
                          <a:solidFill>
                            <a:srgbClr val="000000"/>
                          </a:solidFill>
                          <a:effectLst/>
                          <a:latin typeface="Calibri" panose="020F0502020204030204" pitchFamily="34" charset="0"/>
                        </a:rPr>
                        <a:t>establecidos en el plan anual de auditorias) *100 </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909518964"/>
                  </a:ext>
                </a:extLst>
              </a:tr>
              <a:tr h="452919">
                <a:tc>
                  <a:txBody>
                    <a:bodyPr/>
                    <a:lstStyle/>
                    <a:p>
                      <a:pPr algn="ctr" rtl="0" fontAlgn="ctr"/>
                      <a:r>
                        <a:rPr lang="es-CO" sz="900" b="0" i="0" u="none" strike="noStrike">
                          <a:solidFill>
                            <a:srgbClr val="000000"/>
                          </a:solidFill>
                          <a:effectLst/>
                          <a:latin typeface="Calibri" panose="020F0502020204030204" pitchFamily="34" charset="0"/>
                        </a:rPr>
                        <a:t>Gestión Documental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a:solidFill>
                            <a:srgbClr val="000000"/>
                          </a:solidFill>
                          <a:effectLst/>
                          <a:latin typeface="Calibri" panose="020F0502020204030204" pitchFamily="34" charset="0"/>
                        </a:rPr>
                        <a:t>Oportunidad en la entrega de la correspondencia</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900" b="0" i="0" u="none" strike="noStrike" dirty="0">
                          <a:solidFill>
                            <a:srgbClr val="000000"/>
                          </a:solidFill>
                          <a:effectLst/>
                          <a:latin typeface="Calibri" panose="020F0502020204030204" pitchFamily="34" charset="0"/>
                        </a:rPr>
                        <a:t> (</a:t>
                      </a:r>
                      <a:r>
                        <a:rPr lang="es-CO" sz="900" b="0" i="0" u="none" strike="noStrike" dirty="0" err="1">
                          <a:solidFill>
                            <a:srgbClr val="000000"/>
                          </a:solidFill>
                          <a:effectLst/>
                          <a:latin typeface="Calibri" panose="020F0502020204030204" pitchFamily="34" charset="0"/>
                        </a:rPr>
                        <a:t>N°</a:t>
                      </a:r>
                      <a:r>
                        <a:rPr lang="es-CO" sz="900" b="0" i="0" u="none" strike="noStrike" dirty="0">
                          <a:solidFill>
                            <a:srgbClr val="000000"/>
                          </a:solidFill>
                          <a:effectLst/>
                          <a:latin typeface="Calibri" panose="020F0502020204030204" pitchFamily="34" charset="0"/>
                        </a:rPr>
                        <a:t> de documentos entregados oportunamente / Número de documentos recibidos y radicados )*100 </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95%</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900" b="0" i="0" u="none" strike="noStrike">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2680109173"/>
                  </a:ext>
                </a:extLst>
              </a:tr>
              <a:tr h="377432">
                <a:tc>
                  <a:txBody>
                    <a:bodyPr/>
                    <a:lstStyle/>
                    <a:p>
                      <a:pPr algn="ctr" rtl="0" fontAlgn="ctr"/>
                      <a:r>
                        <a:rPr lang="es-CO" sz="900" b="0" i="0" u="none" strike="noStrike">
                          <a:solidFill>
                            <a:srgbClr val="000000"/>
                          </a:solidFill>
                          <a:effectLst/>
                          <a:latin typeface="Calibri" panose="020F0502020204030204" pitchFamily="34" charset="0"/>
                        </a:rPr>
                        <a:t>Gestión Documental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a:solidFill>
                            <a:srgbClr val="000000"/>
                          </a:solidFill>
                          <a:effectLst/>
                          <a:latin typeface="Calibri" panose="020F0502020204030204" pitchFamily="34" charset="0"/>
                        </a:rPr>
                        <a:t>Cumplimiento del Programa de Gestión Documental - PGD</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900" b="0" i="0" u="none" strike="noStrike">
                          <a:solidFill>
                            <a:srgbClr val="000000"/>
                          </a:solidFill>
                          <a:effectLst/>
                          <a:latin typeface="Calibri" panose="020F0502020204030204" pitchFamily="34" charset="0"/>
                        </a:rPr>
                        <a:t>(N° de actividades ejecutadas en el periodo / N° de actividades programadas del periodo) x 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90%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900" b="0" i="0" u="none" strike="noStrike">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129720371"/>
                  </a:ext>
                </a:extLst>
              </a:tr>
              <a:tr h="377432">
                <a:tc>
                  <a:txBody>
                    <a:bodyPr/>
                    <a:lstStyle/>
                    <a:p>
                      <a:pPr algn="ctr" rtl="0" fontAlgn="ctr"/>
                      <a:r>
                        <a:rPr lang="es-CO" sz="900" b="0" i="0" u="none" strike="noStrike">
                          <a:solidFill>
                            <a:srgbClr val="000000"/>
                          </a:solidFill>
                          <a:effectLst/>
                          <a:latin typeface="Calibri" panose="020F0502020204030204" pitchFamily="34" charset="0"/>
                        </a:rPr>
                        <a:t>Gestión Jurídica </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a:solidFill>
                            <a:srgbClr val="000000"/>
                          </a:solidFill>
                          <a:effectLst/>
                          <a:latin typeface="Calibri" panose="020F0502020204030204" pitchFamily="34" charset="0"/>
                        </a:rPr>
                        <a:t>Atención oportuna a las solicitudes de asesoría Jurídica</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pt-BR" sz="900" b="0" i="0" u="none" strike="noStrike">
                          <a:solidFill>
                            <a:srgbClr val="000000"/>
                          </a:solidFill>
                          <a:effectLst/>
                          <a:latin typeface="Calibri" panose="020F0502020204030204" pitchFamily="34" charset="0"/>
                        </a:rPr>
                        <a:t>(N° de solicitudes jurídicas atendidas oportunamente / N° Total de Solicitudes realizadas) *100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85%</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94%</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2033707458"/>
                  </a:ext>
                </a:extLst>
              </a:tr>
              <a:tr h="528405">
                <a:tc>
                  <a:txBody>
                    <a:bodyPr/>
                    <a:lstStyle/>
                    <a:p>
                      <a:pPr algn="ctr" rtl="0" fontAlgn="ctr"/>
                      <a:r>
                        <a:rPr lang="es-CO" sz="900" b="0" i="0" u="none" strike="noStrike">
                          <a:solidFill>
                            <a:srgbClr val="000000"/>
                          </a:solidFill>
                          <a:effectLst/>
                          <a:latin typeface="Calibri" panose="020F0502020204030204" pitchFamily="34" charset="0"/>
                        </a:rPr>
                        <a:t>Gestión del Talento Humano</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a:solidFill>
                            <a:srgbClr val="000000"/>
                          </a:solidFill>
                          <a:effectLst/>
                          <a:latin typeface="Calibri" panose="020F0502020204030204" pitchFamily="34" charset="0"/>
                        </a:rPr>
                        <a:t>Eficacia del Plan Institucional de Capacitación</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a:solidFill>
                            <a:srgbClr val="000000"/>
                          </a:solidFill>
                          <a:effectLst/>
                          <a:latin typeface="Calibri" panose="020F0502020204030204" pitchFamily="34" charset="0"/>
                        </a:rPr>
                        <a:t> ( N° de capacitaciones con evaluación satisfactoria / N° de capacitaciones establecidas plan institucional de capacitación)*100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96%</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251693178"/>
                  </a:ext>
                </a:extLst>
              </a:tr>
              <a:tr h="528405">
                <a:tc>
                  <a:txBody>
                    <a:bodyPr/>
                    <a:lstStyle/>
                    <a:p>
                      <a:pPr algn="ctr" rtl="0" fontAlgn="ctr"/>
                      <a:r>
                        <a:rPr lang="es-CO" sz="900" b="0" i="0" u="none" strike="noStrike" dirty="0">
                          <a:solidFill>
                            <a:srgbClr val="000000"/>
                          </a:solidFill>
                          <a:effectLst/>
                          <a:latin typeface="Calibri" panose="020F0502020204030204" pitchFamily="34" charset="0"/>
                        </a:rPr>
                        <a:t>Gestión del Talento Humano</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dirty="0">
                          <a:solidFill>
                            <a:srgbClr val="000000"/>
                          </a:solidFill>
                          <a:effectLst/>
                          <a:latin typeface="Calibri" panose="020F0502020204030204" pitchFamily="34" charset="0"/>
                        </a:rPr>
                        <a:t>Cumplimiento del plan estratégico de Talento Humano</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a:solidFill>
                            <a:srgbClr val="000000"/>
                          </a:solidFill>
                          <a:effectLst/>
                          <a:latin typeface="Calibri" panose="020F0502020204030204" pitchFamily="34" charset="0"/>
                        </a:rPr>
                        <a:t>(N° de actividades implementadas en el plan estratégico del talento humano /N° de actividades establecidas en el plan estratégico del talento humano)*100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75%</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98%</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017445934"/>
                  </a:ext>
                </a:extLst>
              </a:tr>
              <a:tr h="377432">
                <a:tc>
                  <a:txBody>
                    <a:bodyPr/>
                    <a:lstStyle/>
                    <a:p>
                      <a:pPr algn="ctr" rtl="0" fontAlgn="ctr"/>
                      <a:r>
                        <a:rPr lang="es-MX" sz="900" b="0" i="0" u="none" strike="noStrike" dirty="0">
                          <a:solidFill>
                            <a:srgbClr val="000000"/>
                          </a:solidFill>
                          <a:effectLst/>
                          <a:latin typeface="Calibri" panose="020F0502020204030204" pitchFamily="34" charset="0"/>
                        </a:rPr>
                        <a:t>Gestión de Tecnologías de la Información</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900" b="0" i="0" u="none" strike="noStrike">
                          <a:solidFill>
                            <a:srgbClr val="000000"/>
                          </a:solidFill>
                          <a:effectLst/>
                          <a:latin typeface="Calibri" panose="020F0502020204030204" pitchFamily="34" charset="0"/>
                        </a:rPr>
                        <a:t>Cumplimiento Plan Anual de mantenimientos TI</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dirty="0">
                          <a:solidFill>
                            <a:srgbClr val="000000"/>
                          </a:solidFill>
                          <a:effectLst/>
                          <a:latin typeface="Calibri" panose="020F0502020204030204" pitchFamily="34" charset="0"/>
                        </a:rPr>
                        <a:t>(</a:t>
                      </a:r>
                      <a:r>
                        <a:rPr lang="es-MX" sz="900" b="0" i="0" u="none" strike="noStrike" dirty="0" err="1">
                          <a:solidFill>
                            <a:srgbClr val="000000"/>
                          </a:solidFill>
                          <a:effectLst/>
                          <a:latin typeface="Calibri" panose="020F0502020204030204" pitchFamily="34" charset="0"/>
                        </a:rPr>
                        <a:t>N°</a:t>
                      </a:r>
                      <a:r>
                        <a:rPr lang="es-MX" sz="900" b="0" i="0" u="none" strike="noStrike" dirty="0">
                          <a:solidFill>
                            <a:srgbClr val="000000"/>
                          </a:solidFill>
                          <a:effectLst/>
                          <a:latin typeface="Calibri" panose="020F0502020204030204" pitchFamily="34" charset="0"/>
                        </a:rPr>
                        <a:t> de actividades ejecutadas en el periodo / </a:t>
                      </a:r>
                      <a:r>
                        <a:rPr lang="es-MX" sz="900" b="0" i="0" u="none" strike="noStrike" dirty="0" err="1">
                          <a:solidFill>
                            <a:srgbClr val="000000"/>
                          </a:solidFill>
                          <a:effectLst/>
                          <a:latin typeface="Calibri" panose="020F0502020204030204" pitchFamily="34" charset="0"/>
                        </a:rPr>
                        <a:t>N°</a:t>
                      </a:r>
                      <a:r>
                        <a:rPr lang="es-MX" sz="900" b="0" i="0" u="none" strike="noStrike" dirty="0">
                          <a:solidFill>
                            <a:srgbClr val="000000"/>
                          </a:solidFill>
                          <a:effectLst/>
                          <a:latin typeface="Calibri" panose="020F0502020204030204" pitchFamily="34" charset="0"/>
                        </a:rPr>
                        <a:t> de actividades planeadas en el periodo)*100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95%</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66,70%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dirty="0">
                          <a:solidFill>
                            <a:srgbClr val="000000"/>
                          </a:solidFill>
                          <a:effectLst/>
                          <a:latin typeface="Calibri" panose="020F0502020204030204" pitchFamily="34" charset="0"/>
                        </a:rPr>
                        <a:t>70%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063051722"/>
                  </a:ext>
                </a:extLst>
              </a:tr>
              <a:tr h="603893">
                <a:tc>
                  <a:txBody>
                    <a:bodyPr/>
                    <a:lstStyle/>
                    <a:p>
                      <a:pPr algn="ctr" rtl="0" fontAlgn="ctr"/>
                      <a:r>
                        <a:rPr lang="es-MX" sz="900" b="0" i="0" u="none" strike="noStrike">
                          <a:solidFill>
                            <a:srgbClr val="000000"/>
                          </a:solidFill>
                          <a:effectLst/>
                          <a:latin typeface="Calibri" panose="020F0502020204030204" pitchFamily="34" charset="0"/>
                        </a:rPr>
                        <a:t>Gestión de Tecnologías de la Información</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900" b="0" i="0" u="none" strike="noStrike">
                          <a:solidFill>
                            <a:srgbClr val="000000"/>
                          </a:solidFill>
                          <a:effectLst/>
                          <a:latin typeface="Calibri" panose="020F0502020204030204" pitchFamily="34" charset="0"/>
                        </a:rPr>
                        <a:t>Incidencias TI gestionadas Oportunamente</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CO" sz="900" b="0" i="0" u="none" strike="noStrike">
                          <a:solidFill>
                            <a:srgbClr val="000000"/>
                          </a:solidFill>
                          <a:effectLst/>
                          <a:latin typeface="Calibri" panose="020F0502020204030204" pitchFamily="34" charset="0"/>
                        </a:rPr>
                        <a:t>(N° solicitudes de servicios tecnológicos gestionadas oportunamente en el periódio / N°  de solicitudes de servicios tecnológicos reportadas en el periodo)*100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92%</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3316793991"/>
                  </a:ext>
                </a:extLst>
              </a:tr>
              <a:tr h="528405">
                <a:tc>
                  <a:txBody>
                    <a:bodyPr/>
                    <a:lstStyle/>
                    <a:p>
                      <a:pPr algn="ctr" rtl="0" fontAlgn="ctr"/>
                      <a:r>
                        <a:rPr lang="es-MX" sz="900" b="0" i="0" u="none" strike="noStrike">
                          <a:solidFill>
                            <a:srgbClr val="000000"/>
                          </a:solidFill>
                          <a:effectLst/>
                          <a:latin typeface="Calibri" panose="020F0502020204030204" pitchFamily="34" charset="0"/>
                        </a:rPr>
                        <a:t>Gestión de Tecnologías de la Información</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a:solidFill>
                            <a:srgbClr val="000000"/>
                          </a:solidFill>
                          <a:effectLst/>
                          <a:latin typeface="Calibri" panose="020F0502020204030204" pitchFamily="34" charset="0"/>
                        </a:rPr>
                        <a:t>Cumplimiento de la ejecución del PETI</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r>
                        <a:rPr lang="es-MX" sz="900" b="0" i="0" u="none" strike="noStrike">
                          <a:solidFill>
                            <a:srgbClr val="000000"/>
                          </a:solidFill>
                          <a:effectLst/>
                          <a:latin typeface="Calibri" panose="020F0502020204030204" pitchFamily="34" charset="0"/>
                        </a:rPr>
                        <a:t>(N° de Iniciativas ejecutadas de manera satisfactoria en el periodo  / N° de iniciativas planeadas a ejecutar en el periodo)*100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90%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a:solidFill>
                            <a:srgbClr val="000000"/>
                          </a:solidFill>
                          <a:effectLst/>
                          <a:latin typeface="Calibri" panose="020F0502020204030204" pitchFamily="34" charset="0"/>
                        </a:rPr>
                        <a:t>trimestral</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0"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s-CO" sz="900" b="1" i="0" u="none" strike="noStrike" dirty="0">
                          <a:solidFill>
                            <a:srgbClr val="000000"/>
                          </a:solidFill>
                          <a:effectLst/>
                          <a:latin typeface="Calibri" panose="020F0502020204030204" pitchFamily="34" charset="0"/>
                        </a:rPr>
                        <a:t>100%</a:t>
                      </a:r>
                    </a:p>
                  </a:txBody>
                  <a:tcPr marL="4458" marR="4458" marT="4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FF00"/>
                    </a:solidFill>
                  </a:tcPr>
                </a:tc>
                <a:extLst>
                  <a:ext uri="{0D108BD9-81ED-4DB2-BD59-A6C34878D82A}">
                    <a16:rowId xmlns:a16="http://schemas.microsoft.com/office/drawing/2014/main" val="1996383566"/>
                  </a:ext>
                </a:extLst>
              </a:tr>
            </a:tbl>
          </a:graphicData>
        </a:graphic>
      </p:graphicFrame>
    </p:spTree>
    <p:extLst>
      <p:ext uri="{BB962C8B-B14F-4D97-AF65-F5344CB8AC3E}">
        <p14:creationId xmlns:p14="http://schemas.microsoft.com/office/powerpoint/2010/main" val="3675083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92EED6-F7E4-488A-84F0-0C26B1B10CC4}"/>
              </a:ext>
            </a:extLst>
          </p:cNvPr>
          <p:cNvSpPr txBox="1"/>
          <p:nvPr/>
        </p:nvSpPr>
        <p:spPr>
          <a:xfrm>
            <a:off x="326265" y="945113"/>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3" name="CuadroTexto 2">
            <a:extLst>
              <a:ext uri="{FF2B5EF4-FFF2-40B4-BE49-F238E27FC236}">
                <a16:creationId xmlns:a16="http://schemas.microsoft.com/office/drawing/2014/main" id="{28122757-E07B-F39A-80B1-347BF69D6F79}"/>
              </a:ext>
            </a:extLst>
          </p:cNvPr>
          <p:cNvSpPr txBox="1"/>
          <p:nvPr/>
        </p:nvSpPr>
        <p:spPr>
          <a:xfrm>
            <a:off x="910796" y="1499111"/>
            <a:ext cx="10852878" cy="954107"/>
          </a:xfrm>
          <a:prstGeom prst="rect">
            <a:avLst/>
          </a:prstGeom>
          <a:noFill/>
        </p:spPr>
        <p:txBody>
          <a:bodyPr wrap="square" rtlCol="0">
            <a:spAutoFit/>
          </a:bodyPr>
          <a:lstStyle/>
          <a:p>
            <a:pPr marL="2353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Revisión de las metas institucionales de los indicadores ajustando los avances logrados en la vigencia.</a:t>
            </a:r>
          </a:p>
          <a:p>
            <a:pPr marL="2353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Revisar de </a:t>
            </a:r>
            <a:r>
              <a:rPr lang="es-MX" sz="1400" dirty="0">
                <a:solidFill>
                  <a:srgbClr val="333333"/>
                </a:solidFill>
                <a:latin typeface="Arial" panose="020B0604020202020204" pitchFamily="34" charset="0"/>
                <a:cs typeface="Arial" panose="020B0604020202020204" pitchFamily="34" charset="0"/>
              </a:rPr>
              <a:t>manera integral los indicadores de cada proceso, con el fin de evaluar el cumplimiento de los objetivos.</a:t>
            </a:r>
          </a:p>
          <a:p>
            <a:pPr marL="2353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400" dirty="0">
                <a:solidFill>
                  <a:srgbClr val="333333"/>
                </a:solidFill>
                <a:latin typeface="Arial" panose="020B0604020202020204" pitchFamily="34" charset="0"/>
                <a:cs typeface="Arial" panose="020B0604020202020204" pitchFamily="34" charset="0"/>
              </a:rPr>
              <a:t>Solicitar recursos para que se puedan contar con un sistema de información para el calculo de indicadores y reportes plan de acción planes institucionales y estratégicos.</a:t>
            </a:r>
            <a:endPar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71558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5C405FF2-F5B8-441D-7A2A-6F9CFEE53D02}"/>
              </a:ext>
            </a:extLst>
          </p:cNvPr>
          <p:cNvSpPr txBox="1"/>
          <p:nvPr/>
        </p:nvSpPr>
        <p:spPr>
          <a:xfrm>
            <a:off x="1326267" y="1459632"/>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cs typeface="+mn-cs"/>
              </a:rPr>
              <a:t>4</a:t>
            </a: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F9FB5270-8603-804A-9C7A-43F6BEA40608}"/>
              </a:ext>
            </a:extLst>
          </p:cNvPr>
          <p:cNvSpPr>
            <a:spLocks noChangeArrowheads="1"/>
          </p:cNvSpPr>
          <p:nvPr/>
        </p:nvSpPr>
        <p:spPr bwMode="auto">
          <a:xfrm>
            <a:off x="2538433" y="1459632"/>
            <a:ext cx="9283942"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SATISFACCIÓN DEL CLIENTE Y RETROALIMENTACIÓN DE PARTES INTERESADA.</a:t>
            </a:r>
          </a:p>
          <a:p>
            <a:pPr marL="0" indent="0" algn="just">
              <a:spcBef>
                <a:spcPct val="0"/>
              </a:spcBef>
              <a:buNone/>
              <a:defRPr/>
            </a:pPr>
            <a:r>
              <a:rPr lang="es-MX" altLang="es-CO" sz="4800" b="1" dirty="0">
                <a:solidFill>
                  <a:schemeClr val="tx1"/>
                </a:solidFill>
                <a:latin typeface="Calibri" panose="020F0502020204030204"/>
                <a:ea typeface="Work Sans Light" charset="0"/>
                <a:cs typeface="Work Sans Light" charset="0"/>
              </a:rPr>
              <a:t>D</a:t>
            </a:r>
            <a:r>
              <a:rPr kumimoji="0" lang="es-MX" altLang="es-CO" sz="4800" b="1" i="0" u="none" strike="noStrike" kern="1200" cap="none" spc="0" normalizeH="0" baseline="0" noProof="0" dirty="0">
                <a:ln>
                  <a:noFill/>
                </a:ln>
                <a:solidFill>
                  <a:schemeClr val="tx1"/>
                </a:solidFill>
                <a:effectLst/>
                <a:uLnTx/>
                <a:uFillTx/>
                <a:latin typeface="Calibri" panose="020F0502020204030204"/>
                <a:ea typeface="Work Sans Light" charset="0"/>
                <a:cs typeface="Work Sans Light" charset="0"/>
              </a:rPr>
              <a:t>. Resultado Encuesta de Satisfacción</a:t>
            </a:r>
          </a:p>
          <a:p>
            <a:pPr marL="0" marR="0" lvl="0" indent="0" algn="just" defTabSz="762000" rtl="0" eaLnBrk="1" fontAlgn="auto" latinLnBrk="0" hangingPunct="1">
              <a:lnSpc>
                <a:spcPct val="100000"/>
              </a:lnSpc>
              <a:spcBef>
                <a:spcPct val="0"/>
              </a:spcBef>
              <a:spcAft>
                <a:spcPts val="0"/>
              </a:spcAft>
              <a:buClrTx/>
              <a:buSzTx/>
              <a:buFontTx/>
              <a:buNone/>
              <a:tabLst/>
              <a:defRPr/>
            </a:pPr>
            <a:endParaRPr lang="es-CO" sz="4800" dirty="0">
              <a:solidFill>
                <a:schemeClr val="accent5"/>
              </a:solidFill>
            </a:endParaRPr>
          </a:p>
        </p:txBody>
      </p:sp>
      <p:sp>
        <p:nvSpPr>
          <p:cNvPr id="4" name="CuadroTexto 3">
            <a:extLst>
              <a:ext uri="{FF2B5EF4-FFF2-40B4-BE49-F238E27FC236}">
                <a16:creationId xmlns:a16="http://schemas.microsoft.com/office/drawing/2014/main" id="{F2F0F76C-A712-BAFE-5F4E-36F0B8100E8D}"/>
              </a:ext>
            </a:extLst>
          </p:cNvPr>
          <p:cNvSpPr txBox="1"/>
          <p:nvPr/>
        </p:nvSpPr>
        <p:spPr>
          <a:xfrm>
            <a:off x="3930055" y="5398368"/>
            <a:ext cx="6093500" cy="646331"/>
          </a:xfrm>
          <a:prstGeom prst="rect">
            <a:avLst/>
          </a:prstGeom>
          <a:noFill/>
        </p:spPr>
        <p:txBody>
          <a:bodyPr wrap="square">
            <a:spAutoFit/>
          </a:bodyPr>
          <a:lstStyle/>
          <a:p>
            <a:pPr algn="ctr"/>
            <a:r>
              <a:rPr lang="es-CO" b="1" dirty="0"/>
              <a:t>INGRID ÁVILA </a:t>
            </a:r>
            <a:r>
              <a:rPr lang="es-CO" b="1" dirty="0" err="1"/>
              <a:t>ÁVILA</a:t>
            </a:r>
            <a:endParaRPr lang="es-CO" b="1" dirty="0"/>
          </a:p>
          <a:p>
            <a:pPr algn="ctr"/>
            <a:r>
              <a:rPr lang="es-CO" dirty="0"/>
              <a:t>Secretaria General</a:t>
            </a:r>
          </a:p>
        </p:txBody>
      </p:sp>
    </p:spTree>
    <p:extLst>
      <p:ext uri="{BB962C8B-B14F-4D97-AF65-F5344CB8AC3E}">
        <p14:creationId xmlns:p14="http://schemas.microsoft.com/office/powerpoint/2010/main" val="4116035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3"/>
        <p:cNvGrpSpPr/>
        <p:nvPr/>
      </p:nvGrpSpPr>
      <p:grpSpPr>
        <a:xfrm>
          <a:off x="0" y="0"/>
          <a:ext cx="0" cy="0"/>
          <a:chOff x="0" y="0"/>
          <a:chExt cx="0" cy="0"/>
        </a:xfrm>
      </p:grpSpPr>
      <p:pic>
        <p:nvPicPr>
          <p:cNvPr id="2" name="Imagen 1">
            <a:extLst>
              <a:ext uri="{FF2B5EF4-FFF2-40B4-BE49-F238E27FC236}">
                <a16:creationId xmlns:a16="http://schemas.microsoft.com/office/drawing/2014/main" id="{9C081F9F-2AC1-7CD3-DDD5-332845C8E291}"/>
              </a:ext>
            </a:extLst>
          </p:cNvPr>
          <p:cNvPicPr>
            <a:picLocks noChangeAspect="1"/>
          </p:cNvPicPr>
          <p:nvPr/>
        </p:nvPicPr>
        <p:blipFill>
          <a:blip r:embed="rId4"/>
          <a:stretch>
            <a:fillRect/>
          </a:stretch>
        </p:blipFill>
        <p:spPr>
          <a:xfrm>
            <a:off x="320739" y="1447800"/>
            <a:ext cx="11550522" cy="4233379"/>
          </a:xfrm>
          <a:prstGeom prst="rect">
            <a:avLst/>
          </a:prstGeom>
        </p:spPr>
      </p:pic>
    </p:spTree>
    <p:extLst>
      <p:ext uri="{BB962C8B-B14F-4D97-AF65-F5344CB8AC3E}">
        <p14:creationId xmlns:p14="http://schemas.microsoft.com/office/powerpoint/2010/main" val="3965368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3"/>
        <p:cNvGrpSpPr/>
        <p:nvPr/>
      </p:nvGrpSpPr>
      <p:grpSpPr>
        <a:xfrm>
          <a:off x="0" y="0"/>
          <a:ext cx="0" cy="0"/>
          <a:chOff x="0" y="0"/>
          <a:chExt cx="0" cy="0"/>
        </a:xfrm>
      </p:grpSpPr>
      <p:pic>
        <p:nvPicPr>
          <p:cNvPr id="3" name="Imagen 2">
            <a:extLst>
              <a:ext uri="{FF2B5EF4-FFF2-40B4-BE49-F238E27FC236}">
                <a16:creationId xmlns:a16="http://schemas.microsoft.com/office/drawing/2014/main" id="{F1BA2D2A-D6F0-4776-5106-613AED07EA19}"/>
              </a:ext>
            </a:extLst>
          </p:cNvPr>
          <p:cNvPicPr>
            <a:picLocks noChangeAspect="1"/>
          </p:cNvPicPr>
          <p:nvPr/>
        </p:nvPicPr>
        <p:blipFill>
          <a:blip r:embed="rId4"/>
          <a:stretch>
            <a:fillRect/>
          </a:stretch>
        </p:blipFill>
        <p:spPr>
          <a:xfrm>
            <a:off x="192923" y="1447800"/>
            <a:ext cx="11806153" cy="4233600"/>
          </a:xfrm>
          <a:prstGeom prst="rect">
            <a:avLst/>
          </a:prstGeom>
        </p:spPr>
      </p:pic>
    </p:spTree>
    <p:extLst>
      <p:ext uri="{BB962C8B-B14F-4D97-AF65-F5344CB8AC3E}">
        <p14:creationId xmlns:p14="http://schemas.microsoft.com/office/powerpoint/2010/main" val="1951028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3"/>
        <p:cNvGrpSpPr/>
        <p:nvPr/>
      </p:nvGrpSpPr>
      <p:grpSpPr>
        <a:xfrm>
          <a:off x="0" y="0"/>
          <a:ext cx="0" cy="0"/>
          <a:chOff x="0" y="0"/>
          <a:chExt cx="0" cy="0"/>
        </a:xfrm>
      </p:grpSpPr>
      <p:pic>
        <p:nvPicPr>
          <p:cNvPr id="2" name="Imagen 1">
            <a:extLst>
              <a:ext uri="{FF2B5EF4-FFF2-40B4-BE49-F238E27FC236}">
                <a16:creationId xmlns:a16="http://schemas.microsoft.com/office/drawing/2014/main" id="{C08CC698-6559-B7E2-ACD4-E484805185E7}"/>
              </a:ext>
            </a:extLst>
          </p:cNvPr>
          <p:cNvPicPr>
            <a:picLocks noChangeAspect="1"/>
          </p:cNvPicPr>
          <p:nvPr/>
        </p:nvPicPr>
        <p:blipFill>
          <a:blip r:embed="rId4"/>
          <a:stretch>
            <a:fillRect/>
          </a:stretch>
        </p:blipFill>
        <p:spPr>
          <a:xfrm>
            <a:off x="303628" y="1046871"/>
            <a:ext cx="11752384" cy="5593080"/>
          </a:xfrm>
          <a:prstGeom prst="rect">
            <a:avLst/>
          </a:prstGeom>
        </p:spPr>
      </p:pic>
    </p:spTree>
    <p:extLst>
      <p:ext uri="{BB962C8B-B14F-4D97-AF65-F5344CB8AC3E}">
        <p14:creationId xmlns:p14="http://schemas.microsoft.com/office/powerpoint/2010/main" val="3857960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3"/>
        <p:cNvGrpSpPr/>
        <p:nvPr/>
      </p:nvGrpSpPr>
      <p:grpSpPr>
        <a:xfrm>
          <a:off x="0" y="0"/>
          <a:ext cx="0" cy="0"/>
          <a:chOff x="0" y="0"/>
          <a:chExt cx="0" cy="0"/>
        </a:xfrm>
      </p:grpSpPr>
      <p:pic>
        <p:nvPicPr>
          <p:cNvPr id="3" name="Imagen 2">
            <a:extLst>
              <a:ext uri="{FF2B5EF4-FFF2-40B4-BE49-F238E27FC236}">
                <a16:creationId xmlns:a16="http://schemas.microsoft.com/office/drawing/2014/main" id="{1F532671-5658-3015-96E5-8F9A615FCBF5}"/>
              </a:ext>
            </a:extLst>
          </p:cNvPr>
          <p:cNvPicPr>
            <a:picLocks noChangeAspect="1"/>
          </p:cNvPicPr>
          <p:nvPr/>
        </p:nvPicPr>
        <p:blipFill>
          <a:blip r:embed="rId4"/>
          <a:stretch>
            <a:fillRect/>
          </a:stretch>
        </p:blipFill>
        <p:spPr>
          <a:xfrm>
            <a:off x="548640" y="1098794"/>
            <a:ext cx="5219114" cy="4920773"/>
          </a:xfrm>
          <a:prstGeom prst="rect">
            <a:avLst/>
          </a:prstGeom>
        </p:spPr>
      </p:pic>
      <p:sp>
        <p:nvSpPr>
          <p:cNvPr id="2" name="CuadroTexto 1">
            <a:extLst>
              <a:ext uri="{FF2B5EF4-FFF2-40B4-BE49-F238E27FC236}">
                <a16:creationId xmlns:a16="http://schemas.microsoft.com/office/drawing/2014/main" id="{1414A056-8D4E-5C5A-161B-9E30F40995A3}"/>
              </a:ext>
            </a:extLst>
          </p:cNvPr>
          <p:cNvSpPr txBox="1"/>
          <p:nvPr/>
        </p:nvSpPr>
        <p:spPr>
          <a:xfrm>
            <a:off x="6890773" y="1793577"/>
            <a:ext cx="4288353" cy="738664"/>
          </a:xfrm>
          <a:prstGeom prst="rect">
            <a:avLst/>
          </a:prstGeom>
          <a:noFill/>
        </p:spPr>
        <p:txBody>
          <a:bodyPr wrap="none" rtlCol="0">
            <a:spAutoFit/>
          </a:bodyPr>
          <a:lstStyle/>
          <a:p>
            <a:pPr marL="0" marR="0" lvl="0" indent="0" algn="just" defTabSz="914400" rtl="0" eaLnBrk="1" fontAlgn="auto" latinLnBrk="0" hangingPunct="1">
              <a:lnSpc>
                <a:spcPct val="100000"/>
              </a:lnSpc>
              <a:spcBef>
                <a:spcPts val="0"/>
              </a:spcBef>
              <a:spcAft>
                <a:spcPts val="0"/>
              </a:spcAft>
              <a:buClr>
                <a:srgbClr val="000000"/>
              </a:buClr>
              <a:buSzPts val="4800"/>
              <a:buFont typeface="Arial"/>
              <a:buNone/>
              <a:tabLst/>
              <a:defRPr/>
            </a:pPr>
            <a:r>
              <a:rPr kumimoji="0" lang="es-ES" sz="3200" b="1" i="0" u="none" strike="noStrike" kern="0" cap="none" spc="0" normalizeH="0" baseline="0" noProof="0" dirty="0">
                <a:ln>
                  <a:noFill/>
                </a:ln>
                <a:solidFill>
                  <a:srgbClr val="000000"/>
                </a:solidFill>
                <a:effectLst/>
                <a:uLnTx/>
                <a:uFillTx/>
                <a:latin typeface="Calibri"/>
                <a:cs typeface="Calibri"/>
                <a:sym typeface="Arial"/>
              </a:rPr>
              <a:t>Indicador de Percepción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000" b="0" i="0" u="none" strike="noStrike" kern="0" cap="none" spc="0" normalizeH="0" baseline="0" noProof="0" dirty="0">
              <a:ln>
                <a:noFill/>
              </a:ln>
              <a:solidFill>
                <a:srgbClr val="000000"/>
              </a:solidFill>
              <a:effectLst/>
              <a:uLnTx/>
              <a:uFillTx/>
              <a:latin typeface="Arial"/>
              <a:cs typeface="Arial"/>
              <a:sym typeface="Arial"/>
            </a:endParaRPr>
          </a:p>
        </p:txBody>
      </p:sp>
      <p:graphicFrame>
        <p:nvGraphicFramePr>
          <p:cNvPr id="4" name="Gráfico 3">
            <a:extLst>
              <a:ext uri="{FF2B5EF4-FFF2-40B4-BE49-F238E27FC236}">
                <a16:creationId xmlns:a16="http://schemas.microsoft.com/office/drawing/2014/main" id="{3F8E7988-3C42-7E41-DE16-FD0D2EDDC848}"/>
              </a:ext>
            </a:extLst>
          </p:cNvPr>
          <p:cNvGraphicFramePr>
            <a:graphicFrameLocks/>
          </p:cNvGraphicFramePr>
          <p:nvPr>
            <p:extLst>
              <p:ext uri="{D42A27DB-BD31-4B8C-83A1-F6EECF244321}">
                <p14:modId xmlns:p14="http://schemas.microsoft.com/office/powerpoint/2010/main" val="1115780450"/>
              </p:ext>
            </p:extLst>
          </p:nvPr>
        </p:nvGraphicFramePr>
        <p:xfrm>
          <a:off x="5722113" y="2400244"/>
          <a:ext cx="5904887" cy="385103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06008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92EED6-F7E4-488A-84F0-0C26B1B10CC4}"/>
              </a:ext>
            </a:extLst>
          </p:cNvPr>
          <p:cNvSpPr txBox="1"/>
          <p:nvPr/>
        </p:nvSpPr>
        <p:spPr>
          <a:xfrm>
            <a:off x="326265" y="945113"/>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3" name="CuadroTexto 2">
            <a:extLst>
              <a:ext uri="{FF2B5EF4-FFF2-40B4-BE49-F238E27FC236}">
                <a16:creationId xmlns:a16="http://schemas.microsoft.com/office/drawing/2014/main" id="{28122757-E07B-F39A-80B1-347BF69D6F79}"/>
              </a:ext>
            </a:extLst>
          </p:cNvPr>
          <p:cNvSpPr txBox="1"/>
          <p:nvPr/>
        </p:nvSpPr>
        <p:spPr>
          <a:xfrm>
            <a:off x="910796" y="1499111"/>
            <a:ext cx="10852878" cy="2846933"/>
          </a:xfrm>
          <a:prstGeom prst="rect">
            <a:avLst/>
          </a:prstGeom>
          <a:noFill/>
        </p:spPr>
        <p:txBody>
          <a:bodyPr wrap="square" rtlCol="0">
            <a:spAutoFit/>
          </a:bodyPr>
          <a:lstStyle/>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Generar una muestra más grande, para incrementar el porcentaje de confiabilidad</a:t>
            </a:r>
          </a:p>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Aplicar  Encuestas físicas o hacer uso de los espacios que tenga el Concejo de participación ciudadana para contestar la encuesta. (plenarias, visitas de JAL, Rendición de cuentas, entre otros espacios)</a:t>
            </a:r>
          </a:p>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Reevaluar la encuesta, con tipos de pregunta mas específicos asociados  a la misionalidad del concejo (enfoque si conoce los canales de divulgación con los cuenta la corporación, entre otros)</a:t>
            </a:r>
          </a:p>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Reevaluar la muestra del diligenciamiento de la encuesta, para lo cual se utilizaran diferentes canales para obtener mayo información.</a:t>
            </a:r>
          </a:p>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Utilizar canales basados en redes sociales como estados, encuestas, entre otro, físico, y demás escenarios de participación ciudadana como plenarias, visitas, entre otros.</a:t>
            </a:r>
          </a:p>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MX" sz="1400" dirty="0">
                <a:solidFill>
                  <a:srgbClr val="333333"/>
                </a:solidFill>
                <a:latin typeface="Arial" panose="020B0604020202020204" pitchFamily="34" charset="0"/>
                <a:cs typeface="Arial" panose="020B0604020202020204" pitchFamily="34" charset="0"/>
              </a:rPr>
              <a:t>Es importante que la formulación del plan de manera anual al</a:t>
            </a: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 Plan Anticorrupción y atención al ciudadano </a:t>
            </a:r>
            <a:r>
              <a:rPr lang="es-MX" sz="1400" dirty="0">
                <a:solidFill>
                  <a:srgbClr val="333333"/>
                </a:solidFill>
                <a:latin typeface="Arial" panose="020B0604020202020204" pitchFamily="34" charset="0"/>
                <a:cs typeface="Arial" panose="020B0604020202020204" pitchFamily="34" charset="0"/>
              </a:rPr>
              <a:t>p</a:t>
            </a: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ara la vigencia 2023, así como el Plan de Relación con el ciudadano, de acuerdo con los resultados obtenidos en la encuesta.</a:t>
            </a:r>
          </a:p>
        </p:txBody>
      </p:sp>
    </p:spTree>
    <p:extLst>
      <p:ext uri="{BB962C8B-B14F-4D97-AF65-F5344CB8AC3E}">
        <p14:creationId xmlns:p14="http://schemas.microsoft.com/office/powerpoint/2010/main" val="939779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5C405FF2-F5B8-441D-7A2A-6F9CFEE53D02}"/>
              </a:ext>
            </a:extLst>
          </p:cNvPr>
          <p:cNvSpPr txBox="1"/>
          <p:nvPr/>
        </p:nvSpPr>
        <p:spPr>
          <a:xfrm>
            <a:off x="1326267" y="1459632"/>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rgbClr val="4472C4"/>
                </a:solidFill>
                <a:effectLst/>
                <a:uLnTx/>
                <a:uFillTx/>
                <a:latin typeface="Calibri" panose="020F0502020204030204"/>
                <a:ea typeface="+mn-ea"/>
                <a:cs typeface="+mn-cs"/>
              </a:rPr>
              <a:t>4.|</a:t>
            </a:r>
            <a:endParaRPr kumimoji="0" lang="es-CO" sz="7200" b="1" i="0" u="none" strike="noStrike" kern="1200" cap="none" spc="0" normalizeH="0" baseline="0" noProof="0" dirty="0">
              <a:ln>
                <a:noFill/>
              </a:ln>
              <a:solidFill>
                <a:srgbClr val="4472C4"/>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F9FB5270-8603-804A-9C7A-43F6BEA40608}"/>
              </a:ext>
            </a:extLst>
          </p:cNvPr>
          <p:cNvSpPr>
            <a:spLocks noChangeArrowheads="1"/>
          </p:cNvSpPr>
          <p:nvPr/>
        </p:nvSpPr>
        <p:spPr bwMode="auto">
          <a:xfrm>
            <a:off x="2538433" y="1459632"/>
            <a:ext cx="9283942"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rgbClr val="4472C4"/>
                </a:solidFill>
                <a:effectLst/>
                <a:uLnTx/>
                <a:uFillTx/>
                <a:latin typeface="Calibri" panose="020F0502020204030204"/>
                <a:ea typeface="Work Sans Light" charset="0"/>
                <a:cs typeface="Work Sans Light" charset="0"/>
              </a:rPr>
              <a:t>SATISFACCIÓN DEL CLIENTE Y RETROALIMENTACIÓN DE PARTES INTERESADA.</a:t>
            </a:r>
          </a:p>
          <a:p>
            <a:pPr marL="0" marR="0" lvl="0" indent="0" algn="just" defTabSz="762000" rtl="0" eaLnBrk="1" fontAlgn="auto" latinLnBrk="0" hangingPunct="1">
              <a:lnSpc>
                <a:spcPct val="100000"/>
              </a:lnSpc>
              <a:spcBef>
                <a:spcPct val="0"/>
              </a:spcBef>
              <a:spcAft>
                <a:spcPts val="0"/>
              </a:spcAft>
              <a:buClrTx/>
              <a:buSzTx/>
              <a:buFontTx/>
              <a:buNone/>
              <a:tabLst/>
              <a:defRPr/>
            </a:pPr>
            <a:r>
              <a:rPr lang="es-MX" altLang="es-CO" sz="4800" b="1" dirty="0">
                <a:solidFill>
                  <a:prstClr val="black"/>
                </a:solidFill>
                <a:latin typeface="Calibri" panose="020F0502020204030204"/>
                <a:ea typeface="Work Sans Light" charset="0"/>
                <a:cs typeface="Work Sans Light" charset="0"/>
              </a:rPr>
              <a:t>E</a:t>
            </a:r>
            <a:r>
              <a:rPr kumimoji="0" lang="es-MX" altLang="es-CO" sz="4800" b="1" i="0" u="none" strike="noStrike" kern="1200" cap="none" spc="0" normalizeH="0" baseline="0" noProof="0" dirty="0">
                <a:ln>
                  <a:noFill/>
                </a:ln>
                <a:solidFill>
                  <a:prstClr val="black"/>
                </a:solidFill>
                <a:effectLst/>
                <a:uLnTx/>
                <a:uFillTx/>
                <a:latin typeface="Calibri" panose="020F0502020204030204"/>
                <a:ea typeface="Work Sans Light" charset="0"/>
                <a:cs typeface="Work Sans Light" charset="0"/>
              </a:rPr>
              <a:t>. Gestión de las PQRSDS</a:t>
            </a:r>
          </a:p>
          <a:p>
            <a:pPr marL="0" marR="0" lvl="0" indent="0" algn="just" defTabSz="762000" rtl="0" eaLnBrk="1" fontAlgn="auto" latinLnBrk="0" hangingPunct="1">
              <a:lnSpc>
                <a:spcPct val="100000"/>
              </a:lnSpc>
              <a:spcBef>
                <a:spcPct val="0"/>
              </a:spcBef>
              <a:spcAft>
                <a:spcPts val="0"/>
              </a:spcAft>
              <a:buClrTx/>
              <a:buSzTx/>
              <a:buFontTx/>
              <a:buNone/>
              <a:tabLst/>
              <a:defRPr/>
            </a:pPr>
            <a:endParaRPr kumimoji="0" lang="es-CO" sz="4800" b="0" i="0" u="none" strike="noStrike" kern="1200" cap="none" spc="0" normalizeH="0" baseline="0" noProof="0" dirty="0">
              <a:ln>
                <a:noFill/>
              </a:ln>
              <a:solidFill>
                <a:srgbClr val="4472C4"/>
              </a:solidFill>
              <a:effectLst/>
              <a:uLnTx/>
              <a:uFillTx/>
              <a:latin typeface="Arial" panose="020B0604020202020204" pitchFamily="34" charset="0"/>
              <a:ea typeface="MS PGothic" panose="020B0600070205080204" pitchFamily="34" charset="-128"/>
              <a:cs typeface="+mn-cs"/>
            </a:endParaRPr>
          </a:p>
        </p:txBody>
      </p:sp>
      <p:sp>
        <p:nvSpPr>
          <p:cNvPr id="4" name="CuadroTexto 3">
            <a:extLst>
              <a:ext uri="{FF2B5EF4-FFF2-40B4-BE49-F238E27FC236}">
                <a16:creationId xmlns:a16="http://schemas.microsoft.com/office/drawing/2014/main" id="{F2F0F76C-A712-BAFE-5F4E-36F0B8100E8D}"/>
              </a:ext>
            </a:extLst>
          </p:cNvPr>
          <p:cNvSpPr txBox="1"/>
          <p:nvPr/>
        </p:nvSpPr>
        <p:spPr>
          <a:xfrm>
            <a:off x="3750599" y="5060618"/>
            <a:ext cx="6093500" cy="646331"/>
          </a:xfrm>
          <a:prstGeom prst="rect">
            <a:avLst/>
          </a:prstGeom>
          <a:noFill/>
        </p:spPr>
        <p:txBody>
          <a:bodyPr wrap="square">
            <a:spAutoFit/>
          </a:bodyPr>
          <a:lstStyle/>
          <a:p>
            <a:pPr algn="ctr"/>
            <a:r>
              <a:rPr lang="es-ES" b="1" i="0" dirty="0">
                <a:effectLst/>
                <a:latin typeface="Arial" panose="020B0604020202020204" pitchFamily="34" charset="0"/>
              </a:rPr>
              <a:t>MARÍA ISABEL VALBUENA SUTA</a:t>
            </a:r>
            <a:endParaRPr lang="es-ES" b="0" i="0" dirty="0">
              <a:effectLst/>
              <a:latin typeface="Arial" panose="020B0604020202020204" pitchFamily="34" charset="0"/>
            </a:endParaRPr>
          </a:p>
          <a:p>
            <a:pPr algn="ctr"/>
            <a:r>
              <a:rPr lang="es-ES" b="0" i="0" dirty="0">
                <a:effectLst/>
                <a:latin typeface="Arial" panose="020B0604020202020204" pitchFamily="34" charset="0"/>
              </a:rPr>
              <a:t>Técnico Administrativo - Gestión Documental</a:t>
            </a:r>
          </a:p>
        </p:txBody>
      </p:sp>
    </p:spTree>
    <p:extLst>
      <p:ext uri="{BB962C8B-B14F-4D97-AF65-F5344CB8AC3E}">
        <p14:creationId xmlns:p14="http://schemas.microsoft.com/office/powerpoint/2010/main" val="18445087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A812A85-312F-1BE6-126A-706750EC6F8D}"/>
              </a:ext>
            </a:extLst>
          </p:cNvPr>
          <p:cNvSpPr txBox="1"/>
          <p:nvPr/>
        </p:nvSpPr>
        <p:spPr>
          <a:xfrm>
            <a:off x="539646" y="1514007"/>
            <a:ext cx="8739265" cy="369332"/>
          </a:xfrm>
          <a:prstGeom prst="rect">
            <a:avLst/>
          </a:prstGeom>
          <a:noFill/>
        </p:spPr>
        <p:txBody>
          <a:bodyPr wrap="square" rtlCol="0">
            <a:spAutoFit/>
          </a:bodyPr>
          <a:lstStyle/>
          <a:p>
            <a:pPr lvl="0">
              <a:defRPr/>
            </a:pPr>
            <a:r>
              <a:rPr lang="es-CO" b="1" dirty="0">
                <a:solidFill>
                  <a:prstClr val="black"/>
                </a:solidFill>
              </a:rPr>
              <a:t>ESTADO DE PQRS ENERO A SEPTIEMBRE DE 2022</a:t>
            </a:r>
          </a:p>
        </p:txBody>
      </p:sp>
      <p:graphicFrame>
        <p:nvGraphicFramePr>
          <p:cNvPr id="9" name="Tabla 8"/>
          <p:cNvGraphicFramePr>
            <a:graphicFrameLocks noGrp="1"/>
          </p:cNvGraphicFramePr>
          <p:nvPr>
            <p:extLst>
              <p:ext uri="{D42A27DB-BD31-4B8C-83A1-F6EECF244321}">
                <p14:modId xmlns:p14="http://schemas.microsoft.com/office/powerpoint/2010/main" val="3304528362"/>
              </p:ext>
            </p:extLst>
          </p:nvPr>
        </p:nvGraphicFramePr>
        <p:xfrm>
          <a:off x="655092" y="1883341"/>
          <a:ext cx="11177516" cy="4189916"/>
        </p:xfrm>
        <a:graphic>
          <a:graphicData uri="http://schemas.openxmlformats.org/drawingml/2006/table">
            <a:tbl>
              <a:tblPr firstRow="1" firstCol="1" bandRow="1">
                <a:tableStyleId>{93296810-A885-4BE3-A3E7-6D5BEEA58F35}</a:tableStyleId>
              </a:tblPr>
              <a:tblGrid>
                <a:gridCol w="3152891">
                  <a:extLst>
                    <a:ext uri="{9D8B030D-6E8A-4147-A177-3AD203B41FA5}">
                      <a16:colId xmlns:a16="http://schemas.microsoft.com/office/drawing/2014/main" val="20000"/>
                    </a:ext>
                  </a:extLst>
                </a:gridCol>
                <a:gridCol w="2463915">
                  <a:extLst>
                    <a:ext uri="{9D8B030D-6E8A-4147-A177-3AD203B41FA5}">
                      <a16:colId xmlns:a16="http://schemas.microsoft.com/office/drawing/2014/main" val="20001"/>
                    </a:ext>
                  </a:extLst>
                </a:gridCol>
                <a:gridCol w="2781793">
                  <a:extLst>
                    <a:ext uri="{9D8B030D-6E8A-4147-A177-3AD203B41FA5}">
                      <a16:colId xmlns:a16="http://schemas.microsoft.com/office/drawing/2014/main" val="20002"/>
                    </a:ext>
                  </a:extLst>
                </a:gridCol>
                <a:gridCol w="2778917">
                  <a:extLst>
                    <a:ext uri="{9D8B030D-6E8A-4147-A177-3AD203B41FA5}">
                      <a16:colId xmlns:a16="http://schemas.microsoft.com/office/drawing/2014/main" val="20003"/>
                    </a:ext>
                  </a:extLst>
                </a:gridCol>
              </a:tblGrid>
              <a:tr h="478044">
                <a:tc>
                  <a:txBody>
                    <a:bodyPr/>
                    <a:lstStyle/>
                    <a:p>
                      <a:pPr algn="ctr">
                        <a:lnSpc>
                          <a:spcPct val="107000"/>
                        </a:lnSpc>
                        <a:spcAft>
                          <a:spcPts val="0"/>
                        </a:spcAft>
                      </a:pPr>
                      <a:r>
                        <a:rPr lang="es-CO" sz="1500" dirty="0">
                          <a:solidFill>
                            <a:schemeClr val="tx1"/>
                          </a:solidFill>
                          <a:effectLst/>
                        </a:rPr>
                        <a:t>PQRSDS</a:t>
                      </a:r>
                      <a:endParaRPr lang="es-CO" sz="1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dirty="0">
                          <a:solidFill>
                            <a:schemeClr val="tx1"/>
                          </a:solidFill>
                          <a:effectLst/>
                        </a:rPr>
                        <a:t>CANTIDAD</a:t>
                      </a:r>
                      <a:endParaRPr lang="es-CO" sz="1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PORCENTAJE</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ESTADO</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0000"/>
                  </a:ext>
                </a:extLst>
              </a:tr>
              <a:tr h="478044">
                <a:tc>
                  <a:txBody>
                    <a:bodyPr/>
                    <a:lstStyle/>
                    <a:p>
                      <a:pPr>
                        <a:lnSpc>
                          <a:spcPct val="107000"/>
                        </a:lnSpc>
                        <a:spcAft>
                          <a:spcPts val="0"/>
                        </a:spcAft>
                      </a:pPr>
                      <a:r>
                        <a:rPr lang="es-CO" sz="1500">
                          <a:solidFill>
                            <a:schemeClr val="tx1"/>
                          </a:solidFill>
                          <a:effectLst/>
                        </a:rPr>
                        <a:t>DERECHO  DE PETICION</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125</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61%</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RESUELTAS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0001"/>
                  </a:ext>
                </a:extLst>
              </a:tr>
              <a:tr h="843608">
                <a:tc>
                  <a:txBody>
                    <a:bodyPr/>
                    <a:lstStyle/>
                    <a:p>
                      <a:pPr>
                        <a:lnSpc>
                          <a:spcPct val="107000"/>
                        </a:lnSpc>
                        <a:spcAft>
                          <a:spcPts val="0"/>
                        </a:spcAft>
                      </a:pPr>
                      <a:r>
                        <a:rPr lang="es-CO" sz="1500">
                          <a:solidFill>
                            <a:schemeClr val="tx1"/>
                          </a:solidFill>
                          <a:effectLst/>
                        </a:rPr>
                        <a:t>SOLICITUD DE INFORMACION (PQRSDS)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56</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27%</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RESUELTAS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0002"/>
                  </a:ext>
                </a:extLst>
              </a:tr>
              <a:tr h="478044">
                <a:tc>
                  <a:txBody>
                    <a:bodyPr/>
                    <a:lstStyle/>
                    <a:p>
                      <a:pPr>
                        <a:lnSpc>
                          <a:spcPct val="107000"/>
                        </a:lnSpc>
                        <a:spcAft>
                          <a:spcPts val="0"/>
                        </a:spcAft>
                      </a:pPr>
                      <a:r>
                        <a:rPr lang="es-CO" sz="1500">
                          <a:solidFill>
                            <a:schemeClr val="tx1"/>
                          </a:solidFill>
                          <a:effectLst/>
                        </a:rPr>
                        <a:t>PETICIONES (PQRSDSF)</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12</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6%</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RESUELTAS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0003"/>
                  </a:ext>
                </a:extLst>
              </a:tr>
              <a:tr h="478044">
                <a:tc>
                  <a:txBody>
                    <a:bodyPr/>
                    <a:lstStyle/>
                    <a:p>
                      <a:pPr>
                        <a:lnSpc>
                          <a:spcPct val="107000"/>
                        </a:lnSpc>
                        <a:spcAft>
                          <a:spcPts val="0"/>
                        </a:spcAft>
                      </a:pPr>
                      <a:r>
                        <a:rPr lang="es-CO" sz="1500">
                          <a:solidFill>
                            <a:schemeClr val="tx1"/>
                          </a:solidFill>
                          <a:effectLst/>
                        </a:rPr>
                        <a:t>QUEJAS Y RECLAMOS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7</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3%</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RESUELTAS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0004"/>
                  </a:ext>
                </a:extLst>
              </a:tr>
              <a:tr h="478044">
                <a:tc>
                  <a:txBody>
                    <a:bodyPr/>
                    <a:lstStyle/>
                    <a:p>
                      <a:pPr>
                        <a:lnSpc>
                          <a:spcPct val="107000"/>
                        </a:lnSpc>
                        <a:spcAft>
                          <a:spcPts val="0"/>
                        </a:spcAft>
                      </a:pPr>
                      <a:r>
                        <a:rPr lang="es-CO" sz="1500">
                          <a:solidFill>
                            <a:schemeClr val="tx1"/>
                          </a:solidFill>
                          <a:effectLst/>
                        </a:rPr>
                        <a:t>SUGERENCIA (PQRSDS)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3</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1%</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RESUELTAS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0005"/>
                  </a:ext>
                </a:extLst>
              </a:tr>
              <a:tr h="478044">
                <a:tc>
                  <a:txBody>
                    <a:bodyPr/>
                    <a:lstStyle/>
                    <a:p>
                      <a:pPr>
                        <a:lnSpc>
                          <a:spcPct val="107000"/>
                        </a:lnSpc>
                        <a:spcAft>
                          <a:spcPts val="0"/>
                        </a:spcAft>
                      </a:pPr>
                      <a:r>
                        <a:rPr lang="es-CO" sz="1500">
                          <a:solidFill>
                            <a:schemeClr val="tx1"/>
                          </a:solidFill>
                          <a:effectLst/>
                        </a:rPr>
                        <a:t>RECLAMO (PQRSDS)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2</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1%</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RESUELTAS</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0006"/>
                  </a:ext>
                </a:extLst>
              </a:tr>
              <a:tr h="478044">
                <a:tc>
                  <a:txBody>
                    <a:bodyPr/>
                    <a:lstStyle/>
                    <a:p>
                      <a:pPr>
                        <a:lnSpc>
                          <a:spcPct val="107000"/>
                        </a:lnSpc>
                        <a:spcAft>
                          <a:spcPts val="0"/>
                        </a:spcAft>
                      </a:pPr>
                      <a:r>
                        <a:rPr lang="es-CO" sz="1500" dirty="0">
                          <a:solidFill>
                            <a:schemeClr val="tx1"/>
                          </a:solidFill>
                          <a:effectLst/>
                        </a:rPr>
                        <a:t>TOTAL</a:t>
                      </a:r>
                      <a:endParaRPr lang="es-CO" sz="1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0"/>
                        </a:spcAft>
                      </a:pPr>
                      <a:r>
                        <a:rPr lang="es-CO" sz="1500">
                          <a:solidFill>
                            <a:schemeClr val="tx1"/>
                          </a:solidFill>
                          <a:effectLst/>
                        </a:rPr>
                        <a:t>205</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gn="ctr">
                        <a:lnSpc>
                          <a:spcPct val="107000"/>
                        </a:lnSpc>
                        <a:spcAft>
                          <a:spcPts val="0"/>
                        </a:spcAft>
                      </a:pPr>
                      <a:r>
                        <a:rPr lang="es-CO" sz="1500">
                          <a:solidFill>
                            <a:schemeClr val="tx1"/>
                          </a:solidFill>
                          <a:effectLst/>
                        </a:rPr>
                        <a:t>100%</a:t>
                      </a:r>
                      <a:endParaRPr lang="es-CO"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tc>
                <a:tc>
                  <a:txBody>
                    <a:bodyPr/>
                    <a:lstStyle/>
                    <a:p>
                      <a:pPr>
                        <a:lnSpc>
                          <a:spcPct val="107000"/>
                        </a:lnSpc>
                        <a:spcAft>
                          <a:spcPts val="0"/>
                        </a:spcAft>
                      </a:pPr>
                      <a:r>
                        <a:rPr lang="es-CO" sz="1500" dirty="0">
                          <a:solidFill>
                            <a:schemeClr val="tx1"/>
                          </a:solidFill>
                          <a:effectLst/>
                        </a:rPr>
                        <a:t> </a:t>
                      </a:r>
                      <a:endParaRPr lang="es-CO" sz="15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1130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92EED6-F7E4-488A-84F0-0C26B1B10CC4}"/>
              </a:ext>
            </a:extLst>
          </p:cNvPr>
          <p:cNvSpPr txBox="1"/>
          <p:nvPr/>
        </p:nvSpPr>
        <p:spPr>
          <a:xfrm>
            <a:off x="326265" y="945113"/>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4" name="CuadroTexto 3">
            <a:extLst>
              <a:ext uri="{FF2B5EF4-FFF2-40B4-BE49-F238E27FC236}">
                <a16:creationId xmlns:a16="http://schemas.microsoft.com/office/drawing/2014/main" id="{28122757-E07B-F39A-80B1-347BF69D6F79}"/>
              </a:ext>
            </a:extLst>
          </p:cNvPr>
          <p:cNvSpPr txBox="1"/>
          <p:nvPr/>
        </p:nvSpPr>
        <p:spPr>
          <a:xfrm>
            <a:off x="669561" y="2017726"/>
            <a:ext cx="10852878" cy="3170099"/>
          </a:xfrm>
          <a:prstGeom prst="rect">
            <a:avLst/>
          </a:prstGeom>
          <a:noFill/>
        </p:spPr>
        <p:txBody>
          <a:bodyPr wrap="square" rtlCol="0">
            <a:spAutoFit/>
          </a:bodyPr>
          <a:lstStyle/>
          <a:p>
            <a:pPr lvl="0" algn="just"/>
            <a:endParaRPr lang="es-CO" sz="2000" dirty="0"/>
          </a:p>
          <a:p>
            <a:pPr lvl="0" algn="just"/>
            <a:r>
              <a:rPr lang="es-CO" sz="2000" b="1" dirty="0"/>
              <a:t>1. </a:t>
            </a:r>
            <a:r>
              <a:rPr lang="es-CO" sz="2000" dirty="0"/>
              <a:t>Para la vigencia 2023 se hace necesario contar con el soporte técnico de la empresa ASPIN LTDA. Proveedora del Sistema de Información CORRYCOM, para el mantenimiento, actualización y capacitación del mismo en la Corporación.</a:t>
            </a:r>
          </a:p>
          <a:p>
            <a:pPr algn="just"/>
            <a:r>
              <a:rPr lang="es-CO" sz="2000" dirty="0"/>
              <a:t> </a:t>
            </a:r>
          </a:p>
          <a:p>
            <a:pPr algn="just"/>
            <a:endParaRPr lang="es-CO" sz="2000" dirty="0"/>
          </a:p>
          <a:p>
            <a:pPr lvl="0" algn="just"/>
            <a:r>
              <a:rPr lang="es-CO" sz="2000" b="1" dirty="0"/>
              <a:t>2. </a:t>
            </a:r>
            <a:r>
              <a:rPr lang="es-CO" sz="2000" dirty="0"/>
              <a:t>Fortalecer el proceso de seguimiento oportuno en del Sistema de Información CORRYCOM  desde las diferentes áreas y funcionarios encargados de dar trámite a las PQRSDS que radican ante la Corporación, para garantizar la respuesta oportuna en los términos de ley y utilizar de manera adecuada la herramienta como un filtro de control.</a:t>
            </a:r>
          </a:p>
        </p:txBody>
      </p:sp>
    </p:spTree>
    <p:extLst>
      <p:ext uri="{BB962C8B-B14F-4D97-AF65-F5344CB8AC3E}">
        <p14:creationId xmlns:p14="http://schemas.microsoft.com/office/powerpoint/2010/main" val="2710622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1 CuadroTexto">
            <a:extLst>
              <a:ext uri="{FF2B5EF4-FFF2-40B4-BE49-F238E27FC236}">
                <a16:creationId xmlns:a16="http://schemas.microsoft.com/office/drawing/2014/main" id="{045A24C7-C639-47D9-1857-90052A07661B}"/>
              </a:ext>
            </a:extLst>
          </p:cNvPr>
          <p:cNvSpPr txBox="1"/>
          <p:nvPr/>
        </p:nvSpPr>
        <p:spPr>
          <a:xfrm>
            <a:off x="1086424" y="1794118"/>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7200" b="1" dirty="0">
                <a:solidFill>
                  <a:schemeClr val="accent5"/>
                </a:solidFill>
                <a:latin typeface="Calibri" panose="020F0502020204030204"/>
              </a:rPr>
              <a:t>5</a:t>
            </a: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5" name="Rectangle 2">
            <a:extLst>
              <a:ext uri="{FF2B5EF4-FFF2-40B4-BE49-F238E27FC236}">
                <a16:creationId xmlns:a16="http://schemas.microsoft.com/office/drawing/2014/main" id="{75039C9B-5FB6-0046-BBA2-A3D60611AF2E}"/>
              </a:ext>
            </a:extLst>
          </p:cNvPr>
          <p:cNvSpPr>
            <a:spLocks noChangeArrowheads="1"/>
          </p:cNvSpPr>
          <p:nvPr/>
        </p:nvSpPr>
        <p:spPr bwMode="auto">
          <a:xfrm>
            <a:off x="2163679" y="1886452"/>
            <a:ext cx="928394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CONFORMIDAD DEL PRODUCTO Y SERVICIO</a:t>
            </a:r>
          </a:p>
        </p:txBody>
      </p:sp>
      <p:sp>
        <p:nvSpPr>
          <p:cNvPr id="6" name="CuadroTexto 5">
            <a:extLst>
              <a:ext uri="{FF2B5EF4-FFF2-40B4-BE49-F238E27FC236}">
                <a16:creationId xmlns:a16="http://schemas.microsoft.com/office/drawing/2014/main" id="{4622F702-CEFD-E823-823C-26F2BDEA4D83}"/>
              </a:ext>
            </a:extLst>
          </p:cNvPr>
          <p:cNvSpPr txBox="1"/>
          <p:nvPr/>
        </p:nvSpPr>
        <p:spPr>
          <a:xfrm>
            <a:off x="3242970" y="4272197"/>
            <a:ext cx="6093500" cy="646331"/>
          </a:xfrm>
          <a:prstGeom prst="rect">
            <a:avLst/>
          </a:prstGeom>
          <a:noFill/>
        </p:spPr>
        <p:txBody>
          <a:bodyPr wrap="square">
            <a:spAutoFit/>
          </a:bodyPr>
          <a:lstStyle/>
          <a:p>
            <a:pPr algn="ctr"/>
            <a:r>
              <a:rPr lang="es-CO" b="1" dirty="0"/>
              <a:t>INGRID ÁVILA </a:t>
            </a:r>
            <a:r>
              <a:rPr lang="es-CO" b="1" dirty="0" err="1"/>
              <a:t>ÁVILA</a:t>
            </a:r>
            <a:endParaRPr lang="es-CO" b="1" dirty="0"/>
          </a:p>
          <a:p>
            <a:pPr algn="ctr"/>
            <a:r>
              <a:rPr lang="es-CO" dirty="0"/>
              <a:t>Secretaria General</a:t>
            </a:r>
            <a:endParaRPr kumimoji="0" lang="es-CO"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93949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2EBA353-A464-565A-B64E-59ACB20BE4CF}"/>
              </a:ext>
            </a:extLst>
          </p:cNvPr>
          <p:cNvSpPr txBox="1"/>
          <p:nvPr/>
        </p:nvSpPr>
        <p:spPr>
          <a:xfrm>
            <a:off x="1424064" y="2548328"/>
            <a:ext cx="929391" cy="1446550"/>
          </a:xfrm>
          <a:prstGeom prst="rect">
            <a:avLst/>
          </a:prstGeom>
          <a:noFill/>
        </p:spPr>
        <p:txBody>
          <a:bodyPr wrap="square" rtlCol="0">
            <a:spAutoFit/>
          </a:bodyPr>
          <a:lstStyle/>
          <a:p>
            <a:r>
              <a:rPr lang="es-CO" sz="8800" b="1" dirty="0">
                <a:solidFill>
                  <a:schemeClr val="accent6"/>
                </a:solidFill>
              </a:rPr>
              <a:t>0</a:t>
            </a:r>
          </a:p>
        </p:txBody>
      </p:sp>
      <p:sp>
        <p:nvSpPr>
          <p:cNvPr id="3" name="CuadroTexto 2">
            <a:extLst>
              <a:ext uri="{FF2B5EF4-FFF2-40B4-BE49-F238E27FC236}">
                <a16:creationId xmlns:a16="http://schemas.microsoft.com/office/drawing/2014/main" id="{3769DBAD-1343-32F1-7312-70DD7FD6F51B}"/>
              </a:ext>
            </a:extLst>
          </p:cNvPr>
          <p:cNvSpPr txBox="1"/>
          <p:nvPr/>
        </p:nvSpPr>
        <p:spPr>
          <a:xfrm>
            <a:off x="966863" y="3683434"/>
            <a:ext cx="1788373" cy="646331"/>
          </a:xfrm>
          <a:prstGeom prst="rect">
            <a:avLst/>
          </a:prstGeom>
          <a:noFill/>
        </p:spPr>
        <p:txBody>
          <a:bodyPr wrap="square" rtlCol="0">
            <a:spAutoFit/>
          </a:bodyPr>
          <a:lstStyle/>
          <a:p>
            <a:pPr algn="ctr"/>
            <a:r>
              <a:rPr lang="es-CO" b="1" dirty="0">
                <a:solidFill>
                  <a:srgbClr val="002060"/>
                </a:solidFill>
              </a:rPr>
              <a:t>SALIDAS </a:t>
            </a:r>
          </a:p>
          <a:p>
            <a:pPr algn="ctr"/>
            <a:r>
              <a:rPr lang="es-CO" b="1" dirty="0">
                <a:solidFill>
                  <a:srgbClr val="002060"/>
                </a:solidFill>
              </a:rPr>
              <a:t>NO CONFORMES</a:t>
            </a:r>
          </a:p>
        </p:txBody>
      </p:sp>
      <p:sp>
        <p:nvSpPr>
          <p:cNvPr id="4" name="CuadroTexto 3">
            <a:extLst>
              <a:ext uri="{FF2B5EF4-FFF2-40B4-BE49-F238E27FC236}">
                <a16:creationId xmlns:a16="http://schemas.microsoft.com/office/drawing/2014/main" id="{B8FA0195-D1E4-10E6-9D7D-85DA2347FEAC}"/>
              </a:ext>
            </a:extLst>
          </p:cNvPr>
          <p:cNvSpPr txBox="1"/>
          <p:nvPr/>
        </p:nvSpPr>
        <p:spPr>
          <a:xfrm>
            <a:off x="3610964" y="1265009"/>
            <a:ext cx="7195278" cy="923330"/>
          </a:xfrm>
          <a:prstGeom prst="rect">
            <a:avLst/>
          </a:prstGeom>
          <a:noFill/>
        </p:spPr>
        <p:txBody>
          <a:bodyPr wrap="square" rtlCol="0">
            <a:spAutoFit/>
          </a:bodyPr>
          <a:lstStyle/>
          <a:p>
            <a:pPr marL="285750" indent="-285750">
              <a:buFont typeface="Arial" panose="020B0604020202020204" pitchFamily="34" charset="0"/>
              <a:buChar char="•"/>
            </a:pPr>
            <a:r>
              <a:rPr lang="es-CO" b="1" dirty="0">
                <a:solidFill>
                  <a:srgbClr val="002060"/>
                </a:solidFill>
              </a:rPr>
              <a:t>GESTIÓN REALIZADA</a:t>
            </a:r>
          </a:p>
          <a:p>
            <a:pPr marL="285750" indent="-285750">
              <a:buFont typeface="Arial" panose="020B0604020202020204" pitchFamily="34" charset="0"/>
              <a:buChar char="•"/>
            </a:pPr>
            <a:endParaRPr lang="es-CO" b="1" dirty="0">
              <a:solidFill>
                <a:srgbClr val="002060"/>
              </a:solidFill>
            </a:endParaRPr>
          </a:p>
          <a:p>
            <a:pPr marL="285750" indent="-285750">
              <a:buFont typeface="Arial" panose="020B0604020202020204" pitchFamily="34" charset="0"/>
              <a:buChar char="•"/>
            </a:pPr>
            <a:endParaRPr lang="es-CO" b="1" dirty="0">
              <a:solidFill>
                <a:srgbClr val="002060"/>
              </a:solidFill>
            </a:endParaRPr>
          </a:p>
        </p:txBody>
      </p:sp>
      <p:sp>
        <p:nvSpPr>
          <p:cNvPr id="5" name="CuadroTexto 4">
            <a:extLst>
              <a:ext uri="{FF2B5EF4-FFF2-40B4-BE49-F238E27FC236}">
                <a16:creationId xmlns:a16="http://schemas.microsoft.com/office/drawing/2014/main" id="{885D7039-E5C4-61EE-BC1F-5757444F35B8}"/>
              </a:ext>
            </a:extLst>
          </p:cNvPr>
          <p:cNvSpPr txBox="1"/>
          <p:nvPr/>
        </p:nvSpPr>
        <p:spPr>
          <a:xfrm>
            <a:off x="3610964" y="1765809"/>
            <a:ext cx="6803038" cy="646331"/>
          </a:xfrm>
          <a:prstGeom prst="rect">
            <a:avLst/>
          </a:prstGeom>
          <a:noFill/>
        </p:spPr>
        <p:txBody>
          <a:bodyPr wrap="square" rtlCol="0">
            <a:spAutoFit/>
          </a:bodyPr>
          <a:lstStyle/>
          <a:p>
            <a:r>
              <a:rPr lang="es-CO" dirty="0"/>
              <a:t>Revisión del  Procedimiento en el cual se definieron los posibles salidas no conformes de los procesos misionales </a:t>
            </a:r>
          </a:p>
        </p:txBody>
      </p:sp>
      <p:graphicFrame>
        <p:nvGraphicFramePr>
          <p:cNvPr id="6" name="Tabla 9">
            <a:extLst>
              <a:ext uri="{FF2B5EF4-FFF2-40B4-BE49-F238E27FC236}">
                <a16:creationId xmlns:a16="http://schemas.microsoft.com/office/drawing/2014/main" id="{DD552572-7880-D80A-7BEE-E419BDCD7E62}"/>
              </a:ext>
            </a:extLst>
          </p:cNvPr>
          <p:cNvGraphicFramePr>
            <a:graphicFrameLocks noGrp="1"/>
          </p:cNvGraphicFramePr>
          <p:nvPr>
            <p:extLst>
              <p:ext uri="{D42A27DB-BD31-4B8C-83A1-F6EECF244321}">
                <p14:modId xmlns:p14="http://schemas.microsoft.com/office/powerpoint/2010/main" val="4292346211"/>
              </p:ext>
            </p:extLst>
          </p:nvPr>
        </p:nvGraphicFramePr>
        <p:xfrm>
          <a:off x="3610964" y="2536251"/>
          <a:ext cx="8128000" cy="4028440"/>
        </p:xfrm>
        <a:graphic>
          <a:graphicData uri="http://schemas.openxmlformats.org/drawingml/2006/table">
            <a:tbl>
              <a:tblPr firstRow="1" bandRow="1">
                <a:tableStyleId>{7DF18680-E054-41AD-8BC1-D1AEF772440D}</a:tableStyleId>
              </a:tblPr>
              <a:tblGrid>
                <a:gridCol w="4064000">
                  <a:extLst>
                    <a:ext uri="{9D8B030D-6E8A-4147-A177-3AD203B41FA5}">
                      <a16:colId xmlns:a16="http://schemas.microsoft.com/office/drawing/2014/main" val="3594319228"/>
                    </a:ext>
                  </a:extLst>
                </a:gridCol>
                <a:gridCol w="4064000">
                  <a:extLst>
                    <a:ext uri="{9D8B030D-6E8A-4147-A177-3AD203B41FA5}">
                      <a16:colId xmlns:a16="http://schemas.microsoft.com/office/drawing/2014/main" val="959617015"/>
                    </a:ext>
                  </a:extLst>
                </a:gridCol>
              </a:tblGrid>
              <a:tr h="370840">
                <a:tc>
                  <a:txBody>
                    <a:bodyPr/>
                    <a:lstStyle/>
                    <a:p>
                      <a:pPr algn="ctr"/>
                      <a:r>
                        <a:rPr lang="es-CO" dirty="0"/>
                        <a:t>CONTROL POLITICO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dirty="0"/>
                        <a:t>PROYECTOS DE ACUERDO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4749787"/>
                  </a:ext>
                </a:extLst>
              </a:tr>
              <a:tr h="370840">
                <a:tc>
                  <a:txBody>
                    <a:bodyPr/>
                    <a:lstStyle/>
                    <a:p>
                      <a:pPr marL="285750" lvl="0" indent="-285750">
                        <a:buFont typeface="Arial" panose="020B0604020202020204" pitchFamily="34" charset="0"/>
                        <a:buChar char="•"/>
                      </a:pPr>
                      <a:r>
                        <a:rPr lang="es-MX" sz="1800" kern="1200" dirty="0">
                          <a:solidFill>
                            <a:schemeClr val="dk1"/>
                          </a:solidFill>
                          <a:effectLst/>
                          <a:latin typeface="+mn-lt"/>
                          <a:ea typeface="+mn-ea"/>
                          <a:cs typeface="+mn-cs"/>
                        </a:rPr>
                        <a:t>No dar respuesta a la comunidad de las solitudes.</a:t>
                      </a:r>
                      <a:endParaRPr lang="es-CO" sz="1800" kern="1200" dirty="0">
                        <a:solidFill>
                          <a:schemeClr val="dk1"/>
                        </a:solidFill>
                        <a:effectLst/>
                        <a:latin typeface="+mn-lt"/>
                        <a:ea typeface="+mn-ea"/>
                        <a:cs typeface="+mn-cs"/>
                      </a:endParaRPr>
                    </a:p>
                    <a:p>
                      <a:pPr marL="285750" lvl="0" indent="-285750">
                        <a:buFont typeface="Arial" panose="020B0604020202020204" pitchFamily="34" charset="0"/>
                        <a:buChar char="•"/>
                      </a:pPr>
                      <a:r>
                        <a:rPr lang="es-MX" sz="1800" kern="1200" dirty="0">
                          <a:solidFill>
                            <a:schemeClr val="dk1"/>
                          </a:solidFill>
                          <a:effectLst/>
                          <a:latin typeface="+mn-lt"/>
                          <a:ea typeface="+mn-ea"/>
                          <a:cs typeface="+mn-cs"/>
                        </a:rPr>
                        <a:t>Funcionario no asista al control político</a:t>
                      </a:r>
                      <a:endParaRPr lang="es-CO" sz="1800" kern="1200" dirty="0">
                        <a:solidFill>
                          <a:schemeClr val="dk1"/>
                        </a:solidFill>
                        <a:effectLst/>
                        <a:latin typeface="+mn-lt"/>
                        <a:ea typeface="+mn-ea"/>
                        <a:cs typeface="+mn-cs"/>
                      </a:endParaRPr>
                    </a:p>
                    <a:p>
                      <a:pPr marL="285750" lvl="0" indent="-285750">
                        <a:buFont typeface="Arial" panose="020B0604020202020204" pitchFamily="34" charset="0"/>
                        <a:buChar char="•"/>
                      </a:pPr>
                      <a:r>
                        <a:rPr lang="es-MX" sz="1800" kern="1200" dirty="0">
                          <a:solidFill>
                            <a:schemeClr val="dk1"/>
                          </a:solidFill>
                          <a:effectLst/>
                          <a:latin typeface="+mn-lt"/>
                          <a:ea typeface="+mn-ea"/>
                          <a:cs typeface="+mn-cs"/>
                        </a:rPr>
                        <a:t>No dar respuesta dentro de los términos.</a:t>
                      </a:r>
                      <a:endParaRPr lang="es-CO" sz="1800" kern="1200" dirty="0">
                        <a:solidFill>
                          <a:schemeClr val="dk1"/>
                        </a:solidFill>
                        <a:effectLst/>
                        <a:latin typeface="+mn-lt"/>
                        <a:ea typeface="+mn-ea"/>
                        <a:cs typeface="+mn-cs"/>
                      </a:endParaRPr>
                    </a:p>
                    <a:p>
                      <a:pPr marL="285750" lvl="0" indent="-285750">
                        <a:buFont typeface="Arial" panose="020B0604020202020204" pitchFamily="34" charset="0"/>
                        <a:buChar char="•"/>
                      </a:pPr>
                      <a:r>
                        <a:rPr lang="es-MX" sz="1800" kern="1200" dirty="0">
                          <a:solidFill>
                            <a:schemeClr val="dk1"/>
                          </a:solidFill>
                          <a:effectLst/>
                          <a:latin typeface="+mn-lt"/>
                          <a:ea typeface="+mn-ea"/>
                          <a:cs typeface="+mn-cs"/>
                        </a:rPr>
                        <a:t>No realizar sesiones de control político por fallas en la infraestructura tecnológica, entre otros.</a:t>
                      </a:r>
                      <a:endParaRPr lang="es-CO" sz="1800" kern="1200" dirty="0">
                        <a:solidFill>
                          <a:schemeClr val="dk1"/>
                        </a:solidFill>
                        <a:effectLst/>
                        <a:latin typeface="+mn-lt"/>
                        <a:ea typeface="+mn-ea"/>
                        <a:cs typeface="+mn-cs"/>
                      </a:endParaRPr>
                    </a:p>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lvl="0" indent="-285750" algn="l" defTabSz="914400" rtl="0" eaLnBrk="1" latinLnBrk="0" hangingPunct="1">
                        <a:buFont typeface="Arial" panose="020B0604020202020204" pitchFamily="34" charset="0"/>
                        <a:buChar char="•"/>
                      </a:pPr>
                      <a:r>
                        <a:rPr lang="es-MX" sz="1800" kern="1200" dirty="0">
                          <a:solidFill>
                            <a:schemeClr val="dk1"/>
                          </a:solidFill>
                          <a:effectLst/>
                          <a:latin typeface="+mn-lt"/>
                          <a:ea typeface="+mn-ea"/>
                          <a:cs typeface="+mn-cs"/>
                        </a:rPr>
                        <a:t>No cumplir con los términos: Fecha de primer estudio en segundo debate 3 días después de la fecha de aprobación en primer debate.</a:t>
                      </a:r>
                    </a:p>
                    <a:p>
                      <a:pPr marL="285750" lvl="0" indent="-285750" algn="l" defTabSz="914400" rtl="0" eaLnBrk="1" latinLnBrk="0" hangingPunct="1">
                        <a:buFont typeface="Arial" panose="020B0604020202020204" pitchFamily="34" charset="0"/>
                        <a:buChar char="•"/>
                      </a:pPr>
                      <a:r>
                        <a:rPr lang="es-MX" sz="1800" kern="1200" dirty="0">
                          <a:solidFill>
                            <a:schemeClr val="dk1"/>
                          </a:solidFill>
                          <a:effectLst/>
                          <a:latin typeface="+mn-lt"/>
                          <a:ea typeface="+mn-ea"/>
                          <a:cs typeface="+mn-cs"/>
                        </a:rPr>
                        <a:t>No cumplir con los términos: Fecha de Remisión del acuerdo para sanción dentro de los 5 días siguientes a su aprobación</a:t>
                      </a:r>
                    </a:p>
                    <a:p>
                      <a:pPr marL="285750" lvl="0" indent="-285750" algn="l" defTabSz="914400" rtl="0" eaLnBrk="1" latinLnBrk="0" hangingPunct="1">
                        <a:buFont typeface="Arial" panose="020B0604020202020204" pitchFamily="34" charset="0"/>
                        <a:buChar char="•"/>
                      </a:pPr>
                      <a:r>
                        <a:rPr lang="es-MX" sz="1800" kern="1200" dirty="0">
                          <a:solidFill>
                            <a:schemeClr val="dk1"/>
                          </a:solidFill>
                          <a:effectLst/>
                          <a:latin typeface="+mn-lt"/>
                          <a:ea typeface="+mn-ea"/>
                          <a:cs typeface="+mn-cs"/>
                        </a:rPr>
                        <a:t>No cumplir con los términos: La fecha de publicación debe hacerse dentro de los 10 días siguientes a la fecha de sanción.</a:t>
                      </a:r>
                    </a:p>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8844209"/>
                  </a:ext>
                </a:extLst>
              </a:tr>
            </a:tbl>
          </a:graphicData>
        </a:graphic>
      </p:graphicFrame>
      <p:pic>
        <p:nvPicPr>
          <p:cNvPr id="7" name="Gráfico 6" descr="Lupa con relleno sólido">
            <a:extLst>
              <a:ext uri="{FF2B5EF4-FFF2-40B4-BE49-F238E27FC236}">
                <a16:creationId xmlns:a16="http://schemas.microsoft.com/office/drawing/2014/main" id="{8DD25E88-7438-1226-8C6E-F1186E5A4C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3849" y="4550471"/>
            <a:ext cx="914400" cy="914400"/>
          </a:xfrm>
          <a:prstGeom prst="rect">
            <a:avLst/>
          </a:prstGeom>
        </p:spPr>
      </p:pic>
      <p:sp>
        <p:nvSpPr>
          <p:cNvPr id="8" name="CuadroTexto 7">
            <a:extLst>
              <a:ext uri="{FF2B5EF4-FFF2-40B4-BE49-F238E27FC236}">
                <a16:creationId xmlns:a16="http://schemas.microsoft.com/office/drawing/2014/main" id="{86E2B4E8-E5A0-257F-420C-88D54C1F0830}"/>
              </a:ext>
            </a:extLst>
          </p:cNvPr>
          <p:cNvSpPr txBox="1"/>
          <p:nvPr/>
        </p:nvSpPr>
        <p:spPr>
          <a:xfrm>
            <a:off x="246506" y="1339434"/>
            <a:ext cx="7195278" cy="923330"/>
          </a:xfrm>
          <a:prstGeom prst="rect">
            <a:avLst/>
          </a:prstGeom>
          <a:noFill/>
        </p:spPr>
        <p:txBody>
          <a:bodyPr wrap="square" rtlCol="0">
            <a:spAutoFit/>
          </a:bodyPr>
          <a:lstStyle/>
          <a:p>
            <a:pPr marL="285750" indent="-285750">
              <a:buFont typeface="Arial" panose="020B0604020202020204" pitchFamily="34" charset="0"/>
              <a:buChar char="•"/>
            </a:pPr>
            <a:r>
              <a:rPr lang="es-CO" b="1" dirty="0">
                <a:solidFill>
                  <a:srgbClr val="002060"/>
                </a:solidFill>
              </a:rPr>
              <a:t>RESULTADO 2022</a:t>
            </a:r>
          </a:p>
          <a:p>
            <a:pPr marL="285750" indent="-285750">
              <a:buFont typeface="Arial" panose="020B0604020202020204" pitchFamily="34" charset="0"/>
              <a:buChar char="•"/>
            </a:pPr>
            <a:endParaRPr lang="es-CO" b="1" dirty="0">
              <a:solidFill>
                <a:srgbClr val="002060"/>
              </a:solidFill>
            </a:endParaRPr>
          </a:p>
          <a:p>
            <a:pPr marL="285750" indent="-285750">
              <a:buFont typeface="Arial" panose="020B0604020202020204" pitchFamily="34" charset="0"/>
              <a:buChar char="•"/>
            </a:pPr>
            <a:endParaRPr lang="es-CO" b="1" dirty="0">
              <a:solidFill>
                <a:srgbClr val="002060"/>
              </a:solidFill>
            </a:endParaRPr>
          </a:p>
        </p:txBody>
      </p:sp>
      <p:sp>
        <p:nvSpPr>
          <p:cNvPr id="9" name="Abrir llave 8">
            <a:extLst>
              <a:ext uri="{FF2B5EF4-FFF2-40B4-BE49-F238E27FC236}">
                <a16:creationId xmlns:a16="http://schemas.microsoft.com/office/drawing/2014/main" id="{4DEFA2B3-146A-A978-EB88-D1349E062376}"/>
              </a:ext>
            </a:extLst>
          </p:cNvPr>
          <p:cNvSpPr/>
          <p:nvPr/>
        </p:nvSpPr>
        <p:spPr>
          <a:xfrm>
            <a:off x="3067758" y="1228811"/>
            <a:ext cx="508000" cy="5195752"/>
          </a:xfrm>
          <a:prstGeom prst="leftBrace">
            <a:avLst/>
          </a:prstGeom>
          <a:ln w="38100"/>
        </p:spPr>
        <p:style>
          <a:lnRef idx="3">
            <a:schemeClr val="accent3"/>
          </a:lnRef>
          <a:fillRef idx="0">
            <a:schemeClr val="accent3"/>
          </a:fillRef>
          <a:effectRef idx="2">
            <a:schemeClr val="accent3"/>
          </a:effectRef>
          <a:fontRef idx="minor">
            <a:schemeClr val="tx1"/>
          </a:fontRef>
        </p:style>
        <p:txBody>
          <a:bodyPr rtlCol="0" anchor="ctr"/>
          <a:lstStyle/>
          <a:p>
            <a:pPr algn="ctr"/>
            <a:endParaRPr lang="es-CO"/>
          </a:p>
        </p:txBody>
      </p:sp>
    </p:spTree>
    <p:extLst>
      <p:ext uri="{BB962C8B-B14F-4D97-AF65-F5344CB8AC3E}">
        <p14:creationId xmlns:p14="http://schemas.microsoft.com/office/powerpoint/2010/main" val="2029344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1 CuadroTexto">
            <a:extLst>
              <a:ext uri="{FF2B5EF4-FFF2-40B4-BE49-F238E27FC236}">
                <a16:creationId xmlns:a16="http://schemas.microsoft.com/office/drawing/2014/main" id="{045A24C7-C639-47D9-1857-90052A07661B}"/>
              </a:ext>
            </a:extLst>
          </p:cNvPr>
          <p:cNvSpPr txBox="1"/>
          <p:nvPr/>
        </p:nvSpPr>
        <p:spPr>
          <a:xfrm>
            <a:off x="1086424" y="1794118"/>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rgbClr val="4472C4"/>
                </a:solidFill>
                <a:effectLst/>
                <a:uLnTx/>
                <a:uFillTx/>
                <a:latin typeface="Calibri" panose="020F0502020204030204"/>
                <a:ea typeface="+mn-ea"/>
                <a:cs typeface="+mn-cs"/>
              </a:rPr>
              <a:t>6.|</a:t>
            </a:r>
            <a:endParaRPr kumimoji="0" lang="es-CO" sz="7200" b="1" i="0" u="none" strike="noStrike" kern="1200" cap="none" spc="0" normalizeH="0" baseline="0" noProof="0" dirty="0">
              <a:ln>
                <a:noFill/>
              </a:ln>
              <a:solidFill>
                <a:srgbClr val="4472C4"/>
              </a:solidFill>
              <a:effectLst/>
              <a:uLnTx/>
              <a:uFillTx/>
              <a:latin typeface="Arial Rounded MT Bold" panose="020F0704030504030204" pitchFamily="34" charset="0"/>
              <a:ea typeface="+mn-ea"/>
              <a:cs typeface="Times New Roman" panose="02020603050405020304" pitchFamily="18" charset="0"/>
            </a:endParaRPr>
          </a:p>
        </p:txBody>
      </p:sp>
      <p:sp>
        <p:nvSpPr>
          <p:cNvPr id="5" name="Rectangle 2">
            <a:extLst>
              <a:ext uri="{FF2B5EF4-FFF2-40B4-BE49-F238E27FC236}">
                <a16:creationId xmlns:a16="http://schemas.microsoft.com/office/drawing/2014/main" id="{75039C9B-5FB6-0046-BBA2-A3D60611AF2E}"/>
              </a:ext>
            </a:extLst>
          </p:cNvPr>
          <p:cNvSpPr>
            <a:spLocks noChangeArrowheads="1"/>
          </p:cNvSpPr>
          <p:nvPr/>
        </p:nvSpPr>
        <p:spPr bwMode="auto">
          <a:xfrm>
            <a:off x="2163679" y="1886452"/>
            <a:ext cx="928394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rgbClr val="4472C4"/>
                </a:solidFill>
                <a:effectLst/>
                <a:uLnTx/>
                <a:uFillTx/>
                <a:latin typeface="Calibri" panose="020F0502020204030204"/>
                <a:ea typeface="Work Sans Light" charset="0"/>
                <a:cs typeface="Work Sans Light" charset="0"/>
              </a:rPr>
              <a:t>ESTADO DE LAS ACCIONES CORRECTIVAS  Y OPORTUNIDADES DE MEJORA</a:t>
            </a:r>
          </a:p>
        </p:txBody>
      </p:sp>
      <p:sp>
        <p:nvSpPr>
          <p:cNvPr id="6" name="CuadroTexto 5">
            <a:extLst>
              <a:ext uri="{FF2B5EF4-FFF2-40B4-BE49-F238E27FC236}">
                <a16:creationId xmlns:a16="http://schemas.microsoft.com/office/drawing/2014/main" id="{4622F702-CEFD-E823-823C-26F2BDEA4D83}"/>
              </a:ext>
            </a:extLst>
          </p:cNvPr>
          <p:cNvSpPr txBox="1"/>
          <p:nvPr/>
        </p:nvSpPr>
        <p:spPr>
          <a:xfrm>
            <a:off x="3242970" y="4272197"/>
            <a:ext cx="60935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prstClr val="black"/>
                </a:solidFill>
                <a:effectLst/>
                <a:uLnTx/>
                <a:uFillTx/>
                <a:latin typeface="Calibri" panose="020F0502020204030204"/>
                <a:ea typeface="+mn-ea"/>
                <a:cs typeface="+mn-cs"/>
              </a:rPr>
              <a:t>AIDA PAOLA GUEVARA MORALES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rPr>
              <a:t>Gestión Calidad</a:t>
            </a:r>
          </a:p>
        </p:txBody>
      </p:sp>
    </p:spTree>
    <p:extLst>
      <p:ext uri="{BB962C8B-B14F-4D97-AF65-F5344CB8AC3E}">
        <p14:creationId xmlns:p14="http://schemas.microsoft.com/office/powerpoint/2010/main" val="3285572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EE4C861D-275F-D51D-18BC-E34647958B70}"/>
              </a:ext>
            </a:extLst>
          </p:cNvPr>
          <p:cNvGraphicFramePr>
            <a:graphicFrameLocks noGrp="1"/>
          </p:cNvGraphicFramePr>
          <p:nvPr>
            <p:extLst>
              <p:ext uri="{D42A27DB-BD31-4B8C-83A1-F6EECF244321}">
                <p14:modId xmlns:p14="http://schemas.microsoft.com/office/powerpoint/2010/main" val="4061553690"/>
              </p:ext>
            </p:extLst>
          </p:nvPr>
        </p:nvGraphicFramePr>
        <p:xfrm>
          <a:off x="539646" y="1269601"/>
          <a:ext cx="8484432" cy="4351338"/>
        </p:xfrm>
        <a:graphic>
          <a:graphicData uri="http://schemas.openxmlformats.org/drawingml/2006/table">
            <a:tbl>
              <a:tblPr/>
              <a:tblGrid>
                <a:gridCol w="2690624">
                  <a:extLst>
                    <a:ext uri="{9D8B030D-6E8A-4147-A177-3AD203B41FA5}">
                      <a16:colId xmlns:a16="http://schemas.microsoft.com/office/drawing/2014/main" val="4000415534"/>
                    </a:ext>
                  </a:extLst>
                </a:gridCol>
                <a:gridCol w="1076249">
                  <a:extLst>
                    <a:ext uri="{9D8B030D-6E8A-4147-A177-3AD203B41FA5}">
                      <a16:colId xmlns:a16="http://schemas.microsoft.com/office/drawing/2014/main" val="1882293802"/>
                    </a:ext>
                  </a:extLst>
                </a:gridCol>
                <a:gridCol w="3641310">
                  <a:extLst>
                    <a:ext uri="{9D8B030D-6E8A-4147-A177-3AD203B41FA5}">
                      <a16:colId xmlns:a16="http://schemas.microsoft.com/office/drawing/2014/main" val="1637694552"/>
                    </a:ext>
                  </a:extLst>
                </a:gridCol>
                <a:gridCol w="1076249">
                  <a:extLst>
                    <a:ext uri="{9D8B030D-6E8A-4147-A177-3AD203B41FA5}">
                      <a16:colId xmlns:a16="http://schemas.microsoft.com/office/drawing/2014/main" val="1142748099"/>
                    </a:ext>
                  </a:extLst>
                </a:gridCol>
              </a:tblGrid>
              <a:tr h="287273">
                <a:tc>
                  <a:txBody>
                    <a:bodyPr/>
                    <a:lstStyle/>
                    <a:p>
                      <a:pPr algn="ctr" fontAlgn="ctr"/>
                      <a:r>
                        <a:rPr lang="es-CO" sz="900" b="1" i="0" u="none" strike="noStrike" dirty="0">
                          <a:solidFill>
                            <a:schemeClr val="bg1"/>
                          </a:solidFill>
                          <a:effectLst/>
                          <a:latin typeface="Arial" panose="020B0604020202020204" pitchFamily="34" charset="0"/>
                        </a:rPr>
                        <a:t>ACCIONES CORRECTIVAS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es-CO" sz="900" b="1" i="0" u="none" strike="noStrike" dirty="0">
                          <a:solidFill>
                            <a:schemeClr val="bg1"/>
                          </a:solidFill>
                          <a:effectLst/>
                          <a:latin typeface="Arial" panose="020B0604020202020204" pitchFamily="34" charset="0"/>
                        </a:rPr>
                        <a:t>FUENTE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es-CO" sz="900" b="1" i="0" u="none" strike="noStrike" dirty="0">
                          <a:solidFill>
                            <a:schemeClr val="bg1"/>
                          </a:solidFill>
                          <a:effectLst/>
                          <a:latin typeface="Arial" panose="020B0604020202020204" pitchFamily="34" charset="0"/>
                        </a:rPr>
                        <a:t>DESCRIPCIÓN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es-CO" sz="900" b="1" i="0" u="none" strike="noStrike" dirty="0">
                          <a:solidFill>
                            <a:schemeClr val="bg1"/>
                          </a:solidFill>
                          <a:effectLst/>
                          <a:latin typeface="Arial" panose="020B0604020202020204" pitchFamily="34" charset="0"/>
                        </a:rPr>
                        <a:t>ESTADO ACCIÓN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3180348672"/>
                  </a:ext>
                </a:extLst>
              </a:tr>
              <a:tr h="1174439">
                <a:tc>
                  <a:txBody>
                    <a:bodyPr/>
                    <a:lstStyle/>
                    <a:p>
                      <a:pPr algn="ctr" fontAlgn="ctr"/>
                      <a:r>
                        <a:rPr lang="es-MX" sz="1050" b="0" i="0" u="none" strike="noStrike" dirty="0">
                          <a:effectLst/>
                          <a:latin typeface="Arial" panose="020B0604020202020204" pitchFamily="34" charset="0"/>
                        </a:rPr>
                        <a:t>Gestión Administrativa y Financiera - Comunicaciones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50" b="0" i="0" u="none" strike="noStrike" dirty="0">
                          <a:effectLst/>
                          <a:latin typeface="Arial" panose="020B0604020202020204" pitchFamily="34" charset="0"/>
                        </a:rPr>
                        <a:t>Riesgos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MX" sz="1050" b="0" i="0" u="none" strike="noStrike" dirty="0">
                          <a:effectLst/>
                          <a:latin typeface="Arial" panose="020B0604020202020204" pitchFamily="34" charset="0"/>
                        </a:rPr>
                        <a:t>En el informe de rendición de cuentas se presentó una observación por parte de la comunidad con relación a una diferencia en un error entre el informe de gestión del primer semestre con el informe de rendición de cuentas.( fue noticia)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50" b="0" i="0" u="none" strike="noStrike">
                          <a:effectLst/>
                          <a:latin typeface="Arial" panose="020B0604020202020204" pitchFamily="34" charset="0"/>
                        </a:rPr>
                        <a:t>En proceso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4546692"/>
                  </a:ext>
                </a:extLst>
              </a:tr>
              <a:tr h="1326524">
                <a:tc>
                  <a:txBody>
                    <a:bodyPr/>
                    <a:lstStyle/>
                    <a:p>
                      <a:pPr algn="ctr" fontAlgn="ctr"/>
                      <a:r>
                        <a:rPr lang="es-MX" sz="1050" b="0" i="0" u="none" strike="noStrike">
                          <a:effectLst/>
                          <a:latin typeface="Arial" panose="020B0604020202020204" pitchFamily="34" charset="0"/>
                        </a:rPr>
                        <a:t>Gestión de Tecnologias de la  Información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50" b="0" i="0" u="none" strike="noStrike">
                          <a:effectLst/>
                          <a:latin typeface="Arial" panose="020B0604020202020204" pitchFamily="34" charset="0"/>
                        </a:rPr>
                        <a:t>Auditoria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MX" sz="1050" b="0" i="0" u="none" strike="noStrike" dirty="0">
                          <a:effectLst/>
                          <a:latin typeface="Arial" panose="020B0604020202020204" pitchFamily="34" charset="0"/>
                        </a:rPr>
                        <a:t>Se evidencio que las metas establecidas en el plan de acción para el proceso de Gestión de Tecnologías de Información no cumplió con la meta establecida y tampoco se evidencio la acción de mejora que permita gestionar los avances de dichos indicadores, tales son los casos de :Cumplimiento del Plan Mantenimiento, Cumplimento del Plan de </a:t>
                      </a:r>
                      <a:r>
                        <a:rPr lang="es-MX" sz="1050" b="0" i="0" u="none" strike="noStrike" dirty="0" err="1">
                          <a:effectLst/>
                          <a:latin typeface="Arial" panose="020B0604020202020204" pitchFamily="34" charset="0"/>
                        </a:rPr>
                        <a:t>Backup</a:t>
                      </a:r>
                      <a:endParaRPr lang="es-MX" sz="1050" b="0" i="0" u="none" strike="noStrike" dirty="0">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50" b="0" i="0" u="none" strike="noStrike">
                          <a:effectLst/>
                          <a:latin typeface="Arial" panose="020B0604020202020204" pitchFamily="34" charset="0"/>
                        </a:rPr>
                        <a:t>Cumplida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1582432"/>
                  </a:ext>
                </a:extLst>
              </a:tr>
              <a:tr h="1563102">
                <a:tc>
                  <a:txBody>
                    <a:bodyPr/>
                    <a:lstStyle/>
                    <a:p>
                      <a:pPr algn="ctr" fontAlgn="ctr"/>
                      <a:r>
                        <a:rPr lang="es-CO" sz="1050" b="0" i="0" u="none" strike="noStrike">
                          <a:effectLst/>
                          <a:latin typeface="Arial" panose="020B0604020202020204" pitchFamily="34" charset="0"/>
                        </a:rPr>
                        <a:t>Relacionamiento con la ciudadaníoa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50" b="0" i="0" u="none" strike="noStrike">
                          <a:effectLst/>
                          <a:latin typeface="Arial" panose="020B0604020202020204" pitchFamily="34" charset="0"/>
                        </a:rPr>
                        <a:t>Auditoria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MX" sz="1050" b="0" i="0" u="none" strike="noStrike" dirty="0">
                          <a:effectLst/>
                          <a:latin typeface="Arial" panose="020B0604020202020204" pitchFamily="34" charset="0"/>
                        </a:rPr>
                        <a:t>Revisado el Sistema de Información CORRYCOM se evidenció que las tablas de retención documental convalidadas y registradas vigentes, se encuentran desactualizadas y falta por activar algunos usuarios, lo cual no permite realizar asignaciones, seguimientos ni cierres a los documentos que radican ante la Corporación, tal y como se evidencia en los siguientes radicados Rad: 202209069999900711, 202209190010001396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O" sz="1050" b="0" i="0" u="none" strike="noStrike" dirty="0">
                          <a:effectLst/>
                          <a:latin typeface="Arial" panose="020B0604020202020204" pitchFamily="34" charset="0"/>
                        </a:rPr>
                        <a:t>Cumplida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4594903"/>
                  </a:ext>
                </a:extLst>
              </a:tr>
            </a:tbl>
          </a:graphicData>
        </a:graphic>
      </p:graphicFrame>
      <p:sp>
        <p:nvSpPr>
          <p:cNvPr id="5" name="CuadroTexto 4">
            <a:extLst>
              <a:ext uri="{FF2B5EF4-FFF2-40B4-BE49-F238E27FC236}">
                <a16:creationId xmlns:a16="http://schemas.microsoft.com/office/drawing/2014/main" id="{FB8B76E5-0E50-1D2B-032D-C80F3B0BCC6F}"/>
              </a:ext>
            </a:extLst>
          </p:cNvPr>
          <p:cNvSpPr txBox="1"/>
          <p:nvPr/>
        </p:nvSpPr>
        <p:spPr>
          <a:xfrm>
            <a:off x="9518753" y="3987383"/>
            <a:ext cx="2428407" cy="1477328"/>
          </a:xfrm>
          <a:prstGeom prst="rect">
            <a:avLst/>
          </a:prstGeom>
          <a:noFill/>
        </p:spPr>
        <p:txBody>
          <a:bodyPr wrap="square" rtlCol="0">
            <a:spAutoFit/>
          </a:bodyPr>
          <a:lstStyle/>
          <a:p>
            <a:r>
              <a:rPr lang="es-CO" b="1" dirty="0"/>
              <a:t>3:  Acciones Correctivas</a:t>
            </a:r>
          </a:p>
          <a:p>
            <a:endParaRPr lang="es-CO" b="1" dirty="0"/>
          </a:p>
          <a:p>
            <a:endParaRPr lang="es-CO" b="1" dirty="0"/>
          </a:p>
          <a:p>
            <a:r>
              <a:rPr lang="es-CO" b="1" dirty="0"/>
              <a:t>2:  Cumplida</a:t>
            </a:r>
          </a:p>
          <a:p>
            <a:r>
              <a:rPr lang="es-CO" b="1" dirty="0"/>
              <a:t>1:   En proceso</a:t>
            </a:r>
          </a:p>
        </p:txBody>
      </p:sp>
    </p:spTree>
    <p:extLst>
      <p:ext uri="{BB962C8B-B14F-4D97-AF65-F5344CB8AC3E}">
        <p14:creationId xmlns:p14="http://schemas.microsoft.com/office/powerpoint/2010/main" val="285553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92EED6-F7E4-488A-84F0-0C26B1B10CC4}"/>
              </a:ext>
            </a:extLst>
          </p:cNvPr>
          <p:cNvSpPr txBox="1"/>
          <p:nvPr/>
        </p:nvSpPr>
        <p:spPr>
          <a:xfrm>
            <a:off x="326265" y="945113"/>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3" name="CuadroTexto 2">
            <a:extLst>
              <a:ext uri="{FF2B5EF4-FFF2-40B4-BE49-F238E27FC236}">
                <a16:creationId xmlns:a16="http://schemas.microsoft.com/office/drawing/2014/main" id="{28122757-E07B-F39A-80B1-347BF69D6F79}"/>
              </a:ext>
            </a:extLst>
          </p:cNvPr>
          <p:cNvSpPr txBox="1"/>
          <p:nvPr/>
        </p:nvSpPr>
        <p:spPr>
          <a:xfrm>
            <a:off x="910796" y="1499111"/>
            <a:ext cx="10852878" cy="954107"/>
          </a:xfrm>
          <a:prstGeom prst="rect">
            <a:avLst/>
          </a:prstGeom>
          <a:noFill/>
        </p:spPr>
        <p:txBody>
          <a:bodyPr wrap="square" rtlCol="0">
            <a:spAutoFit/>
          </a:bodyPr>
          <a:lstStyle/>
          <a:p>
            <a:pPr marL="2353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400" dirty="0">
                <a:solidFill>
                  <a:srgbClr val="333333"/>
                </a:solidFill>
                <a:latin typeface="Arial" panose="020B0604020202020204" pitchFamily="34" charset="0"/>
                <a:cs typeface="Arial" panose="020B0604020202020204" pitchFamily="34" charset="0"/>
              </a:rPr>
              <a:t>En cuanto al análisis de causas, es importante que de manera obligatoria para el análisis de causas se utilice la herramienta de apoyo para </a:t>
            </a:r>
            <a:r>
              <a:rPr lang="es-MX" sz="1400" dirty="0" err="1">
                <a:solidFill>
                  <a:srgbClr val="333333"/>
                </a:solidFill>
                <a:latin typeface="Arial" panose="020B0604020202020204" pitchFamily="34" charset="0"/>
                <a:cs typeface="Arial" panose="020B0604020202020204" pitchFamily="34" charset="0"/>
              </a:rPr>
              <a:t>forlalecer</a:t>
            </a:r>
            <a:r>
              <a:rPr lang="es-MX" sz="1400" dirty="0">
                <a:solidFill>
                  <a:srgbClr val="333333"/>
                </a:solidFill>
                <a:latin typeface="Arial" panose="020B0604020202020204" pitchFamily="34" charset="0"/>
                <a:cs typeface="Arial" panose="020B0604020202020204" pitchFamily="34" charset="0"/>
              </a:rPr>
              <a:t> su gestión.</a:t>
            </a:r>
          </a:p>
          <a:p>
            <a:pPr marL="2353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400" dirty="0">
                <a:solidFill>
                  <a:srgbClr val="333333"/>
                </a:solidFill>
                <a:latin typeface="Arial" panose="020B0604020202020204" pitchFamily="34" charset="0"/>
                <a:cs typeface="Arial" panose="020B0604020202020204" pitchFamily="34" charset="0"/>
              </a:rPr>
              <a:t>Incluir los planes de mejoramiento resultantes de las auditorias de control interno dentro del instrumento o herramienta con el fin de centralizar las acciones y que cada proceso, cuente  una sola herramienta.</a:t>
            </a:r>
            <a:endPar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33680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9F27E7BA-704B-0357-5A77-59BAB8C3A6CC}"/>
              </a:ext>
            </a:extLst>
          </p:cNvPr>
          <p:cNvSpPr txBox="1"/>
          <p:nvPr/>
        </p:nvSpPr>
        <p:spPr>
          <a:xfrm>
            <a:off x="1326267" y="2225085"/>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cs typeface="+mn-cs"/>
              </a:rPr>
              <a:t>7.|</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1D29B4AC-E8AF-07A7-A7AC-0C30302D464F}"/>
              </a:ext>
            </a:extLst>
          </p:cNvPr>
          <p:cNvSpPr>
            <a:spLocks noChangeArrowheads="1"/>
          </p:cNvSpPr>
          <p:nvPr/>
        </p:nvSpPr>
        <p:spPr bwMode="auto">
          <a:xfrm>
            <a:off x="2433502" y="2274838"/>
            <a:ext cx="928394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RESULTADOS DE AUDITORIA</a:t>
            </a:r>
          </a:p>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prstClr val="black"/>
                </a:solidFill>
                <a:effectLst/>
                <a:uLnTx/>
                <a:uFillTx/>
                <a:latin typeface="Calibri" panose="020F0502020204030204"/>
                <a:ea typeface="Work Sans Light" charset="0"/>
                <a:cs typeface="Work Sans Light" charset="0"/>
              </a:rPr>
              <a:t>A. Auditoria Control Interno.</a:t>
            </a:r>
          </a:p>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prstClr val="black"/>
                </a:solidFill>
                <a:effectLst/>
                <a:uLnTx/>
                <a:uFillTx/>
                <a:latin typeface="Calibri" panose="020F0502020204030204"/>
                <a:ea typeface="Work Sans Light" charset="0"/>
                <a:cs typeface="Work Sans Light" charset="0"/>
              </a:rPr>
              <a:t>B. Auditoria Interna de Calidad</a:t>
            </a:r>
          </a:p>
        </p:txBody>
      </p:sp>
      <p:sp>
        <p:nvSpPr>
          <p:cNvPr id="4" name="CuadroTexto 3">
            <a:extLst>
              <a:ext uri="{FF2B5EF4-FFF2-40B4-BE49-F238E27FC236}">
                <a16:creationId xmlns:a16="http://schemas.microsoft.com/office/drawing/2014/main" id="{1A84B7DB-7380-C740-A70F-3982B01689CB}"/>
              </a:ext>
            </a:extLst>
          </p:cNvPr>
          <p:cNvSpPr txBox="1"/>
          <p:nvPr/>
        </p:nvSpPr>
        <p:spPr>
          <a:xfrm>
            <a:off x="3180547" y="4885117"/>
            <a:ext cx="60935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rPr>
              <a:t>Geovani Castro- Jefe Oficina de Control Interno</a:t>
            </a:r>
          </a:p>
          <a:p>
            <a:pPr marL="0" marR="0" lvl="0" indent="0" algn="ctr" defTabSz="914400" rtl="0" eaLnBrk="1" fontAlgn="auto" latinLnBrk="0" hangingPunct="1">
              <a:lnSpc>
                <a:spcPct val="100000"/>
              </a:lnSpc>
              <a:spcBef>
                <a:spcPts val="0"/>
              </a:spcBef>
              <a:spcAft>
                <a:spcPts val="0"/>
              </a:spcAft>
              <a:buClrTx/>
              <a:buSzTx/>
              <a:buFontTx/>
              <a:buNone/>
              <a:tabLst/>
              <a:defRPr/>
            </a:pPr>
            <a:r>
              <a:rPr lang="es-CO" dirty="0">
                <a:solidFill>
                  <a:prstClr val="black"/>
                </a:solidFill>
                <a:latin typeface="Calibri" panose="020F0502020204030204"/>
              </a:rPr>
              <a:t>Paola Guevara -  Gestión Calidad</a:t>
            </a:r>
            <a:endPar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69348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7" name="Google Shape;199;p24"/>
          <p:cNvGrpSpPr/>
          <p:nvPr/>
        </p:nvGrpSpPr>
        <p:grpSpPr>
          <a:xfrm>
            <a:off x="9144000" y="3247736"/>
            <a:ext cx="1218571" cy="673749"/>
            <a:chOff x="531800" y="5071350"/>
            <a:chExt cx="529750" cy="292900"/>
          </a:xfrm>
        </p:grpSpPr>
        <p:sp>
          <p:nvSpPr>
            <p:cNvPr id="38" name="Google Shape;200;p24"/>
            <p:cNvSpPr/>
            <p:nvPr/>
          </p:nvSpPr>
          <p:spPr>
            <a:xfrm>
              <a:off x="632875" y="5077450"/>
              <a:ext cx="272200" cy="185725"/>
            </a:xfrm>
            <a:custGeom>
              <a:avLst/>
              <a:gdLst/>
              <a:ahLst/>
              <a:cxnLst/>
              <a:rect l="l" t="t" r="r" b="b"/>
              <a:pathLst>
                <a:path w="10888" h="7429" fill="none" extrusionOk="0">
                  <a:moveTo>
                    <a:pt x="2947" y="0"/>
                  </a:moveTo>
                  <a:lnTo>
                    <a:pt x="6406" y="7428"/>
                  </a:lnTo>
                  <a:lnTo>
                    <a:pt x="10887" y="2314"/>
                  </a:lnTo>
                  <a:lnTo>
                    <a:pt x="4019" y="2314"/>
                  </a:lnTo>
                  <a:lnTo>
                    <a:pt x="0" y="7428"/>
                  </a:lnTo>
                  <a:lnTo>
                    <a:pt x="6406" y="742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Google Shape;201;p24"/>
            <p:cNvSpPr/>
            <p:nvPr/>
          </p:nvSpPr>
          <p:spPr>
            <a:xfrm>
              <a:off x="886175" y="5071350"/>
              <a:ext cx="74300" cy="191825"/>
            </a:xfrm>
            <a:custGeom>
              <a:avLst/>
              <a:gdLst/>
              <a:ahLst/>
              <a:cxnLst/>
              <a:rect l="l" t="t" r="r" b="b"/>
              <a:pathLst>
                <a:path w="2972" h="7673" fill="none" extrusionOk="0">
                  <a:moveTo>
                    <a:pt x="2971" y="7672"/>
                  </a:moveTo>
                  <a:lnTo>
                    <a:pt x="0" y="1"/>
                  </a:lnTo>
                  <a:lnTo>
                    <a:pt x="1364" y="1"/>
                  </a:lnTo>
                  <a:lnTo>
                    <a:pt x="1364" y="1"/>
                  </a:lnTo>
                  <a:lnTo>
                    <a:pt x="1534" y="25"/>
                  </a:lnTo>
                  <a:lnTo>
                    <a:pt x="1681" y="49"/>
                  </a:lnTo>
                  <a:lnTo>
                    <a:pt x="1827" y="147"/>
                  </a:lnTo>
                  <a:lnTo>
                    <a:pt x="1875" y="195"/>
                  </a:lnTo>
                  <a:lnTo>
                    <a:pt x="1900" y="244"/>
                  </a:lnTo>
                  <a:lnTo>
                    <a:pt x="1924" y="342"/>
                  </a:lnTo>
                  <a:lnTo>
                    <a:pt x="1900" y="439"/>
                  </a:lnTo>
                  <a:lnTo>
                    <a:pt x="1851" y="536"/>
                  </a:lnTo>
                  <a:lnTo>
                    <a:pt x="1778" y="658"/>
                  </a:lnTo>
                  <a:lnTo>
                    <a:pt x="1656" y="804"/>
                  </a:lnTo>
                  <a:lnTo>
                    <a:pt x="1486" y="975"/>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Google Shape;202;p24"/>
            <p:cNvSpPr/>
            <p:nvPr/>
          </p:nvSpPr>
          <p:spPr>
            <a:xfrm>
              <a:off x="531800" y="5162075"/>
              <a:ext cx="202175" cy="202175"/>
            </a:xfrm>
            <a:custGeom>
              <a:avLst/>
              <a:gdLst/>
              <a:ahLst/>
              <a:cxnLst/>
              <a:rect l="l" t="t" r="r" b="b"/>
              <a:pathLst>
                <a:path w="8087" h="8087" fill="none" extrusionOk="0">
                  <a:moveTo>
                    <a:pt x="1" y="4043"/>
                  </a:moveTo>
                  <a:lnTo>
                    <a:pt x="1" y="4043"/>
                  </a:lnTo>
                  <a:lnTo>
                    <a:pt x="25" y="3629"/>
                  </a:lnTo>
                  <a:lnTo>
                    <a:pt x="74" y="3215"/>
                  </a:lnTo>
                  <a:lnTo>
                    <a:pt x="171" y="2826"/>
                  </a:lnTo>
                  <a:lnTo>
                    <a:pt x="317" y="2460"/>
                  </a:lnTo>
                  <a:lnTo>
                    <a:pt x="488" y="2119"/>
                  </a:lnTo>
                  <a:lnTo>
                    <a:pt x="682" y="1778"/>
                  </a:lnTo>
                  <a:lnTo>
                    <a:pt x="926" y="1462"/>
                  </a:lnTo>
                  <a:lnTo>
                    <a:pt x="1194" y="1170"/>
                  </a:lnTo>
                  <a:lnTo>
                    <a:pt x="1462" y="926"/>
                  </a:lnTo>
                  <a:lnTo>
                    <a:pt x="1778" y="682"/>
                  </a:lnTo>
                  <a:lnTo>
                    <a:pt x="2119" y="488"/>
                  </a:lnTo>
                  <a:lnTo>
                    <a:pt x="2460" y="317"/>
                  </a:lnTo>
                  <a:lnTo>
                    <a:pt x="2850" y="171"/>
                  </a:lnTo>
                  <a:lnTo>
                    <a:pt x="3240" y="74"/>
                  </a:lnTo>
                  <a:lnTo>
                    <a:pt x="3629" y="25"/>
                  </a:lnTo>
                  <a:lnTo>
                    <a:pt x="4043" y="0"/>
                  </a:lnTo>
                  <a:lnTo>
                    <a:pt x="4043" y="0"/>
                  </a:lnTo>
                  <a:lnTo>
                    <a:pt x="4458" y="25"/>
                  </a:lnTo>
                  <a:lnTo>
                    <a:pt x="4872" y="74"/>
                  </a:lnTo>
                  <a:lnTo>
                    <a:pt x="5237" y="171"/>
                  </a:lnTo>
                  <a:lnTo>
                    <a:pt x="5627" y="317"/>
                  </a:lnTo>
                  <a:lnTo>
                    <a:pt x="5968" y="488"/>
                  </a:lnTo>
                  <a:lnTo>
                    <a:pt x="6308" y="682"/>
                  </a:lnTo>
                  <a:lnTo>
                    <a:pt x="6625" y="926"/>
                  </a:lnTo>
                  <a:lnTo>
                    <a:pt x="6917" y="1170"/>
                  </a:lnTo>
                  <a:lnTo>
                    <a:pt x="7161" y="1462"/>
                  </a:lnTo>
                  <a:lnTo>
                    <a:pt x="7404" y="1778"/>
                  </a:lnTo>
                  <a:lnTo>
                    <a:pt x="7599" y="2119"/>
                  </a:lnTo>
                  <a:lnTo>
                    <a:pt x="7770" y="2460"/>
                  </a:lnTo>
                  <a:lnTo>
                    <a:pt x="7916" y="2826"/>
                  </a:lnTo>
                  <a:lnTo>
                    <a:pt x="8013" y="3215"/>
                  </a:lnTo>
                  <a:lnTo>
                    <a:pt x="8062" y="3629"/>
                  </a:lnTo>
                  <a:lnTo>
                    <a:pt x="8086" y="4043"/>
                  </a:lnTo>
                  <a:lnTo>
                    <a:pt x="8086" y="4043"/>
                  </a:lnTo>
                  <a:lnTo>
                    <a:pt x="8062" y="4457"/>
                  </a:lnTo>
                  <a:lnTo>
                    <a:pt x="8013" y="4847"/>
                  </a:lnTo>
                  <a:lnTo>
                    <a:pt x="7916" y="5237"/>
                  </a:lnTo>
                  <a:lnTo>
                    <a:pt x="7770" y="5626"/>
                  </a:lnTo>
                  <a:lnTo>
                    <a:pt x="7599" y="5967"/>
                  </a:lnTo>
                  <a:lnTo>
                    <a:pt x="7404" y="6308"/>
                  </a:lnTo>
                  <a:lnTo>
                    <a:pt x="7161" y="6625"/>
                  </a:lnTo>
                  <a:lnTo>
                    <a:pt x="6917" y="6893"/>
                  </a:lnTo>
                  <a:lnTo>
                    <a:pt x="6625" y="7161"/>
                  </a:lnTo>
                  <a:lnTo>
                    <a:pt x="6308" y="7404"/>
                  </a:lnTo>
                  <a:lnTo>
                    <a:pt x="5968" y="7599"/>
                  </a:lnTo>
                  <a:lnTo>
                    <a:pt x="5627" y="7770"/>
                  </a:lnTo>
                  <a:lnTo>
                    <a:pt x="5237" y="7916"/>
                  </a:lnTo>
                  <a:lnTo>
                    <a:pt x="4872" y="8013"/>
                  </a:lnTo>
                  <a:lnTo>
                    <a:pt x="4458" y="8062"/>
                  </a:lnTo>
                  <a:lnTo>
                    <a:pt x="4043" y="8086"/>
                  </a:lnTo>
                  <a:lnTo>
                    <a:pt x="4043" y="8086"/>
                  </a:lnTo>
                  <a:lnTo>
                    <a:pt x="3629" y="8062"/>
                  </a:lnTo>
                  <a:lnTo>
                    <a:pt x="3240" y="8013"/>
                  </a:lnTo>
                  <a:lnTo>
                    <a:pt x="2850" y="7916"/>
                  </a:lnTo>
                  <a:lnTo>
                    <a:pt x="2460" y="7770"/>
                  </a:lnTo>
                  <a:lnTo>
                    <a:pt x="2119" y="7599"/>
                  </a:lnTo>
                  <a:lnTo>
                    <a:pt x="1778" y="7404"/>
                  </a:lnTo>
                  <a:lnTo>
                    <a:pt x="1462" y="7161"/>
                  </a:lnTo>
                  <a:lnTo>
                    <a:pt x="1194" y="6893"/>
                  </a:lnTo>
                  <a:lnTo>
                    <a:pt x="926" y="6625"/>
                  </a:lnTo>
                  <a:lnTo>
                    <a:pt x="682" y="6308"/>
                  </a:lnTo>
                  <a:lnTo>
                    <a:pt x="488" y="5967"/>
                  </a:lnTo>
                  <a:lnTo>
                    <a:pt x="317" y="5626"/>
                  </a:lnTo>
                  <a:lnTo>
                    <a:pt x="171" y="5237"/>
                  </a:lnTo>
                  <a:lnTo>
                    <a:pt x="74" y="4847"/>
                  </a:lnTo>
                  <a:lnTo>
                    <a:pt x="25" y="4457"/>
                  </a:lnTo>
                  <a:lnTo>
                    <a:pt x="1" y="4043"/>
                  </a:lnTo>
                  <a:lnTo>
                    <a:pt x="1" y="404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Google Shape;203;p24"/>
            <p:cNvSpPr/>
            <p:nvPr/>
          </p:nvSpPr>
          <p:spPr>
            <a:xfrm>
              <a:off x="859375" y="5162075"/>
              <a:ext cx="202175" cy="202175"/>
            </a:xfrm>
            <a:custGeom>
              <a:avLst/>
              <a:gdLst/>
              <a:ahLst/>
              <a:cxnLst/>
              <a:rect l="l" t="t" r="r" b="b"/>
              <a:pathLst>
                <a:path w="8087" h="8087" fill="none" extrusionOk="0">
                  <a:moveTo>
                    <a:pt x="1" y="4043"/>
                  </a:moveTo>
                  <a:lnTo>
                    <a:pt x="1" y="4043"/>
                  </a:lnTo>
                  <a:lnTo>
                    <a:pt x="1" y="3629"/>
                  </a:lnTo>
                  <a:lnTo>
                    <a:pt x="74" y="3215"/>
                  </a:lnTo>
                  <a:lnTo>
                    <a:pt x="171" y="2826"/>
                  </a:lnTo>
                  <a:lnTo>
                    <a:pt x="317" y="2460"/>
                  </a:lnTo>
                  <a:lnTo>
                    <a:pt x="488" y="2119"/>
                  </a:lnTo>
                  <a:lnTo>
                    <a:pt x="682" y="1778"/>
                  </a:lnTo>
                  <a:lnTo>
                    <a:pt x="926" y="1462"/>
                  </a:lnTo>
                  <a:lnTo>
                    <a:pt x="1170" y="1170"/>
                  </a:lnTo>
                  <a:lnTo>
                    <a:pt x="1462" y="926"/>
                  </a:lnTo>
                  <a:lnTo>
                    <a:pt x="1778" y="682"/>
                  </a:lnTo>
                  <a:lnTo>
                    <a:pt x="2119" y="488"/>
                  </a:lnTo>
                  <a:lnTo>
                    <a:pt x="2460" y="317"/>
                  </a:lnTo>
                  <a:lnTo>
                    <a:pt x="2826" y="171"/>
                  </a:lnTo>
                  <a:lnTo>
                    <a:pt x="3215" y="74"/>
                  </a:lnTo>
                  <a:lnTo>
                    <a:pt x="3629" y="25"/>
                  </a:lnTo>
                  <a:lnTo>
                    <a:pt x="4043" y="0"/>
                  </a:lnTo>
                  <a:lnTo>
                    <a:pt x="4043" y="0"/>
                  </a:lnTo>
                  <a:lnTo>
                    <a:pt x="4457" y="25"/>
                  </a:lnTo>
                  <a:lnTo>
                    <a:pt x="4847" y="74"/>
                  </a:lnTo>
                  <a:lnTo>
                    <a:pt x="5237" y="171"/>
                  </a:lnTo>
                  <a:lnTo>
                    <a:pt x="5602" y="317"/>
                  </a:lnTo>
                  <a:lnTo>
                    <a:pt x="5967" y="488"/>
                  </a:lnTo>
                  <a:lnTo>
                    <a:pt x="6308" y="682"/>
                  </a:lnTo>
                  <a:lnTo>
                    <a:pt x="6601" y="926"/>
                  </a:lnTo>
                  <a:lnTo>
                    <a:pt x="6893" y="1170"/>
                  </a:lnTo>
                  <a:lnTo>
                    <a:pt x="7161" y="1462"/>
                  </a:lnTo>
                  <a:lnTo>
                    <a:pt x="7380" y="1778"/>
                  </a:lnTo>
                  <a:lnTo>
                    <a:pt x="7599" y="2119"/>
                  </a:lnTo>
                  <a:lnTo>
                    <a:pt x="7770" y="2460"/>
                  </a:lnTo>
                  <a:lnTo>
                    <a:pt x="7892" y="2826"/>
                  </a:lnTo>
                  <a:lnTo>
                    <a:pt x="7989" y="3215"/>
                  </a:lnTo>
                  <a:lnTo>
                    <a:pt x="8062" y="3629"/>
                  </a:lnTo>
                  <a:lnTo>
                    <a:pt x="8086" y="4043"/>
                  </a:lnTo>
                  <a:lnTo>
                    <a:pt x="8086" y="4043"/>
                  </a:lnTo>
                  <a:lnTo>
                    <a:pt x="8062" y="4457"/>
                  </a:lnTo>
                  <a:lnTo>
                    <a:pt x="7989" y="4847"/>
                  </a:lnTo>
                  <a:lnTo>
                    <a:pt x="7892" y="5237"/>
                  </a:lnTo>
                  <a:lnTo>
                    <a:pt x="7770" y="5626"/>
                  </a:lnTo>
                  <a:lnTo>
                    <a:pt x="7599" y="5967"/>
                  </a:lnTo>
                  <a:lnTo>
                    <a:pt x="7380" y="6308"/>
                  </a:lnTo>
                  <a:lnTo>
                    <a:pt x="7161" y="6625"/>
                  </a:lnTo>
                  <a:lnTo>
                    <a:pt x="6893" y="6893"/>
                  </a:lnTo>
                  <a:lnTo>
                    <a:pt x="6601" y="7161"/>
                  </a:lnTo>
                  <a:lnTo>
                    <a:pt x="6308" y="7404"/>
                  </a:lnTo>
                  <a:lnTo>
                    <a:pt x="5967" y="7599"/>
                  </a:lnTo>
                  <a:lnTo>
                    <a:pt x="5602" y="7770"/>
                  </a:lnTo>
                  <a:lnTo>
                    <a:pt x="5237" y="7916"/>
                  </a:lnTo>
                  <a:lnTo>
                    <a:pt x="4847" y="8013"/>
                  </a:lnTo>
                  <a:lnTo>
                    <a:pt x="4457" y="8062"/>
                  </a:lnTo>
                  <a:lnTo>
                    <a:pt x="4043" y="8086"/>
                  </a:lnTo>
                  <a:lnTo>
                    <a:pt x="4043" y="8086"/>
                  </a:lnTo>
                  <a:lnTo>
                    <a:pt x="3629" y="8062"/>
                  </a:lnTo>
                  <a:lnTo>
                    <a:pt x="3215" y="8013"/>
                  </a:lnTo>
                  <a:lnTo>
                    <a:pt x="2826" y="7916"/>
                  </a:lnTo>
                  <a:lnTo>
                    <a:pt x="2460" y="7770"/>
                  </a:lnTo>
                  <a:lnTo>
                    <a:pt x="2119" y="7599"/>
                  </a:lnTo>
                  <a:lnTo>
                    <a:pt x="1778" y="7404"/>
                  </a:lnTo>
                  <a:lnTo>
                    <a:pt x="1462" y="7161"/>
                  </a:lnTo>
                  <a:lnTo>
                    <a:pt x="1170" y="6893"/>
                  </a:lnTo>
                  <a:lnTo>
                    <a:pt x="926" y="6625"/>
                  </a:lnTo>
                  <a:lnTo>
                    <a:pt x="682" y="6308"/>
                  </a:lnTo>
                  <a:lnTo>
                    <a:pt x="488" y="5967"/>
                  </a:lnTo>
                  <a:lnTo>
                    <a:pt x="317" y="5626"/>
                  </a:lnTo>
                  <a:lnTo>
                    <a:pt x="171" y="5237"/>
                  </a:lnTo>
                  <a:lnTo>
                    <a:pt x="74" y="4847"/>
                  </a:lnTo>
                  <a:lnTo>
                    <a:pt x="1" y="4457"/>
                  </a:lnTo>
                  <a:lnTo>
                    <a:pt x="1" y="4043"/>
                  </a:lnTo>
                  <a:lnTo>
                    <a:pt x="1" y="404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Google Shape;204;p24"/>
            <p:cNvSpPr/>
            <p:nvPr/>
          </p:nvSpPr>
          <p:spPr>
            <a:xfrm>
              <a:off x="676100" y="5071350"/>
              <a:ext cx="86500" cy="7325"/>
            </a:xfrm>
            <a:custGeom>
              <a:avLst/>
              <a:gdLst/>
              <a:ahLst/>
              <a:cxnLst/>
              <a:rect l="l" t="t" r="r" b="b"/>
              <a:pathLst>
                <a:path w="3460" h="293" fill="none" extrusionOk="0">
                  <a:moveTo>
                    <a:pt x="1" y="1"/>
                  </a:moveTo>
                  <a:lnTo>
                    <a:pt x="3459" y="29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Google Shape;205;p24"/>
            <p:cNvSpPr/>
            <p:nvPr/>
          </p:nvSpPr>
          <p:spPr>
            <a:xfrm>
              <a:off x="941575" y="5244275"/>
              <a:ext cx="37175" cy="37175"/>
            </a:xfrm>
            <a:custGeom>
              <a:avLst/>
              <a:gdLst/>
              <a:ahLst/>
              <a:cxnLst/>
              <a:rect l="l" t="t" r="r" b="b"/>
              <a:pathLst>
                <a:path w="1487" h="1487" fill="none" extrusionOk="0">
                  <a:moveTo>
                    <a:pt x="0" y="755"/>
                  </a:moveTo>
                  <a:lnTo>
                    <a:pt x="0" y="755"/>
                  </a:lnTo>
                  <a:lnTo>
                    <a:pt x="25" y="609"/>
                  </a:lnTo>
                  <a:lnTo>
                    <a:pt x="73" y="463"/>
                  </a:lnTo>
                  <a:lnTo>
                    <a:pt x="122" y="341"/>
                  </a:lnTo>
                  <a:lnTo>
                    <a:pt x="220" y="220"/>
                  </a:lnTo>
                  <a:lnTo>
                    <a:pt x="341" y="147"/>
                  </a:lnTo>
                  <a:lnTo>
                    <a:pt x="463" y="73"/>
                  </a:lnTo>
                  <a:lnTo>
                    <a:pt x="609" y="25"/>
                  </a:lnTo>
                  <a:lnTo>
                    <a:pt x="755" y="0"/>
                  </a:lnTo>
                  <a:lnTo>
                    <a:pt x="755" y="0"/>
                  </a:lnTo>
                  <a:lnTo>
                    <a:pt x="902" y="25"/>
                  </a:lnTo>
                  <a:lnTo>
                    <a:pt x="1048" y="73"/>
                  </a:lnTo>
                  <a:lnTo>
                    <a:pt x="1169" y="147"/>
                  </a:lnTo>
                  <a:lnTo>
                    <a:pt x="1267" y="220"/>
                  </a:lnTo>
                  <a:lnTo>
                    <a:pt x="1364" y="341"/>
                  </a:lnTo>
                  <a:lnTo>
                    <a:pt x="1437" y="463"/>
                  </a:lnTo>
                  <a:lnTo>
                    <a:pt x="1486" y="609"/>
                  </a:lnTo>
                  <a:lnTo>
                    <a:pt x="1486" y="755"/>
                  </a:lnTo>
                  <a:lnTo>
                    <a:pt x="1486" y="755"/>
                  </a:lnTo>
                  <a:lnTo>
                    <a:pt x="1486" y="902"/>
                  </a:lnTo>
                  <a:lnTo>
                    <a:pt x="1437" y="1048"/>
                  </a:lnTo>
                  <a:lnTo>
                    <a:pt x="1364" y="1169"/>
                  </a:lnTo>
                  <a:lnTo>
                    <a:pt x="1267" y="1267"/>
                  </a:lnTo>
                  <a:lnTo>
                    <a:pt x="1169" y="1364"/>
                  </a:lnTo>
                  <a:lnTo>
                    <a:pt x="1048" y="1437"/>
                  </a:lnTo>
                  <a:lnTo>
                    <a:pt x="902" y="1486"/>
                  </a:lnTo>
                  <a:lnTo>
                    <a:pt x="755" y="1486"/>
                  </a:lnTo>
                  <a:lnTo>
                    <a:pt x="755" y="1486"/>
                  </a:lnTo>
                  <a:lnTo>
                    <a:pt x="609" y="1486"/>
                  </a:lnTo>
                  <a:lnTo>
                    <a:pt x="463" y="1437"/>
                  </a:lnTo>
                  <a:lnTo>
                    <a:pt x="341" y="1364"/>
                  </a:lnTo>
                  <a:lnTo>
                    <a:pt x="220" y="1267"/>
                  </a:lnTo>
                  <a:lnTo>
                    <a:pt x="122" y="1169"/>
                  </a:lnTo>
                  <a:lnTo>
                    <a:pt x="73" y="1048"/>
                  </a:lnTo>
                  <a:lnTo>
                    <a:pt x="25" y="902"/>
                  </a:lnTo>
                  <a:lnTo>
                    <a:pt x="0" y="755"/>
                  </a:lnTo>
                  <a:lnTo>
                    <a:pt x="0" y="75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Google Shape;206;p24"/>
            <p:cNvSpPr/>
            <p:nvPr/>
          </p:nvSpPr>
          <p:spPr>
            <a:xfrm>
              <a:off x="614600" y="5244275"/>
              <a:ext cx="37175" cy="37175"/>
            </a:xfrm>
            <a:custGeom>
              <a:avLst/>
              <a:gdLst/>
              <a:ahLst/>
              <a:cxnLst/>
              <a:rect l="l" t="t" r="r" b="b"/>
              <a:pathLst>
                <a:path w="1487" h="1487" fill="none" extrusionOk="0">
                  <a:moveTo>
                    <a:pt x="1" y="755"/>
                  </a:moveTo>
                  <a:lnTo>
                    <a:pt x="1" y="755"/>
                  </a:lnTo>
                  <a:lnTo>
                    <a:pt x="1" y="609"/>
                  </a:lnTo>
                  <a:lnTo>
                    <a:pt x="50" y="463"/>
                  </a:lnTo>
                  <a:lnTo>
                    <a:pt x="123" y="341"/>
                  </a:lnTo>
                  <a:lnTo>
                    <a:pt x="220" y="220"/>
                  </a:lnTo>
                  <a:lnTo>
                    <a:pt x="317" y="147"/>
                  </a:lnTo>
                  <a:lnTo>
                    <a:pt x="439" y="73"/>
                  </a:lnTo>
                  <a:lnTo>
                    <a:pt x="585" y="25"/>
                  </a:lnTo>
                  <a:lnTo>
                    <a:pt x="731" y="0"/>
                  </a:lnTo>
                  <a:lnTo>
                    <a:pt x="731" y="0"/>
                  </a:lnTo>
                  <a:lnTo>
                    <a:pt x="878" y="25"/>
                  </a:lnTo>
                  <a:lnTo>
                    <a:pt x="1024" y="73"/>
                  </a:lnTo>
                  <a:lnTo>
                    <a:pt x="1146" y="147"/>
                  </a:lnTo>
                  <a:lnTo>
                    <a:pt x="1267" y="220"/>
                  </a:lnTo>
                  <a:lnTo>
                    <a:pt x="1340" y="341"/>
                  </a:lnTo>
                  <a:lnTo>
                    <a:pt x="1413" y="463"/>
                  </a:lnTo>
                  <a:lnTo>
                    <a:pt x="1462" y="609"/>
                  </a:lnTo>
                  <a:lnTo>
                    <a:pt x="1486" y="755"/>
                  </a:lnTo>
                  <a:lnTo>
                    <a:pt x="1486" y="755"/>
                  </a:lnTo>
                  <a:lnTo>
                    <a:pt x="1462" y="902"/>
                  </a:lnTo>
                  <a:lnTo>
                    <a:pt x="1413" y="1048"/>
                  </a:lnTo>
                  <a:lnTo>
                    <a:pt x="1340" y="1169"/>
                  </a:lnTo>
                  <a:lnTo>
                    <a:pt x="1267" y="1267"/>
                  </a:lnTo>
                  <a:lnTo>
                    <a:pt x="1146" y="1364"/>
                  </a:lnTo>
                  <a:lnTo>
                    <a:pt x="1024" y="1437"/>
                  </a:lnTo>
                  <a:lnTo>
                    <a:pt x="878" y="1486"/>
                  </a:lnTo>
                  <a:lnTo>
                    <a:pt x="731" y="1486"/>
                  </a:lnTo>
                  <a:lnTo>
                    <a:pt x="731" y="1486"/>
                  </a:lnTo>
                  <a:lnTo>
                    <a:pt x="585" y="1486"/>
                  </a:lnTo>
                  <a:lnTo>
                    <a:pt x="439" y="1437"/>
                  </a:lnTo>
                  <a:lnTo>
                    <a:pt x="317" y="1364"/>
                  </a:lnTo>
                  <a:lnTo>
                    <a:pt x="220" y="1267"/>
                  </a:lnTo>
                  <a:lnTo>
                    <a:pt x="123" y="1169"/>
                  </a:lnTo>
                  <a:lnTo>
                    <a:pt x="50" y="1048"/>
                  </a:lnTo>
                  <a:lnTo>
                    <a:pt x="1" y="902"/>
                  </a:lnTo>
                  <a:lnTo>
                    <a:pt x="1" y="755"/>
                  </a:lnTo>
                  <a:lnTo>
                    <a:pt x="1" y="75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5" name="Google Shape;185;p24"/>
          <p:cNvSpPr txBox="1">
            <a:spLocks/>
          </p:cNvSpPr>
          <p:nvPr/>
        </p:nvSpPr>
        <p:spPr>
          <a:xfrm>
            <a:off x="1125317" y="4626055"/>
            <a:ext cx="4884393" cy="136007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600"/>
              </a:spcBef>
              <a:spcAft>
                <a:spcPts val="0"/>
              </a:spcAft>
              <a:buClr>
                <a:prstClr val="black"/>
              </a:buClr>
              <a:buSzPts val="1100"/>
              <a:buFont typeface="Arial"/>
              <a:buNone/>
              <a:tabLst/>
              <a:defRPr/>
            </a:pPr>
            <a:endParaRPr kumimoji="0" lang="e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ángulo 3"/>
          <p:cNvSpPr/>
          <p:nvPr/>
        </p:nvSpPr>
        <p:spPr>
          <a:xfrm>
            <a:off x="3562516" y="1175063"/>
            <a:ext cx="7598029" cy="523220"/>
          </a:xfrm>
          <a:prstGeom prst="rect">
            <a:avLst/>
          </a:prstGeom>
        </p:spPr>
        <p:txBody>
          <a:bodyPr wrap="square">
            <a:spAutoFit/>
          </a:body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2800" b="1" i="0" u="none" strike="noStrike" kern="1200" cap="none" spc="0" normalizeH="0" baseline="0" noProof="0" dirty="0">
                <a:ln>
                  <a:noFill/>
                </a:ln>
                <a:solidFill>
                  <a:prstClr val="black"/>
                </a:solidFill>
                <a:effectLst/>
                <a:uLnTx/>
                <a:uFillTx/>
                <a:latin typeface="Calibri" panose="020F0502020204030204"/>
                <a:ea typeface="Work Sans Light" charset="0"/>
                <a:cs typeface="Work Sans Light" charset="0"/>
              </a:rPr>
              <a:t>A. Auditoria Control Interno.</a:t>
            </a:r>
          </a:p>
        </p:txBody>
      </p:sp>
      <p:sp>
        <p:nvSpPr>
          <p:cNvPr id="3" name="Rectángulo 2"/>
          <p:cNvSpPr/>
          <p:nvPr/>
        </p:nvSpPr>
        <p:spPr>
          <a:xfrm>
            <a:off x="213892" y="1942649"/>
            <a:ext cx="11591635" cy="3065455"/>
          </a:xfrm>
          <a:prstGeom prst="rect">
            <a:avLst/>
          </a:prstGeom>
        </p:spPr>
        <p:txBody>
          <a:bodyPr wrap="square">
            <a:spAutoFit/>
          </a:bodyPr>
          <a:lstStyle/>
          <a:p>
            <a:pPr marL="0" marR="0" lvl="0" indent="0" algn="just" defTabSz="914400" rtl="0" eaLnBrk="1" fontAlgn="auto" latinLnBrk="0" hangingPunct="1">
              <a:lnSpc>
                <a:spcPct val="115000"/>
              </a:lnSpc>
              <a:spcBef>
                <a:spcPts val="0"/>
              </a:spcBef>
              <a:spcAft>
                <a:spcPts val="1000"/>
              </a:spcAft>
              <a:buClrTx/>
              <a:buSzTx/>
              <a:buFontTx/>
              <a:buNone/>
              <a:tabLst/>
              <a:defRPr/>
            </a:pPr>
            <a:r>
              <a:rPr kumimoji="0" lang="es-CO" sz="2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Times New Roman" panose="02020603050405020304" pitchFamily="18" charset="0"/>
              </a:rPr>
              <a:t>La ejecución de auditorías es uno de los roles principales en la gestión del Control Interno. Es así que para la vigencia 2022 se programaron 7 auditorías, cuyo cronograma se ha cumplido al 79% hasta la fecha de corte del presente informe. Dentro de las cuales cinco (6) ya fueron ejecutadas con sus respectivos informes de seguimiento. Todos los informes de auditoría reposan en las carpetas creadas para tal fin en la Oficina de Control interno de la Corporación, pero también han sido entregados a cada uno de los líderes de cada proceso auditado.</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9424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7" name="Google Shape;199;p24"/>
          <p:cNvGrpSpPr/>
          <p:nvPr/>
        </p:nvGrpSpPr>
        <p:grpSpPr>
          <a:xfrm>
            <a:off x="9144000" y="3247736"/>
            <a:ext cx="1218571" cy="673749"/>
            <a:chOff x="531800" y="5071350"/>
            <a:chExt cx="529750" cy="292900"/>
          </a:xfrm>
        </p:grpSpPr>
        <p:sp>
          <p:nvSpPr>
            <p:cNvPr id="38" name="Google Shape;200;p24"/>
            <p:cNvSpPr/>
            <p:nvPr/>
          </p:nvSpPr>
          <p:spPr>
            <a:xfrm>
              <a:off x="632875" y="5077450"/>
              <a:ext cx="272200" cy="185725"/>
            </a:xfrm>
            <a:custGeom>
              <a:avLst/>
              <a:gdLst/>
              <a:ahLst/>
              <a:cxnLst/>
              <a:rect l="l" t="t" r="r" b="b"/>
              <a:pathLst>
                <a:path w="10888" h="7429" fill="none" extrusionOk="0">
                  <a:moveTo>
                    <a:pt x="2947" y="0"/>
                  </a:moveTo>
                  <a:lnTo>
                    <a:pt x="6406" y="7428"/>
                  </a:lnTo>
                  <a:lnTo>
                    <a:pt x="10887" y="2314"/>
                  </a:lnTo>
                  <a:lnTo>
                    <a:pt x="4019" y="2314"/>
                  </a:lnTo>
                  <a:lnTo>
                    <a:pt x="0" y="7428"/>
                  </a:lnTo>
                  <a:lnTo>
                    <a:pt x="6406" y="742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Google Shape;201;p24"/>
            <p:cNvSpPr/>
            <p:nvPr/>
          </p:nvSpPr>
          <p:spPr>
            <a:xfrm>
              <a:off x="886175" y="5071350"/>
              <a:ext cx="74300" cy="191825"/>
            </a:xfrm>
            <a:custGeom>
              <a:avLst/>
              <a:gdLst/>
              <a:ahLst/>
              <a:cxnLst/>
              <a:rect l="l" t="t" r="r" b="b"/>
              <a:pathLst>
                <a:path w="2972" h="7673" fill="none" extrusionOk="0">
                  <a:moveTo>
                    <a:pt x="2971" y="7672"/>
                  </a:moveTo>
                  <a:lnTo>
                    <a:pt x="0" y="1"/>
                  </a:lnTo>
                  <a:lnTo>
                    <a:pt x="1364" y="1"/>
                  </a:lnTo>
                  <a:lnTo>
                    <a:pt x="1364" y="1"/>
                  </a:lnTo>
                  <a:lnTo>
                    <a:pt x="1534" y="25"/>
                  </a:lnTo>
                  <a:lnTo>
                    <a:pt x="1681" y="49"/>
                  </a:lnTo>
                  <a:lnTo>
                    <a:pt x="1827" y="147"/>
                  </a:lnTo>
                  <a:lnTo>
                    <a:pt x="1875" y="195"/>
                  </a:lnTo>
                  <a:lnTo>
                    <a:pt x="1900" y="244"/>
                  </a:lnTo>
                  <a:lnTo>
                    <a:pt x="1924" y="342"/>
                  </a:lnTo>
                  <a:lnTo>
                    <a:pt x="1900" y="439"/>
                  </a:lnTo>
                  <a:lnTo>
                    <a:pt x="1851" y="536"/>
                  </a:lnTo>
                  <a:lnTo>
                    <a:pt x="1778" y="658"/>
                  </a:lnTo>
                  <a:lnTo>
                    <a:pt x="1656" y="804"/>
                  </a:lnTo>
                  <a:lnTo>
                    <a:pt x="1486" y="975"/>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Google Shape;202;p24"/>
            <p:cNvSpPr/>
            <p:nvPr/>
          </p:nvSpPr>
          <p:spPr>
            <a:xfrm>
              <a:off x="531800" y="5162075"/>
              <a:ext cx="202175" cy="202175"/>
            </a:xfrm>
            <a:custGeom>
              <a:avLst/>
              <a:gdLst/>
              <a:ahLst/>
              <a:cxnLst/>
              <a:rect l="l" t="t" r="r" b="b"/>
              <a:pathLst>
                <a:path w="8087" h="8087" fill="none" extrusionOk="0">
                  <a:moveTo>
                    <a:pt x="1" y="4043"/>
                  </a:moveTo>
                  <a:lnTo>
                    <a:pt x="1" y="4043"/>
                  </a:lnTo>
                  <a:lnTo>
                    <a:pt x="25" y="3629"/>
                  </a:lnTo>
                  <a:lnTo>
                    <a:pt x="74" y="3215"/>
                  </a:lnTo>
                  <a:lnTo>
                    <a:pt x="171" y="2826"/>
                  </a:lnTo>
                  <a:lnTo>
                    <a:pt x="317" y="2460"/>
                  </a:lnTo>
                  <a:lnTo>
                    <a:pt x="488" y="2119"/>
                  </a:lnTo>
                  <a:lnTo>
                    <a:pt x="682" y="1778"/>
                  </a:lnTo>
                  <a:lnTo>
                    <a:pt x="926" y="1462"/>
                  </a:lnTo>
                  <a:lnTo>
                    <a:pt x="1194" y="1170"/>
                  </a:lnTo>
                  <a:lnTo>
                    <a:pt x="1462" y="926"/>
                  </a:lnTo>
                  <a:lnTo>
                    <a:pt x="1778" y="682"/>
                  </a:lnTo>
                  <a:lnTo>
                    <a:pt x="2119" y="488"/>
                  </a:lnTo>
                  <a:lnTo>
                    <a:pt x="2460" y="317"/>
                  </a:lnTo>
                  <a:lnTo>
                    <a:pt x="2850" y="171"/>
                  </a:lnTo>
                  <a:lnTo>
                    <a:pt x="3240" y="74"/>
                  </a:lnTo>
                  <a:lnTo>
                    <a:pt x="3629" y="25"/>
                  </a:lnTo>
                  <a:lnTo>
                    <a:pt x="4043" y="0"/>
                  </a:lnTo>
                  <a:lnTo>
                    <a:pt x="4043" y="0"/>
                  </a:lnTo>
                  <a:lnTo>
                    <a:pt x="4458" y="25"/>
                  </a:lnTo>
                  <a:lnTo>
                    <a:pt x="4872" y="74"/>
                  </a:lnTo>
                  <a:lnTo>
                    <a:pt x="5237" y="171"/>
                  </a:lnTo>
                  <a:lnTo>
                    <a:pt x="5627" y="317"/>
                  </a:lnTo>
                  <a:lnTo>
                    <a:pt x="5968" y="488"/>
                  </a:lnTo>
                  <a:lnTo>
                    <a:pt x="6308" y="682"/>
                  </a:lnTo>
                  <a:lnTo>
                    <a:pt x="6625" y="926"/>
                  </a:lnTo>
                  <a:lnTo>
                    <a:pt x="6917" y="1170"/>
                  </a:lnTo>
                  <a:lnTo>
                    <a:pt x="7161" y="1462"/>
                  </a:lnTo>
                  <a:lnTo>
                    <a:pt x="7404" y="1778"/>
                  </a:lnTo>
                  <a:lnTo>
                    <a:pt x="7599" y="2119"/>
                  </a:lnTo>
                  <a:lnTo>
                    <a:pt x="7770" y="2460"/>
                  </a:lnTo>
                  <a:lnTo>
                    <a:pt x="7916" y="2826"/>
                  </a:lnTo>
                  <a:lnTo>
                    <a:pt x="8013" y="3215"/>
                  </a:lnTo>
                  <a:lnTo>
                    <a:pt x="8062" y="3629"/>
                  </a:lnTo>
                  <a:lnTo>
                    <a:pt x="8086" y="4043"/>
                  </a:lnTo>
                  <a:lnTo>
                    <a:pt x="8086" y="4043"/>
                  </a:lnTo>
                  <a:lnTo>
                    <a:pt x="8062" y="4457"/>
                  </a:lnTo>
                  <a:lnTo>
                    <a:pt x="8013" y="4847"/>
                  </a:lnTo>
                  <a:lnTo>
                    <a:pt x="7916" y="5237"/>
                  </a:lnTo>
                  <a:lnTo>
                    <a:pt x="7770" y="5626"/>
                  </a:lnTo>
                  <a:lnTo>
                    <a:pt x="7599" y="5967"/>
                  </a:lnTo>
                  <a:lnTo>
                    <a:pt x="7404" y="6308"/>
                  </a:lnTo>
                  <a:lnTo>
                    <a:pt x="7161" y="6625"/>
                  </a:lnTo>
                  <a:lnTo>
                    <a:pt x="6917" y="6893"/>
                  </a:lnTo>
                  <a:lnTo>
                    <a:pt x="6625" y="7161"/>
                  </a:lnTo>
                  <a:lnTo>
                    <a:pt x="6308" y="7404"/>
                  </a:lnTo>
                  <a:lnTo>
                    <a:pt x="5968" y="7599"/>
                  </a:lnTo>
                  <a:lnTo>
                    <a:pt x="5627" y="7770"/>
                  </a:lnTo>
                  <a:lnTo>
                    <a:pt x="5237" y="7916"/>
                  </a:lnTo>
                  <a:lnTo>
                    <a:pt x="4872" y="8013"/>
                  </a:lnTo>
                  <a:lnTo>
                    <a:pt x="4458" y="8062"/>
                  </a:lnTo>
                  <a:lnTo>
                    <a:pt x="4043" y="8086"/>
                  </a:lnTo>
                  <a:lnTo>
                    <a:pt x="4043" y="8086"/>
                  </a:lnTo>
                  <a:lnTo>
                    <a:pt x="3629" y="8062"/>
                  </a:lnTo>
                  <a:lnTo>
                    <a:pt x="3240" y="8013"/>
                  </a:lnTo>
                  <a:lnTo>
                    <a:pt x="2850" y="7916"/>
                  </a:lnTo>
                  <a:lnTo>
                    <a:pt x="2460" y="7770"/>
                  </a:lnTo>
                  <a:lnTo>
                    <a:pt x="2119" y="7599"/>
                  </a:lnTo>
                  <a:lnTo>
                    <a:pt x="1778" y="7404"/>
                  </a:lnTo>
                  <a:lnTo>
                    <a:pt x="1462" y="7161"/>
                  </a:lnTo>
                  <a:lnTo>
                    <a:pt x="1194" y="6893"/>
                  </a:lnTo>
                  <a:lnTo>
                    <a:pt x="926" y="6625"/>
                  </a:lnTo>
                  <a:lnTo>
                    <a:pt x="682" y="6308"/>
                  </a:lnTo>
                  <a:lnTo>
                    <a:pt x="488" y="5967"/>
                  </a:lnTo>
                  <a:lnTo>
                    <a:pt x="317" y="5626"/>
                  </a:lnTo>
                  <a:lnTo>
                    <a:pt x="171" y="5237"/>
                  </a:lnTo>
                  <a:lnTo>
                    <a:pt x="74" y="4847"/>
                  </a:lnTo>
                  <a:lnTo>
                    <a:pt x="25" y="4457"/>
                  </a:lnTo>
                  <a:lnTo>
                    <a:pt x="1" y="4043"/>
                  </a:lnTo>
                  <a:lnTo>
                    <a:pt x="1" y="404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Google Shape;203;p24"/>
            <p:cNvSpPr/>
            <p:nvPr/>
          </p:nvSpPr>
          <p:spPr>
            <a:xfrm>
              <a:off x="859375" y="5162075"/>
              <a:ext cx="202175" cy="202175"/>
            </a:xfrm>
            <a:custGeom>
              <a:avLst/>
              <a:gdLst/>
              <a:ahLst/>
              <a:cxnLst/>
              <a:rect l="l" t="t" r="r" b="b"/>
              <a:pathLst>
                <a:path w="8087" h="8087" fill="none" extrusionOk="0">
                  <a:moveTo>
                    <a:pt x="1" y="4043"/>
                  </a:moveTo>
                  <a:lnTo>
                    <a:pt x="1" y="4043"/>
                  </a:lnTo>
                  <a:lnTo>
                    <a:pt x="1" y="3629"/>
                  </a:lnTo>
                  <a:lnTo>
                    <a:pt x="74" y="3215"/>
                  </a:lnTo>
                  <a:lnTo>
                    <a:pt x="171" y="2826"/>
                  </a:lnTo>
                  <a:lnTo>
                    <a:pt x="317" y="2460"/>
                  </a:lnTo>
                  <a:lnTo>
                    <a:pt x="488" y="2119"/>
                  </a:lnTo>
                  <a:lnTo>
                    <a:pt x="682" y="1778"/>
                  </a:lnTo>
                  <a:lnTo>
                    <a:pt x="926" y="1462"/>
                  </a:lnTo>
                  <a:lnTo>
                    <a:pt x="1170" y="1170"/>
                  </a:lnTo>
                  <a:lnTo>
                    <a:pt x="1462" y="926"/>
                  </a:lnTo>
                  <a:lnTo>
                    <a:pt x="1778" y="682"/>
                  </a:lnTo>
                  <a:lnTo>
                    <a:pt x="2119" y="488"/>
                  </a:lnTo>
                  <a:lnTo>
                    <a:pt x="2460" y="317"/>
                  </a:lnTo>
                  <a:lnTo>
                    <a:pt x="2826" y="171"/>
                  </a:lnTo>
                  <a:lnTo>
                    <a:pt x="3215" y="74"/>
                  </a:lnTo>
                  <a:lnTo>
                    <a:pt x="3629" y="25"/>
                  </a:lnTo>
                  <a:lnTo>
                    <a:pt x="4043" y="0"/>
                  </a:lnTo>
                  <a:lnTo>
                    <a:pt x="4043" y="0"/>
                  </a:lnTo>
                  <a:lnTo>
                    <a:pt x="4457" y="25"/>
                  </a:lnTo>
                  <a:lnTo>
                    <a:pt x="4847" y="74"/>
                  </a:lnTo>
                  <a:lnTo>
                    <a:pt x="5237" y="171"/>
                  </a:lnTo>
                  <a:lnTo>
                    <a:pt x="5602" y="317"/>
                  </a:lnTo>
                  <a:lnTo>
                    <a:pt x="5967" y="488"/>
                  </a:lnTo>
                  <a:lnTo>
                    <a:pt x="6308" y="682"/>
                  </a:lnTo>
                  <a:lnTo>
                    <a:pt x="6601" y="926"/>
                  </a:lnTo>
                  <a:lnTo>
                    <a:pt x="6893" y="1170"/>
                  </a:lnTo>
                  <a:lnTo>
                    <a:pt x="7161" y="1462"/>
                  </a:lnTo>
                  <a:lnTo>
                    <a:pt x="7380" y="1778"/>
                  </a:lnTo>
                  <a:lnTo>
                    <a:pt x="7599" y="2119"/>
                  </a:lnTo>
                  <a:lnTo>
                    <a:pt x="7770" y="2460"/>
                  </a:lnTo>
                  <a:lnTo>
                    <a:pt x="7892" y="2826"/>
                  </a:lnTo>
                  <a:lnTo>
                    <a:pt x="7989" y="3215"/>
                  </a:lnTo>
                  <a:lnTo>
                    <a:pt x="8062" y="3629"/>
                  </a:lnTo>
                  <a:lnTo>
                    <a:pt x="8086" y="4043"/>
                  </a:lnTo>
                  <a:lnTo>
                    <a:pt x="8086" y="4043"/>
                  </a:lnTo>
                  <a:lnTo>
                    <a:pt x="8062" y="4457"/>
                  </a:lnTo>
                  <a:lnTo>
                    <a:pt x="7989" y="4847"/>
                  </a:lnTo>
                  <a:lnTo>
                    <a:pt x="7892" y="5237"/>
                  </a:lnTo>
                  <a:lnTo>
                    <a:pt x="7770" y="5626"/>
                  </a:lnTo>
                  <a:lnTo>
                    <a:pt x="7599" y="5967"/>
                  </a:lnTo>
                  <a:lnTo>
                    <a:pt x="7380" y="6308"/>
                  </a:lnTo>
                  <a:lnTo>
                    <a:pt x="7161" y="6625"/>
                  </a:lnTo>
                  <a:lnTo>
                    <a:pt x="6893" y="6893"/>
                  </a:lnTo>
                  <a:lnTo>
                    <a:pt x="6601" y="7161"/>
                  </a:lnTo>
                  <a:lnTo>
                    <a:pt x="6308" y="7404"/>
                  </a:lnTo>
                  <a:lnTo>
                    <a:pt x="5967" y="7599"/>
                  </a:lnTo>
                  <a:lnTo>
                    <a:pt x="5602" y="7770"/>
                  </a:lnTo>
                  <a:lnTo>
                    <a:pt x="5237" y="7916"/>
                  </a:lnTo>
                  <a:lnTo>
                    <a:pt x="4847" y="8013"/>
                  </a:lnTo>
                  <a:lnTo>
                    <a:pt x="4457" y="8062"/>
                  </a:lnTo>
                  <a:lnTo>
                    <a:pt x="4043" y="8086"/>
                  </a:lnTo>
                  <a:lnTo>
                    <a:pt x="4043" y="8086"/>
                  </a:lnTo>
                  <a:lnTo>
                    <a:pt x="3629" y="8062"/>
                  </a:lnTo>
                  <a:lnTo>
                    <a:pt x="3215" y="8013"/>
                  </a:lnTo>
                  <a:lnTo>
                    <a:pt x="2826" y="7916"/>
                  </a:lnTo>
                  <a:lnTo>
                    <a:pt x="2460" y="7770"/>
                  </a:lnTo>
                  <a:lnTo>
                    <a:pt x="2119" y="7599"/>
                  </a:lnTo>
                  <a:lnTo>
                    <a:pt x="1778" y="7404"/>
                  </a:lnTo>
                  <a:lnTo>
                    <a:pt x="1462" y="7161"/>
                  </a:lnTo>
                  <a:lnTo>
                    <a:pt x="1170" y="6893"/>
                  </a:lnTo>
                  <a:lnTo>
                    <a:pt x="926" y="6625"/>
                  </a:lnTo>
                  <a:lnTo>
                    <a:pt x="682" y="6308"/>
                  </a:lnTo>
                  <a:lnTo>
                    <a:pt x="488" y="5967"/>
                  </a:lnTo>
                  <a:lnTo>
                    <a:pt x="317" y="5626"/>
                  </a:lnTo>
                  <a:lnTo>
                    <a:pt x="171" y="5237"/>
                  </a:lnTo>
                  <a:lnTo>
                    <a:pt x="74" y="4847"/>
                  </a:lnTo>
                  <a:lnTo>
                    <a:pt x="1" y="4457"/>
                  </a:lnTo>
                  <a:lnTo>
                    <a:pt x="1" y="4043"/>
                  </a:lnTo>
                  <a:lnTo>
                    <a:pt x="1" y="404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Google Shape;204;p24"/>
            <p:cNvSpPr/>
            <p:nvPr/>
          </p:nvSpPr>
          <p:spPr>
            <a:xfrm>
              <a:off x="676100" y="5071350"/>
              <a:ext cx="86500" cy="7325"/>
            </a:xfrm>
            <a:custGeom>
              <a:avLst/>
              <a:gdLst/>
              <a:ahLst/>
              <a:cxnLst/>
              <a:rect l="l" t="t" r="r" b="b"/>
              <a:pathLst>
                <a:path w="3460" h="293" fill="none" extrusionOk="0">
                  <a:moveTo>
                    <a:pt x="1" y="1"/>
                  </a:moveTo>
                  <a:lnTo>
                    <a:pt x="3459" y="29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Google Shape;205;p24"/>
            <p:cNvSpPr/>
            <p:nvPr/>
          </p:nvSpPr>
          <p:spPr>
            <a:xfrm>
              <a:off x="941575" y="5244275"/>
              <a:ext cx="37175" cy="37175"/>
            </a:xfrm>
            <a:custGeom>
              <a:avLst/>
              <a:gdLst/>
              <a:ahLst/>
              <a:cxnLst/>
              <a:rect l="l" t="t" r="r" b="b"/>
              <a:pathLst>
                <a:path w="1487" h="1487" fill="none" extrusionOk="0">
                  <a:moveTo>
                    <a:pt x="0" y="755"/>
                  </a:moveTo>
                  <a:lnTo>
                    <a:pt x="0" y="755"/>
                  </a:lnTo>
                  <a:lnTo>
                    <a:pt x="25" y="609"/>
                  </a:lnTo>
                  <a:lnTo>
                    <a:pt x="73" y="463"/>
                  </a:lnTo>
                  <a:lnTo>
                    <a:pt x="122" y="341"/>
                  </a:lnTo>
                  <a:lnTo>
                    <a:pt x="220" y="220"/>
                  </a:lnTo>
                  <a:lnTo>
                    <a:pt x="341" y="147"/>
                  </a:lnTo>
                  <a:lnTo>
                    <a:pt x="463" y="73"/>
                  </a:lnTo>
                  <a:lnTo>
                    <a:pt x="609" y="25"/>
                  </a:lnTo>
                  <a:lnTo>
                    <a:pt x="755" y="0"/>
                  </a:lnTo>
                  <a:lnTo>
                    <a:pt x="755" y="0"/>
                  </a:lnTo>
                  <a:lnTo>
                    <a:pt x="902" y="25"/>
                  </a:lnTo>
                  <a:lnTo>
                    <a:pt x="1048" y="73"/>
                  </a:lnTo>
                  <a:lnTo>
                    <a:pt x="1169" y="147"/>
                  </a:lnTo>
                  <a:lnTo>
                    <a:pt x="1267" y="220"/>
                  </a:lnTo>
                  <a:lnTo>
                    <a:pt x="1364" y="341"/>
                  </a:lnTo>
                  <a:lnTo>
                    <a:pt x="1437" y="463"/>
                  </a:lnTo>
                  <a:lnTo>
                    <a:pt x="1486" y="609"/>
                  </a:lnTo>
                  <a:lnTo>
                    <a:pt x="1486" y="755"/>
                  </a:lnTo>
                  <a:lnTo>
                    <a:pt x="1486" y="755"/>
                  </a:lnTo>
                  <a:lnTo>
                    <a:pt x="1486" y="902"/>
                  </a:lnTo>
                  <a:lnTo>
                    <a:pt x="1437" y="1048"/>
                  </a:lnTo>
                  <a:lnTo>
                    <a:pt x="1364" y="1169"/>
                  </a:lnTo>
                  <a:lnTo>
                    <a:pt x="1267" y="1267"/>
                  </a:lnTo>
                  <a:lnTo>
                    <a:pt x="1169" y="1364"/>
                  </a:lnTo>
                  <a:lnTo>
                    <a:pt x="1048" y="1437"/>
                  </a:lnTo>
                  <a:lnTo>
                    <a:pt x="902" y="1486"/>
                  </a:lnTo>
                  <a:lnTo>
                    <a:pt x="755" y="1486"/>
                  </a:lnTo>
                  <a:lnTo>
                    <a:pt x="755" y="1486"/>
                  </a:lnTo>
                  <a:lnTo>
                    <a:pt x="609" y="1486"/>
                  </a:lnTo>
                  <a:lnTo>
                    <a:pt x="463" y="1437"/>
                  </a:lnTo>
                  <a:lnTo>
                    <a:pt x="341" y="1364"/>
                  </a:lnTo>
                  <a:lnTo>
                    <a:pt x="220" y="1267"/>
                  </a:lnTo>
                  <a:lnTo>
                    <a:pt x="122" y="1169"/>
                  </a:lnTo>
                  <a:lnTo>
                    <a:pt x="73" y="1048"/>
                  </a:lnTo>
                  <a:lnTo>
                    <a:pt x="25" y="902"/>
                  </a:lnTo>
                  <a:lnTo>
                    <a:pt x="0" y="755"/>
                  </a:lnTo>
                  <a:lnTo>
                    <a:pt x="0" y="75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Google Shape;206;p24"/>
            <p:cNvSpPr/>
            <p:nvPr/>
          </p:nvSpPr>
          <p:spPr>
            <a:xfrm>
              <a:off x="614600" y="5244275"/>
              <a:ext cx="37175" cy="37175"/>
            </a:xfrm>
            <a:custGeom>
              <a:avLst/>
              <a:gdLst/>
              <a:ahLst/>
              <a:cxnLst/>
              <a:rect l="l" t="t" r="r" b="b"/>
              <a:pathLst>
                <a:path w="1487" h="1487" fill="none" extrusionOk="0">
                  <a:moveTo>
                    <a:pt x="1" y="755"/>
                  </a:moveTo>
                  <a:lnTo>
                    <a:pt x="1" y="755"/>
                  </a:lnTo>
                  <a:lnTo>
                    <a:pt x="1" y="609"/>
                  </a:lnTo>
                  <a:lnTo>
                    <a:pt x="50" y="463"/>
                  </a:lnTo>
                  <a:lnTo>
                    <a:pt x="123" y="341"/>
                  </a:lnTo>
                  <a:lnTo>
                    <a:pt x="220" y="220"/>
                  </a:lnTo>
                  <a:lnTo>
                    <a:pt x="317" y="147"/>
                  </a:lnTo>
                  <a:lnTo>
                    <a:pt x="439" y="73"/>
                  </a:lnTo>
                  <a:lnTo>
                    <a:pt x="585" y="25"/>
                  </a:lnTo>
                  <a:lnTo>
                    <a:pt x="731" y="0"/>
                  </a:lnTo>
                  <a:lnTo>
                    <a:pt x="731" y="0"/>
                  </a:lnTo>
                  <a:lnTo>
                    <a:pt x="878" y="25"/>
                  </a:lnTo>
                  <a:lnTo>
                    <a:pt x="1024" y="73"/>
                  </a:lnTo>
                  <a:lnTo>
                    <a:pt x="1146" y="147"/>
                  </a:lnTo>
                  <a:lnTo>
                    <a:pt x="1267" y="220"/>
                  </a:lnTo>
                  <a:lnTo>
                    <a:pt x="1340" y="341"/>
                  </a:lnTo>
                  <a:lnTo>
                    <a:pt x="1413" y="463"/>
                  </a:lnTo>
                  <a:lnTo>
                    <a:pt x="1462" y="609"/>
                  </a:lnTo>
                  <a:lnTo>
                    <a:pt x="1486" y="755"/>
                  </a:lnTo>
                  <a:lnTo>
                    <a:pt x="1486" y="755"/>
                  </a:lnTo>
                  <a:lnTo>
                    <a:pt x="1462" y="902"/>
                  </a:lnTo>
                  <a:lnTo>
                    <a:pt x="1413" y="1048"/>
                  </a:lnTo>
                  <a:lnTo>
                    <a:pt x="1340" y="1169"/>
                  </a:lnTo>
                  <a:lnTo>
                    <a:pt x="1267" y="1267"/>
                  </a:lnTo>
                  <a:lnTo>
                    <a:pt x="1146" y="1364"/>
                  </a:lnTo>
                  <a:lnTo>
                    <a:pt x="1024" y="1437"/>
                  </a:lnTo>
                  <a:lnTo>
                    <a:pt x="878" y="1486"/>
                  </a:lnTo>
                  <a:lnTo>
                    <a:pt x="731" y="1486"/>
                  </a:lnTo>
                  <a:lnTo>
                    <a:pt x="731" y="1486"/>
                  </a:lnTo>
                  <a:lnTo>
                    <a:pt x="585" y="1486"/>
                  </a:lnTo>
                  <a:lnTo>
                    <a:pt x="439" y="1437"/>
                  </a:lnTo>
                  <a:lnTo>
                    <a:pt x="317" y="1364"/>
                  </a:lnTo>
                  <a:lnTo>
                    <a:pt x="220" y="1267"/>
                  </a:lnTo>
                  <a:lnTo>
                    <a:pt x="123" y="1169"/>
                  </a:lnTo>
                  <a:lnTo>
                    <a:pt x="50" y="1048"/>
                  </a:lnTo>
                  <a:lnTo>
                    <a:pt x="1" y="902"/>
                  </a:lnTo>
                  <a:lnTo>
                    <a:pt x="1" y="755"/>
                  </a:lnTo>
                  <a:lnTo>
                    <a:pt x="1" y="75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5" name="Google Shape;185;p24"/>
          <p:cNvSpPr txBox="1">
            <a:spLocks/>
          </p:cNvSpPr>
          <p:nvPr/>
        </p:nvSpPr>
        <p:spPr>
          <a:xfrm>
            <a:off x="1125317" y="4626055"/>
            <a:ext cx="4884393" cy="136007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600"/>
              </a:spcBef>
              <a:spcAft>
                <a:spcPts val="0"/>
              </a:spcAft>
              <a:buClr>
                <a:prstClr val="black"/>
              </a:buClr>
              <a:buSzPts val="1100"/>
              <a:buFont typeface="Arial"/>
              <a:buNone/>
              <a:tabLst/>
              <a:defRPr/>
            </a:pPr>
            <a:endParaRPr kumimoji="0" lang="e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n 12"/>
          <p:cNvPicPr/>
          <p:nvPr/>
        </p:nvPicPr>
        <p:blipFill>
          <a:blip r:embed="rId3">
            <a:extLst>
              <a:ext uri="{28A0092B-C50C-407E-A947-70E740481C1C}">
                <a14:useLocalDpi xmlns:a14="http://schemas.microsoft.com/office/drawing/2010/main" val="0"/>
              </a:ext>
            </a:extLst>
          </a:blip>
          <a:srcRect/>
          <a:stretch>
            <a:fillRect/>
          </a:stretch>
        </p:blipFill>
        <p:spPr bwMode="auto">
          <a:xfrm>
            <a:off x="125419" y="1025235"/>
            <a:ext cx="11768582" cy="5034785"/>
          </a:xfrm>
          <a:prstGeom prst="rect">
            <a:avLst/>
          </a:prstGeom>
          <a:noFill/>
          <a:ln>
            <a:noFill/>
          </a:ln>
        </p:spPr>
      </p:pic>
    </p:spTree>
    <p:extLst>
      <p:ext uri="{BB962C8B-B14F-4D97-AF65-F5344CB8AC3E}">
        <p14:creationId xmlns:p14="http://schemas.microsoft.com/office/powerpoint/2010/main" val="26152131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7" name="Google Shape;199;p24"/>
          <p:cNvGrpSpPr/>
          <p:nvPr/>
        </p:nvGrpSpPr>
        <p:grpSpPr>
          <a:xfrm>
            <a:off x="9144000" y="3247736"/>
            <a:ext cx="1218571" cy="673749"/>
            <a:chOff x="531800" y="5071350"/>
            <a:chExt cx="529750" cy="292900"/>
          </a:xfrm>
        </p:grpSpPr>
        <p:sp>
          <p:nvSpPr>
            <p:cNvPr id="38" name="Google Shape;200;p24"/>
            <p:cNvSpPr/>
            <p:nvPr/>
          </p:nvSpPr>
          <p:spPr>
            <a:xfrm>
              <a:off x="632875" y="5077450"/>
              <a:ext cx="272200" cy="185725"/>
            </a:xfrm>
            <a:custGeom>
              <a:avLst/>
              <a:gdLst/>
              <a:ahLst/>
              <a:cxnLst/>
              <a:rect l="l" t="t" r="r" b="b"/>
              <a:pathLst>
                <a:path w="10888" h="7429" fill="none" extrusionOk="0">
                  <a:moveTo>
                    <a:pt x="2947" y="0"/>
                  </a:moveTo>
                  <a:lnTo>
                    <a:pt x="6406" y="7428"/>
                  </a:lnTo>
                  <a:lnTo>
                    <a:pt x="10887" y="2314"/>
                  </a:lnTo>
                  <a:lnTo>
                    <a:pt x="4019" y="2314"/>
                  </a:lnTo>
                  <a:lnTo>
                    <a:pt x="0" y="7428"/>
                  </a:lnTo>
                  <a:lnTo>
                    <a:pt x="6406" y="742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Google Shape;201;p24"/>
            <p:cNvSpPr/>
            <p:nvPr/>
          </p:nvSpPr>
          <p:spPr>
            <a:xfrm>
              <a:off x="886175" y="5071350"/>
              <a:ext cx="74300" cy="191825"/>
            </a:xfrm>
            <a:custGeom>
              <a:avLst/>
              <a:gdLst/>
              <a:ahLst/>
              <a:cxnLst/>
              <a:rect l="l" t="t" r="r" b="b"/>
              <a:pathLst>
                <a:path w="2972" h="7673" fill="none" extrusionOk="0">
                  <a:moveTo>
                    <a:pt x="2971" y="7672"/>
                  </a:moveTo>
                  <a:lnTo>
                    <a:pt x="0" y="1"/>
                  </a:lnTo>
                  <a:lnTo>
                    <a:pt x="1364" y="1"/>
                  </a:lnTo>
                  <a:lnTo>
                    <a:pt x="1364" y="1"/>
                  </a:lnTo>
                  <a:lnTo>
                    <a:pt x="1534" y="25"/>
                  </a:lnTo>
                  <a:lnTo>
                    <a:pt x="1681" y="49"/>
                  </a:lnTo>
                  <a:lnTo>
                    <a:pt x="1827" y="147"/>
                  </a:lnTo>
                  <a:lnTo>
                    <a:pt x="1875" y="195"/>
                  </a:lnTo>
                  <a:lnTo>
                    <a:pt x="1900" y="244"/>
                  </a:lnTo>
                  <a:lnTo>
                    <a:pt x="1924" y="342"/>
                  </a:lnTo>
                  <a:lnTo>
                    <a:pt x="1900" y="439"/>
                  </a:lnTo>
                  <a:lnTo>
                    <a:pt x="1851" y="536"/>
                  </a:lnTo>
                  <a:lnTo>
                    <a:pt x="1778" y="658"/>
                  </a:lnTo>
                  <a:lnTo>
                    <a:pt x="1656" y="804"/>
                  </a:lnTo>
                  <a:lnTo>
                    <a:pt x="1486" y="975"/>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Google Shape;202;p24"/>
            <p:cNvSpPr/>
            <p:nvPr/>
          </p:nvSpPr>
          <p:spPr>
            <a:xfrm>
              <a:off x="531800" y="5162075"/>
              <a:ext cx="202175" cy="202175"/>
            </a:xfrm>
            <a:custGeom>
              <a:avLst/>
              <a:gdLst/>
              <a:ahLst/>
              <a:cxnLst/>
              <a:rect l="l" t="t" r="r" b="b"/>
              <a:pathLst>
                <a:path w="8087" h="8087" fill="none" extrusionOk="0">
                  <a:moveTo>
                    <a:pt x="1" y="4043"/>
                  </a:moveTo>
                  <a:lnTo>
                    <a:pt x="1" y="4043"/>
                  </a:lnTo>
                  <a:lnTo>
                    <a:pt x="25" y="3629"/>
                  </a:lnTo>
                  <a:lnTo>
                    <a:pt x="74" y="3215"/>
                  </a:lnTo>
                  <a:lnTo>
                    <a:pt x="171" y="2826"/>
                  </a:lnTo>
                  <a:lnTo>
                    <a:pt x="317" y="2460"/>
                  </a:lnTo>
                  <a:lnTo>
                    <a:pt x="488" y="2119"/>
                  </a:lnTo>
                  <a:lnTo>
                    <a:pt x="682" y="1778"/>
                  </a:lnTo>
                  <a:lnTo>
                    <a:pt x="926" y="1462"/>
                  </a:lnTo>
                  <a:lnTo>
                    <a:pt x="1194" y="1170"/>
                  </a:lnTo>
                  <a:lnTo>
                    <a:pt x="1462" y="926"/>
                  </a:lnTo>
                  <a:lnTo>
                    <a:pt x="1778" y="682"/>
                  </a:lnTo>
                  <a:lnTo>
                    <a:pt x="2119" y="488"/>
                  </a:lnTo>
                  <a:lnTo>
                    <a:pt x="2460" y="317"/>
                  </a:lnTo>
                  <a:lnTo>
                    <a:pt x="2850" y="171"/>
                  </a:lnTo>
                  <a:lnTo>
                    <a:pt x="3240" y="74"/>
                  </a:lnTo>
                  <a:lnTo>
                    <a:pt x="3629" y="25"/>
                  </a:lnTo>
                  <a:lnTo>
                    <a:pt x="4043" y="0"/>
                  </a:lnTo>
                  <a:lnTo>
                    <a:pt x="4043" y="0"/>
                  </a:lnTo>
                  <a:lnTo>
                    <a:pt x="4458" y="25"/>
                  </a:lnTo>
                  <a:lnTo>
                    <a:pt x="4872" y="74"/>
                  </a:lnTo>
                  <a:lnTo>
                    <a:pt x="5237" y="171"/>
                  </a:lnTo>
                  <a:lnTo>
                    <a:pt x="5627" y="317"/>
                  </a:lnTo>
                  <a:lnTo>
                    <a:pt x="5968" y="488"/>
                  </a:lnTo>
                  <a:lnTo>
                    <a:pt x="6308" y="682"/>
                  </a:lnTo>
                  <a:lnTo>
                    <a:pt x="6625" y="926"/>
                  </a:lnTo>
                  <a:lnTo>
                    <a:pt x="6917" y="1170"/>
                  </a:lnTo>
                  <a:lnTo>
                    <a:pt x="7161" y="1462"/>
                  </a:lnTo>
                  <a:lnTo>
                    <a:pt x="7404" y="1778"/>
                  </a:lnTo>
                  <a:lnTo>
                    <a:pt x="7599" y="2119"/>
                  </a:lnTo>
                  <a:lnTo>
                    <a:pt x="7770" y="2460"/>
                  </a:lnTo>
                  <a:lnTo>
                    <a:pt x="7916" y="2826"/>
                  </a:lnTo>
                  <a:lnTo>
                    <a:pt x="8013" y="3215"/>
                  </a:lnTo>
                  <a:lnTo>
                    <a:pt x="8062" y="3629"/>
                  </a:lnTo>
                  <a:lnTo>
                    <a:pt x="8086" y="4043"/>
                  </a:lnTo>
                  <a:lnTo>
                    <a:pt x="8086" y="4043"/>
                  </a:lnTo>
                  <a:lnTo>
                    <a:pt x="8062" y="4457"/>
                  </a:lnTo>
                  <a:lnTo>
                    <a:pt x="8013" y="4847"/>
                  </a:lnTo>
                  <a:lnTo>
                    <a:pt x="7916" y="5237"/>
                  </a:lnTo>
                  <a:lnTo>
                    <a:pt x="7770" y="5626"/>
                  </a:lnTo>
                  <a:lnTo>
                    <a:pt x="7599" y="5967"/>
                  </a:lnTo>
                  <a:lnTo>
                    <a:pt x="7404" y="6308"/>
                  </a:lnTo>
                  <a:lnTo>
                    <a:pt x="7161" y="6625"/>
                  </a:lnTo>
                  <a:lnTo>
                    <a:pt x="6917" y="6893"/>
                  </a:lnTo>
                  <a:lnTo>
                    <a:pt x="6625" y="7161"/>
                  </a:lnTo>
                  <a:lnTo>
                    <a:pt x="6308" y="7404"/>
                  </a:lnTo>
                  <a:lnTo>
                    <a:pt x="5968" y="7599"/>
                  </a:lnTo>
                  <a:lnTo>
                    <a:pt x="5627" y="7770"/>
                  </a:lnTo>
                  <a:lnTo>
                    <a:pt x="5237" y="7916"/>
                  </a:lnTo>
                  <a:lnTo>
                    <a:pt x="4872" y="8013"/>
                  </a:lnTo>
                  <a:lnTo>
                    <a:pt x="4458" y="8062"/>
                  </a:lnTo>
                  <a:lnTo>
                    <a:pt x="4043" y="8086"/>
                  </a:lnTo>
                  <a:lnTo>
                    <a:pt x="4043" y="8086"/>
                  </a:lnTo>
                  <a:lnTo>
                    <a:pt x="3629" y="8062"/>
                  </a:lnTo>
                  <a:lnTo>
                    <a:pt x="3240" y="8013"/>
                  </a:lnTo>
                  <a:lnTo>
                    <a:pt x="2850" y="7916"/>
                  </a:lnTo>
                  <a:lnTo>
                    <a:pt x="2460" y="7770"/>
                  </a:lnTo>
                  <a:lnTo>
                    <a:pt x="2119" y="7599"/>
                  </a:lnTo>
                  <a:lnTo>
                    <a:pt x="1778" y="7404"/>
                  </a:lnTo>
                  <a:lnTo>
                    <a:pt x="1462" y="7161"/>
                  </a:lnTo>
                  <a:lnTo>
                    <a:pt x="1194" y="6893"/>
                  </a:lnTo>
                  <a:lnTo>
                    <a:pt x="926" y="6625"/>
                  </a:lnTo>
                  <a:lnTo>
                    <a:pt x="682" y="6308"/>
                  </a:lnTo>
                  <a:lnTo>
                    <a:pt x="488" y="5967"/>
                  </a:lnTo>
                  <a:lnTo>
                    <a:pt x="317" y="5626"/>
                  </a:lnTo>
                  <a:lnTo>
                    <a:pt x="171" y="5237"/>
                  </a:lnTo>
                  <a:lnTo>
                    <a:pt x="74" y="4847"/>
                  </a:lnTo>
                  <a:lnTo>
                    <a:pt x="25" y="4457"/>
                  </a:lnTo>
                  <a:lnTo>
                    <a:pt x="1" y="4043"/>
                  </a:lnTo>
                  <a:lnTo>
                    <a:pt x="1" y="404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Google Shape;203;p24"/>
            <p:cNvSpPr/>
            <p:nvPr/>
          </p:nvSpPr>
          <p:spPr>
            <a:xfrm>
              <a:off x="859375" y="5162075"/>
              <a:ext cx="202175" cy="202175"/>
            </a:xfrm>
            <a:custGeom>
              <a:avLst/>
              <a:gdLst/>
              <a:ahLst/>
              <a:cxnLst/>
              <a:rect l="l" t="t" r="r" b="b"/>
              <a:pathLst>
                <a:path w="8087" h="8087" fill="none" extrusionOk="0">
                  <a:moveTo>
                    <a:pt x="1" y="4043"/>
                  </a:moveTo>
                  <a:lnTo>
                    <a:pt x="1" y="4043"/>
                  </a:lnTo>
                  <a:lnTo>
                    <a:pt x="1" y="3629"/>
                  </a:lnTo>
                  <a:lnTo>
                    <a:pt x="74" y="3215"/>
                  </a:lnTo>
                  <a:lnTo>
                    <a:pt x="171" y="2826"/>
                  </a:lnTo>
                  <a:lnTo>
                    <a:pt x="317" y="2460"/>
                  </a:lnTo>
                  <a:lnTo>
                    <a:pt x="488" y="2119"/>
                  </a:lnTo>
                  <a:lnTo>
                    <a:pt x="682" y="1778"/>
                  </a:lnTo>
                  <a:lnTo>
                    <a:pt x="926" y="1462"/>
                  </a:lnTo>
                  <a:lnTo>
                    <a:pt x="1170" y="1170"/>
                  </a:lnTo>
                  <a:lnTo>
                    <a:pt x="1462" y="926"/>
                  </a:lnTo>
                  <a:lnTo>
                    <a:pt x="1778" y="682"/>
                  </a:lnTo>
                  <a:lnTo>
                    <a:pt x="2119" y="488"/>
                  </a:lnTo>
                  <a:lnTo>
                    <a:pt x="2460" y="317"/>
                  </a:lnTo>
                  <a:lnTo>
                    <a:pt x="2826" y="171"/>
                  </a:lnTo>
                  <a:lnTo>
                    <a:pt x="3215" y="74"/>
                  </a:lnTo>
                  <a:lnTo>
                    <a:pt x="3629" y="25"/>
                  </a:lnTo>
                  <a:lnTo>
                    <a:pt x="4043" y="0"/>
                  </a:lnTo>
                  <a:lnTo>
                    <a:pt x="4043" y="0"/>
                  </a:lnTo>
                  <a:lnTo>
                    <a:pt x="4457" y="25"/>
                  </a:lnTo>
                  <a:lnTo>
                    <a:pt x="4847" y="74"/>
                  </a:lnTo>
                  <a:lnTo>
                    <a:pt x="5237" y="171"/>
                  </a:lnTo>
                  <a:lnTo>
                    <a:pt x="5602" y="317"/>
                  </a:lnTo>
                  <a:lnTo>
                    <a:pt x="5967" y="488"/>
                  </a:lnTo>
                  <a:lnTo>
                    <a:pt x="6308" y="682"/>
                  </a:lnTo>
                  <a:lnTo>
                    <a:pt x="6601" y="926"/>
                  </a:lnTo>
                  <a:lnTo>
                    <a:pt x="6893" y="1170"/>
                  </a:lnTo>
                  <a:lnTo>
                    <a:pt x="7161" y="1462"/>
                  </a:lnTo>
                  <a:lnTo>
                    <a:pt x="7380" y="1778"/>
                  </a:lnTo>
                  <a:lnTo>
                    <a:pt x="7599" y="2119"/>
                  </a:lnTo>
                  <a:lnTo>
                    <a:pt x="7770" y="2460"/>
                  </a:lnTo>
                  <a:lnTo>
                    <a:pt x="7892" y="2826"/>
                  </a:lnTo>
                  <a:lnTo>
                    <a:pt x="7989" y="3215"/>
                  </a:lnTo>
                  <a:lnTo>
                    <a:pt x="8062" y="3629"/>
                  </a:lnTo>
                  <a:lnTo>
                    <a:pt x="8086" y="4043"/>
                  </a:lnTo>
                  <a:lnTo>
                    <a:pt x="8086" y="4043"/>
                  </a:lnTo>
                  <a:lnTo>
                    <a:pt x="8062" y="4457"/>
                  </a:lnTo>
                  <a:lnTo>
                    <a:pt x="7989" y="4847"/>
                  </a:lnTo>
                  <a:lnTo>
                    <a:pt x="7892" y="5237"/>
                  </a:lnTo>
                  <a:lnTo>
                    <a:pt x="7770" y="5626"/>
                  </a:lnTo>
                  <a:lnTo>
                    <a:pt x="7599" y="5967"/>
                  </a:lnTo>
                  <a:lnTo>
                    <a:pt x="7380" y="6308"/>
                  </a:lnTo>
                  <a:lnTo>
                    <a:pt x="7161" y="6625"/>
                  </a:lnTo>
                  <a:lnTo>
                    <a:pt x="6893" y="6893"/>
                  </a:lnTo>
                  <a:lnTo>
                    <a:pt x="6601" y="7161"/>
                  </a:lnTo>
                  <a:lnTo>
                    <a:pt x="6308" y="7404"/>
                  </a:lnTo>
                  <a:lnTo>
                    <a:pt x="5967" y="7599"/>
                  </a:lnTo>
                  <a:lnTo>
                    <a:pt x="5602" y="7770"/>
                  </a:lnTo>
                  <a:lnTo>
                    <a:pt x="5237" y="7916"/>
                  </a:lnTo>
                  <a:lnTo>
                    <a:pt x="4847" y="8013"/>
                  </a:lnTo>
                  <a:lnTo>
                    <a:pt x="4457" y="8062"/>
                  </a:lnTo>
                  <a:lnTo>
                    <a:pt x="4043" y="8086"/>
                  </a:lnTo>
                  <a:lnTo>
                    <a:pt x="4043" y="8086"/>
                  </a:lnTo>
                  <a:lnTo>
                    <a:pt x="3629" y="8062"/>
                  </a:lnTo>
                  <a:lnTo>
                    <a:pt x="3215" y="8013"/>
                  </a:lnTo>
                  <a:lnTo>
                    <a:pt x="2826" y="7916"/>
                  </a:lnTo>
                  <a:lnTo>
                    <a:pt x="2460" y="7770"/>
                  </a:lnTo>
                  <a:lnTo>
                    <a:pt x="2119" y="7599"/>
                  </a:lnTo>
                  <a:lnTo>
                    <a:pt x="1778" y="7404"/>
                  </a:lnTo>
                  <a:lnTo>
                    <a:pt x="1462" y="7161"/>
                  </a:lnTo>
                  <a:lnTo>
                    <a:pt x="1170" y="6893"/>
                  </a:lnTo>
                  <a:lnTo>
                    <a:pt x="926" y="6625"/>
                  </a:lnTo>
                  <a:lnTo>
                    <a:pt x="682" y="6308"/>
                  </a:lnTo>
                  <a:lnTo>
                    <a:pt x="488" y="5967"/>
                  </a:lnTo>
                  <a:lnTo>
                    <a:pt x="317" y="5626"/>
                  </a:lnTo>
                  <a:lnTo>
                    <a:pt x="171" y="5237"/>
                  </a:lnTo>
                  <a:lnTo>
                    <a:pt x="74" y="4847"/>
                  </a:lnTo>
                  <a:lnTo>
                    <a:pt x="1" y="4457"/>
                  </a:lnTo>
                  <a:lnTo>
                    <a:pt x="1" y="4043"/>
                  </a:lnTo>
                  <a:lnTo>
                    <a:pt x="1" y="404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Google Shape;204;p24"/>
            <p:cNvSpPr/>
            <p:nvPr/>
          </p:nvSpPr>
          <p:spPr>
            <a:xfrm>
              <a:off x="676100" y="5071350"/>
              <a:ext cx="86500" cy="7325"/>
            </a:xfrm>
            <a:custGeom>
              <a:avLst/>
              <a:gdLst/>
              <a:ahLst/>
              <a:cxnLst/>
              <a:rect l="l" t="t" r="r" b="b"/>
              <a:pathLst>
                <a:path w="3460" h="293" fill="none" extrusionOk="0">
                  <a:moveTo>
                    <a:pt x="1" y="1"/>
                  </a:moveTo>
                  <a:lnTo>
                    <a:pt x="3459" y="29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Google Shape;205;p24"/>
            <p:cNvSpPr/>
            <p:nvPr/>
          </p:nvSpPr>
          <p:spPr>
            <a:xfrm>
              <a:off x="941575" y="5244275"/>
              <a:ext cx="37175" cy="37175"/>
            </a:xfrm>
            <a:custGeom>
              <a:avLst/>
              <a:gdLst/>
              <a:ahLst/>
              <a:cxnLst/>
              <a:rect l="l" t="t" r="r" b="b"/>
              <a:pathLst>
                <a:path w="1487" h="1487" fill="none" extrusionOk="0">
                  <a:moveTo>
                    <a:pt x="0" y="755"/>
                  </a:moveTo>
                  <a:lnTo>
                    <a:pt x="0" y="755"/>
                  </a:lnTo>
                  <a:lnTo>
                    <a:pt x="25" y="609"/>
                  </a:lnTo>
                  <a:lnTo>
                    <a:pt x="73" y="463"/>
                  </a:lnTo>
                  <a:lnTo>
                    <a:pt x="122" y="341"/>
                  </a:lnTo>
                  <a:lnTo>
                    <a:pt x="220" y="220"/>
                  </a:lnTo>
                  <a:lnTo>
                    <a:pt x="341" y="147"/>
                  </a:lnTo>
                  <a:lnTo>
                    <a:pt x="463" y="73"/>
                  </a:lnTo>
                  <a:lnTo>
                    <a:pt x="609" y="25"/>
                  </a:lnTo>
                  <a:lnTo>
                    <a:pt x="755" y="0"/>
                  </a:lnTo>
                  <a:lnTo>
                    <a:pt x="755" y="0"/>
                  </a:lnTo>
                  <a:lnTo>
                    <a:pt x="902" y="25"/>
                  </a:lnTo>
                  <a:lnTo>
                    <a:pt x="1048" y="73"/>
                  </a:lnTo>
                  <a:lnTo>
                    <a:pt x="1169" y="147"/>
                  </a:lnTo>
                  <a:lnTo>
                    <a:pt x="1267" y="220"/>
                  </a:lnTo>
                  <a:lnTo>
                    <a:pt x="1364" y="341"/>
                  </a:lnTo>
                  <a:lnTo>
                    <a:pt x="1437" y="463"/>
                  </a:lnTo>
                  <a:lnTo>
                    <a:pt x="1486" y="609"/>
                  </a:lnTo>
                  <a:lnTo>
                    <a:pt x="1486" y="755"/>
                  </a:lnTo>
                  <a:lnTo>
                    <a:pt x="1486" y="755"/>
                  </a:lnTo>
                  <a:lnTo>
                    <a:pt x="1486" y="902"/>
                  </a:lnTo>
                  <a:lnTo>
                    <a:pt x="1437" y="1048"/>
                  </a:lnTo>
                  <a:lnTo>
                    <a:pt x="1364" y="1169"/>
                  </a:lnTo>
                  <a:lnTo>
                    <a:pt x="1267" y="1267"/>
                  </a:lnTo>
                  <a:lnTo>
                    <a:pt x="1169" y="1364"/>
                  </a:lnTo>
                  <a:lnTo>
                    <a:pt x="1048" y="1437"/>
                  </a:lnTo>
                  <a:lnTo>
                    <a:pt x="902" y="1486"/>
                  </a:lnTo>
                  <a:lnTo>
                    <a:pt x="755" y="1486"/>
                  </a:lnTo>
                  <a:lnTo>
                    <a:pt x="755" y="1486"/>
                  </a:lnTo>
                  <a:lnTo>
                    <a:pt x="609" y="1486"/>
                  </a:lnTo>
                  <a:lnTo>
                    <a:pt x="463" y="1437"/>
                  </a:lnTo>
                  <a:lnTo>
                    <a:pt x="341" y="1364"/>
                  </a:lnTo>
                  <a:lnTo>
                    <a:pt x="220" y="1267"/>
                  </a:lnTo>
                  <a:lnTo>
                    <a:pt x="122" y="1169"/>
                  </a:lnTo>
                  <a:lnTo>
                    <a:pt x="73" y="1048"/>
                  </a:lnTo>
                  <a:lnTo>
                    <a:pt x="25" y="902"/>
                  </a:lnTo>
                  <a:lnTo>
                    <a:pt x="0" y="755"/>
                  </a:lnTo>
                  <a:lnTo>
                    <a:pt x="0" y="75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Google Shape;206;p24"/>
            <p:cNvSpPr/>
            <p:nvPr/>
          </p:nvSpPr>
          <p:spPr>
            <a:xfrm>
              <a:off x="614600" y="5244275"/>
              <a:ext cx="37175" cy="37175"/>
            </a:xfrm>
            <a:custGeom>
              <a:avLst/>
              <a:gdLst/>
              <a:ahLst/>
              <a:cxnLst/>
              <a:rect l="l" t="t" r="r" b="b"/>
              <a:pathLst>
                <a:path w="1487" h="1487" fill="none" extrusionOk="0">
                  <a:moveTo>
                    <a:pt x="1" y="755"/>
                  </a:moveTo>
                  <a:lnTo>
                    <a:pt x="1" y="755"/>
                  </a:lnTo>
                  <a:lnTo>
                    <a:pt x="1" y="609"/>
                  </a:lnTo>
                  <a:lnTo>
                    <a:pt x="50" y="463"/>
                  </a:lnTo>
                  <a:lnTo>
                    <a:pt x="123" y="341"/>
                  </a:lnTo>
                  <a:lnTo>
                    <a:pt x="220" y="220"/>
                  </a:lnTo>
                  <a:lnTo>
                    <a:pt x="317" y="147"/>
                  </a:lnTo>
                  <a:lnTo>
                    <a:pt x="439" y="73"/>
                  </a:lnTo>
                  <a:lnTo>
                    <a:pt x="585" y="25"/>
                  </a:lnTo>
                  <a:lnTo>
                    <a:pt x="731" y="0"/>
                  </a:lnTo>
                  <a:lnTo>
                    <a:pt x="731" y="0"/>
                  </a:lnTo>
                  <a:lnTo>
                    <a:pt x="878" y="25"/>
                  </a:lnTo>
                  <a:lnTo>
                    <a:pt x="1024" y="73"/>
                  </a:lnTo>
                  <a:lnTo>
                    <a:pt x="1146" y="147"/>
                  </a:lnTo>
                  <a:lnTo>
                    <a:pt x="1267" y="220"/>
                  </a:lnTo>
                  <a:lnTo>
                    <a:pt x="1340" y="341"/>
                  </a:lnTo>
                  <a:lnTo>
                    <a:pt x="1413" y="463"/>
                  </a:lnTo>
                  <a:lnTo>
                    <a:pt x="1462" y="609"/>
                  </a:lnTo>
                  <a:lnTo>
                    <a:pt x="1486" y="755"/>
                  </a:lnTo>
                  <a:lnTo>
                    <a:pt x="1486" y="755"/>
                  </a:lnTo>
                  <a:lnTo>
                    <a:pt x="1462" y="902"/>
                  </a:lnTo>
                  <a:lnTo>
                    <a:pt x="1413" y="1048"/>
                  </a:lnTo>
                  <a:lnTo>
                    <a:pt x="1340" y="1169"/>
                  </a:lnTo>
                  <a:lnTo>
                    <a:pt x="1267" y="1267"/>
                  </a:lnTo>
                  <a:lnTo>
                    <a:pt x="1146" y="1364"/>
                  </a:lnTo>
                  <a:lnTo>
                    <a:pt x="1024" y="1437"/>
                  </a:lnTo>
                  <a:lnTo>
                    <a:pt x="878" y="1486"/>
                  </a:lnTo>
                  <a:lnTo>
                    <a:pt x="731" y="1486"/>
                  </a:lnTo>
                  <a:lnTo>
                    <a:pt x="731" y="1486"/>
                  </a:lnTo>
                  <a:lnTo>
                    <a:pt x="585" y="1486"/>
                  </a:lnTo>
                  <a:lnTo>
                    <a:pt x="439" y="1437"/>
                  </a:lnTo>
                  <a:lnTo>
                    <a:pt x="317" y="1364"/>
                  </a:lnTo>
                  <a:lnTo>
                    <a:pt x="220" y="1267"/>
                  </a:lnTo>
                  <a:lnTo>
                    <a:pt x="123" y="1169"/>
                  </a:lnTo>
                  <a:lnTo>
                    <a:pt x="50" y="1048"/>
                  </a:lnTo>
                  <a:lnTo>
                    <a:pt x="1" y="902"/>
                  </a:lnTo>
                  <a:lnTo>
                    <a:pt x="1" y="755"/>
                  </a:lnTo>
                  <a:lnTo>
                    <a:pt x="1" y="75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5" name="Google Shape;185;p24"/>
          <p:cNvSpPr txBox="1">
            <a:spLocks/>
          </p:cNvSpPr>
          <p:nvPr/>
        </p:nvSpPr>
        <p:spPr>
          <a:xfrm>
            <a:off x="1125317" y="4626055"/>
            <a:ext cx="4884393" cy="136007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600"/>
              </a:spcBef>
              <a:spcAft>
                <a:spcPts val="0"/>
              </a:spcAft>
              <a:buClr>
                <a:prstClr val="black"/>
              </a:buClr>
              <a:buSzPts val="1100"/>
              <a:buFont typeface="Arial"/>
              <a:buNone/>
              <a:tabLst/>
              <a:defRPr/>
            </a:pPr>
            <a:endParaRPr kumimoji="0" lang="e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 name="Tabla 1"/>
          <p:cNvGraphicFramePr>
            <a:graphicFrameLocks noGrp="1"/>
          </p:cNvGraphicFramePr>
          <p:nvPr/>
        </p:nvGraphicFramePr>
        <p:xfrm>
          <a:off x="3758089" y="329325"/>
          <a:ext cx="4503241" cy="5939371"/>
        </p:xfrm>
        <a:graphic>
          <a:graphicData uri="http://schemas.openxmlformats.org/drawingml/2006/table">
            <a:tbl>
              <a:tblPr firstRow="1" firstCol="1" bandRow="1">
                <a:tableStyleId>{5C22544A-7EE6-4342-B048-85BDC9FD1C3A}</a:tableStyleId>
              </a:tblPr>
              <a:tblGrid>
                <a:gridCol w="2377953">
                  <a:extLst>
                    <a:ext uri="{9D8B030D-6E8A-4147-A177-3AD203B41FA5}">
                      <a16:colId xmlns:a16="http://schemas.microsoft.com/office/drawing/2014/main" val="4094764404"/>
                    </a:ext>
                  </a:extLst>
                </a:gridCol>
                <a:gridCol w="2125288">
                  <a:extLst>
                    <a:ext uri="{9D8B030D-6E8A-4147-A177-3AD203B41FA5}">
                      <a16:colId xmlns:a16="http://schemas.microsoft.com/office/drawing/2014/main" val="2560597944"/>
                    </a:ext>
                  </a:extLst>
                </a:gridCol>
              </a:tblGrid>
              <a:tr h="216421">
                <a:tc gridSpan="2">
                  <a:txBody>
                    <a:bodyPr/>
                    <a:lstStyle/>
                    <a:p>
                      <a:pPr algn="ctr">
                        <a:lnSpc>
                          <a:spcPct val="107000"/>
                        </a:lnSpc>
                        <a:spcAft>
                          <a:spcPts val="0"/>
                        </a:spcAft>
                      </a:pPr>
                      <a:r>
                        <a:rPr lang="en-US" sz="1400" dirty="0">
                          <a:effectLst/>
                        </a:rPr>
                        <a:t>AUDITORIAS INTERNAS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36090637"/>
                  </a:ext>
                </a:extLst>
              </a:tr>
              <a:tr h="639689">
                <a:tc>
                  <a:txBody>
                    <a:bodyPr/>
                    <a:lstStyle/>
                    <a:p>
                      <a:pPr algn="ctr">
                        <a:lnSpc>
                          <a:spcPct val="107000"/>
                        </a:lnSpc>
                        <a:spcAft>
                          <a:spcPts val="0"/>
                        </a:spcAft>
                      </a:pPr>
                      <a:endParaRPr lang="en-US" sz="1100" dirty="0">
                        <a:effectLst/>
                      </a:endParaRPr>
                    </a:p>
                    <a:p>
                      <a:pPr algn="ctr">
                        <a:lnSpc>
                          <a:spcPct val="107000"/>
                        </a:lnSpc>
                        <a:spcAft>
                          <a:spcPts val="0"/>
                        </a:spcAft>
                      </a:pPr>
                      <a:r>
                        <a:rPr lang="en-US" sz="1100" dirty="0">
                          <a:effectLst/>
                        </a:rPr>
                        <a:t>AUDITORIAS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endParaRPr lang="en-US" sz="1400" b="1" dirty="0">
                        <a:effectLst/>
                      </a:endParaRPr>
                    </a:p>
                    <a:p>
                      <a:pPr algn="ctr">
                        <a:lnSpc>
                          <a:spcPct val="107000"/>
                        </a:lnSpc>
                        <a:spcAft>
                          <a:spcPts val="0"/>
                        </a:spcAft>
                      </a:pPr>
                      <a:r>
                        <a:rPr lang="en-US" sz="1400" b="1" dirty="0">
                          <a:effectLst/>
                        </a:rPr>
                        <a:t>7</a:t>
                      </a:r>
                    </a:p>
                    <a:p>
                      <a:pPr algn="ctr">
                        <a:lnSpc>
                          <a:spcPct val="107000"/>
                        </a:lnSpc>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9227574"/>
                  </a:ext>
                </a:extLst>
              </a:tr>
              <a:tr h="649261">
                <a:tc>
                  <a:txBody>
                    <a:bodyPr/>
                    <a:lstStyle/>
                    <a:p>
                      <a:pPr algn="ctr">
                        <a:lnSpc>
                          <a:spcPct val="107000"/>
                        </a:lnSpc>
                        <a:spcAft>
                          <a:spcPts val="0"/>
                        </a:spcAft>
                      </a:pPr>
                      <a:endParaRPr lang="en-US" sz="1100" dirty="0">
                        <a:effectLst/>
                      </a:endParaRPr>
                    </a:p>
                    <a:p>
                      <a:pPr algn="ctr">
                        <a:lnSpc>
                          <a:spcPct val="107000"/>
                        </a:lnSpc>
                        <a:spcAft>
                          <a:spcPts val="0"/>
                        </a:spcAft>
                      </a:pPr>
                      <a:r>
                        <a:rPr lang="en-US" sz="1100" dirty="0">
                          <a:effectLst/>
                        </a:rPr>
                        <a:t>INFORME FINAL( 100% EVALUADA)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endParaRPr lang="en-US" sz="1400" b="1" dirty="0">
                        <a:effectLst/>
                      </a:endParaRPr>
                    </a:p>
                    <a:p>
                      <a:pPr algn="ctr">
                        <a:lnSpc>
                          <a:spcPct val="107000"/>
                        </a:lnSpc>
                        <a:spcAft>
                          <a:spcPts val="0"/>
                        </a:spcAft>
                      </a:pPr>
                      <a:r>
                        <a:rPr lang="en-US" sz="1400" b="1" dirty="0">
                          <a:effectLst/>
                        </a:rPr>
                        <a:t>6</a:t>
                      </a:r>
                    </a:p>
                    <a:p>
                      <a:pPr algn="ctr">
                        <a:lnSpc>
                          <a:spcPct val="107000"/>
                        </a:lnSpc>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9715629"/>
                  </a:ext>
                </a:extLst>
              </a:tr>
              <a:tr h="649261">
                <a:tc>
                  <a:txBody>
                    <a:bodyPr/>
                    <a:lstStyle/>
                    <a:p>
                      <a:pPr algn="ctr">
                        <a:lnSpc>
                          <a:spcPct val="107000"/>
                        </a:lnSpc>
                        <a:spcAft>
                          <a:spcPts val="0"/>
                        </a:spcAft>
                      </a:pPr>
                      <a:endParaRPr lang="en-US" sz="1100" dirty="0">
                        <a:effectLst/>
                      </a:endParaRPr>
                    </a:p>
                    <a:p>
                      <a:pPr algn="ctr">
                        <a:lnSpc>
                          <a:spcPct val="107000"/>
                        </a:lnSpc>
                        <a:spcAft>
                          <a:spcPts val="0"/>
                        </a:spcAft>
                      </a:pPr>
                      <a:r>
                        <a:rPr lang="en-US" sz="1100" dirty="0">
                          <a:effectLst/>
                        </a:rPr>
                        <a:t>PENDIENTES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endParaRPr lang="en-US" sz="1400" b="1" dirty="0">
                        <a:effectLst/>
                      </a:endParaRPr>
                    </a:p>
                    <a:p>
                      <a:pPr algn="ctr">
                        <a:lnSpc>
                          <a:spcPct val="107000"/>
                        </a:lnSpc>
                        <a:spcAft>
                          <a:spcPts val="0"/>
                        </a:spcAft>
                      </a:pPr>
                      <a:r>
                        <a:rPr lang="es-MX" sz="1400" b="1" dirty="0">
                          <a:effectLst/>
                        </a:rPr>
                        <a:t>1</a:t>
                      </a:r>
                      <a:endParaRPr lang="en-US" sz="1400" b="1" dirty="0">
                        <a:effectLst/>
                      </a:endParaRPr>
                    </a:p>
                    <a:p>
                      <a:pPr algn="ctr">
                        <a:lnSpc>
                          <a:spcPct val="107000"/>
                        </a:lnSpc>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5097324"/>
                  </a:ext>
                </a:extLst>
              </a:tr>
              <a:tr h="432841">
                <a:tc>
                  <a:txBody>
                    <a:bodyPr/>
                    <a:lstStyle/>
                    <a:p>
                      <a:pPr algn="ctr">
                        <a:lnSpc>
                          <a:spcPct val="107000"/>
                        </a:lnSpc>
                        <a:spcAft>
                          <a:spcPts val="0"/>
                        </a:spcAft>
                      </a:pPr>
                      <a:endParaRPr lang="es-MX" sz="1100" dirty="0">
                        <a:effectLst/>
                      </a:endParaRPr>
                    </a:p>
                    <a:p>
                      <a:pPr algn="ctr">
                        <a:lnSpc>
                          <a:spcPct val="107000"/>
                        </a:lnSpc>
                        <a:spcAft>
                          <a:spcPts val="0"/>
                        </a:spcAft>
                      </a:pPr>
                      <a:r>
                        <a:rPr lang="es-MX" sz="1100" dirty="0">
                          <a:effectLst/>
                        </a:rPr>
                        <a:t>ETAPA DE APERTURA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s-MX" sz="1400" b="1" dirty="0">
                          <a:effectLst/>
                          <a:latin typeface="+mn-lt"/>
                          <a:ea typeface="+mn-ea"/>
                          <a:cs typeface="+mn-cs"/>
                        </a:rPr>
                        <a:t>0</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1090669"/>
                  </a:ext>
                </a:extLst>
              </a:tr>
              <a:tr h="649261">
                <a:tc>
                  <a:txBody>
                    <a:bodyPr/>
                    <a:lstStyle/>
                    <a:p>
                      <a:pPr algn="ctr">
                        <a:lnSpc>
                          <a:spcPct val="107000"/>
                        </a:lnSpc>
                        <a:spcAft>
                          <a:spcPts val="0"/>
                        </a:spcAft>
                      </a:pPr>
                      <a:endParaRPr lang="en-US" sz="1100" dirty="0">
                        <a:effectLst/>
                      </a:endParaRPr>
                    </a:p>
                    <a:p>
                      <a:pPr algn="ctr">
                        <a:lnSpc>
                          <a:spcPct val="107000"/>
                        </a:lnSpc>
                        <a:spcAft>
                          <a:spcPts val="0"/>
                        </a:spcAft>
                      </a:pPr>
                      <a:r>
                        <a:rPr lang="en-US" sz="1100" dirty="0">
                          <a:effectLst/>
                        </a:rPr>
                        <a:t>INFORME PRELIMINAR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endParaRPr lang="en-US" sz="1400" b="1" dirty="0">
                        <a:effectLst/>
                      </a:endParaRPr>
                    </a:p>
                    <a:p>
                      <a:pPr algn="ctr">
                        <a:lnSpc>
                          <a:spcPct val="107000"/>
                        </a:lnSpc>
                        <a:spcAft>
                          <a:spcPts val="0"/>
                        </a:spcAft>
                      </a:pPr>
                      <a:r>
                        <a:rPr lang="en-US" sz="1400" b="1" dirty="0">
                          <a:effectLst/>
                        </a:rPr>
                        <a:t>1</a:t>
                      </a:r>
                    </a:p>
                    <a:p>
                      <a:pPr algn="ctr">
                        <a:lnSpc>
                          <a:spcPct val="107000"/>
                        </a:lnSpc>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82215659"/>
                  </a:ext>
                </a:extLst>
              </a:tr>
              <a:tr h="649261">
                <a:tc>
                  <a:txBody>
                    <a:bodyPr/>
                    <a:lstStyle/>
                    <a:p>
                      <a:pPr algn="ctr">
                        <a:lnSpc>
                          <a:spcPct val="107000"/>
                        </a:lnSpc>
                        <a:spcAft>
                          <a:spcPts val="0"/>
                        </a:spcAft>
                      </a:pPr>
                      <a:endParaRPr lang="en-US" sz="1100" dirty="0">
                        <a:effectLst/>
                      </a:endParaRPr>
                    </a:p>
                    <a:p>
                      <a:pPr algn="ctr">
                        <a:lnSpc>
                          <a:spcPct val="107000"/>
                        </a:lnSpc>
                        <a:spcAft>
                          <a:spcPts val="0"/>
                        </a:spcAft>
                      </a:pPr>
                      <a:r>
                        <a:rPr lang="en-US" sz="1100" dirty="0">
                          <a:effectLst/>
                        </a:rPr>
                        <a:t>PLAN DE MEJORAMIENTO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endParaRPr lang="en-US" sz="1400" b="1" dirty="0">
                        <a:effectLst/>
                      </a:endParaRPr>
                    </a:p>
                    <a:p>
                      <a:pPr algn="ctr">
                        <a:lnSpc>
                          <a:spcPct val="107000"/>
                        </a:lnSpc>
                        <a:spcAft>
                          <a:spcPts val="0"/>
                        </a:spcAft>
                      </a:pPr>
                      <a:r>
                        <a:rPr lang="es-MX" sz="1400" b="1" dirty="0">
                          <a:effectLst/>
                        </a:rPr>
                        <a:t>6</a:t>
                      </a:r>
                      <a:endParaRPr lang="en-US" sz="1400" b="1" dirty="0">
                        <a:effectLst/>
                      </a:endParaRPr>
                    </a:p>
                    <a:p>
                      <a:pPr algn="ctr">
                        <a:lnSpc>
                          <a:spcPct val="107000"/>
                        </a:lnSpc>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0794172"/>
                  </a:ext>
                </a:extLst>
              </a:tr>
              <a:tr h="649261">
                <a:tc>
                  <a:txBody>
                    <a:bodyPr/>
                    <a:lstStyle/>
                    <a:p>
                      <a:pPr algn="ctr">
                        <a:lnSpc>
                          <a:spcPct val="107000"/>
                        </a:lnSpc>
                        <a:spcAft>
                          <a:spcPts val="0"/>
                        </a:spcAft>
                      </a:pPr>
                      <a:endParaRPr lang="en-US" sz="1100" dirty="0">
                        <a:effectLst/>
                      </a:endParaRPr>
                    </a:p>
                    <a:p>
                      <a:pPr algn="ctr">
                        <a:lnSpc>
                          <a:spcPct val="107000"/>
                        </a:lnSpc>
                        <a:spcAft>
                          <a:spcPts val="0"/>
                        </a:spcAft>
                      </a:pPr>
                      <a:r>
                        <a:rPr lang="en-US" sz="1100" dirty="0">
                          <a:effectLst/>
                        </a:rPr>
                        <a:t>PLAN DE MEJORAMIENTO TERMINADO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endParaRPr lang="en-US" sz="1400" b="1" dirty="0">
                        <a:effectLst/>
                      </a:endParaRPr>
                    </a:p>
                    <a:p>
                      <a:pPr algn="ctr">
                        <a:lnSpc>
                          <a:spcPct val="107000"/>
                        </a:lnSpc>
                        <a:spcAft>
                          <a:spcPts val="0"/>
                        </a:spcAft>
                      </a:pPr>
                      <a:r>
                        <a:rPr lang="es-MX" sz="1400" b="1" dirty="0">
                          <a:effectLst/>
                        </a:rPr>
                        <a:t>2</a:t>
                      </a:r>
                      <a:endParaRPr lang="en-US" sz="1400" b="1" dirty="0">
                        <a:effectLst/>
                      </a:endParaRPr>
                    </a:p>
                    <a:p>
                      <a:pPr algn="ctr">
                        <a:lnSpc>
                          <a:spcPct val="107000"/>
                        </a:lnSpc>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073654"/>
                  </a:ext>
                </a:extLst>
              </a:tr>
              <a:tr h="510198">
                <a:tc>
                  <a:txBody>
                    <a:bodyPr/>
                    <a:lstStyle/>
                    <a:p>
                      <a:pPr algn="ctr">
                        <a:lnSpc>
                          <a:spcPct val="107000"/>
                        </a:lnSpc>
                        <a:spcAft>
                          <a:spcPts val="0"/>
                        </a:spcAft>
                      </a:pPr>
                      <a:endParaRPr lang="es-MX" sz="1100" dirty="0">
                        <a:effectLst/>
                      </a:endParaRPr>
                    </a:p>
                    <a:p>
                      <a:pPr algn="ctr">
                        <a:lnSpc>
                          <a:spcPct val="107000"/>
                        </a:lnSpc>
                        <a:spcAft>
                          <a:spcPts val="0"/>
                        </a:spcAft>
                      </a:pPr>
                      <a:r>
                        <a:rPr lang="es-MX" sz="1100" dirty="0">
                          <a:effectLst/>
                        </a:rPr>
                        <a:t>SEGUIMIENTOS A PLANES DE MEJORAMIENTO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endParaRPr lang="es-MX" sz="1400" b="1" dirty="0">
                        <a:effectLst/>
                      </a:endParaRPr>
                    </a:p>
                    <a:p>
                      <a:pPr algn="ctr">
                        <a:lnSpc>
                          <a:spcPct val="107000"/>
                        </a:lnSpc>
                        <a:spcAft>
                          <a:spcPts val="0"/>
                        </a:spcAft>
                      </a:pPr>
                      <a:r>
                        <a:rPr lang="es-MX" sz="1400" b="1" dirty="0">
                          <a:effectLst/>
                        </a:rPr>
                        <a:t>6</a:t>
                      </a:r>
                    </a:p>
                  </a:txBody>
                  <a:tcPr marL="68580" marR="68580" marT="0" marB="0"/>
                </a:tc>
                <a:extLst>
                  <a:ext uri="{0D108BD9-81ED-4DB2-BD59-A6C34878D82A}">
                    <a16:rowId xmlns:a16="http://schemas.microsoft.com/office/drawing/2014/main" val="1948646233"/>
                  </a:ext>
                </a:extLst>
              </a:tr>
              <a:tr h="680264">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endParaRPr lang="es-MX" sz="1100" dirty="0">
                        <a:effectLst/>
                      </a:endParaRPr>
                    </a:p>
                    <a:p>
                      <a:pPr marL="0" marR="0" indent="0" algn="ctr" defTabSz="914400" rtl="0" eaLnBrk="1" fontAlgn="auto" latinLnBrk="0" hangingPunct="1">
                        <a:lnSpc>
                          <a:spcPct val="107000"/>
                        </a:lnSpc>
                        <a:spcBef>
                          <a:spcPts val="0"/>
                        </a:spcBef>
                        <a:spcAft>
                          <a:spcPts val="0"/>
                        </a:spcAft>
                        <a:buClrTx/>
                        <a:buSzTx/>
                        <a:buFontTx/>
                        <a:buNone/>
                        <a:tabLst/>
                        <a:defRPr/>
                      </a:pPr>
                      <a:r>
                        <a:rPr lang="es-MX" sz="1100" dirty="0">
                          <a:effectLst/>
                        </a:rPr>
                        <a:t>SEGUIMIENTOS A PLANES DE MEJORAMIENTO SGC</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endParaRPr lang="es-MX" sz="1400" b="1" dirty="0">
                        <a:effectLst/>
                      </a:endParaRPr>
                    </a:p>
                    <a:p>
                      <a:pPr algn="ctr">
                        <a:lnSpc>
                          <a:spcPct val="107000"/>
                        </a:lnSpc>
                        <a:spcAft>
                          <a:spcPts val="0"/>
                        </a:spcAft>
                      </a:pPr>
                      <a:r>
                        <a:rPr lang="es-MX" sz="1400" b="1" dirty="0">
                          <a:effectLst/>
                        </a:rPr>
                        <a:t>19</a:t>
                      </a:r>
                    </a:p>
                  </a:txBody>
                  <a:tcPr marL="68580" marR="68580" marT="0" marB="0"/>
                </a:tc>
                <a:extLst>
                  <a:ext uri="{0D108BD9-81ED-4DB2-BD59-A6C34878D82A}">
                    <a16:rowId xmlns:a16="http://schemas.microsoft.com/office/drawing/2014/main" val="10009"/>
                  </a:ext>
                </a:extLst>
              </a:tr>
            </a:tbl>
          </a:graphicData>
        </a:graphic>
      </p:graphicFrame>
      <p:sp>
        <p:nvSpPr>
          <p:cNvPr id="3" name="Rectangle 1"/>
          <p:cNvSpPr>
            <a:spLocks noChangeArrowheads="1"/>
          </p:cNvSpPr>
          <p:nvPr/>
        </p:nvSpPr>
        <p:spPr bwMode="auto">
          <a:xfrm>
            <a:off x="3280500" y="30772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27666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7" name="Google Shape;199;p24"/>
          <p:cNvGrpSpPr/>
          <p:nvPr/>
        </p:nvGrpSpPr>
        <p:grpSpPr>
          <a:xfrm>
            <a:off x="9144000" y="3247736"/>
            <a:ext cx="1218571" cy="673749"/>
            <a:chOff x="531800" y="5071350"/>
            <a:chExt cx="529750" cy="292900"/>
          </a:xfrm>
        </p:grpSpPr>
        <p:sp>
          <p:nvSpPr>
            <p:cNvPr id="38" name="Google Shape;200;p24"/>
            <p:cNvSpPr/>
            <p:nvPr/>
          </p:nvSpPr>
          <p:spPr>
            <a:xfrm>
              <a:off x="632875" y="5077450"/>
              <a:ext cx="272200" cy="185725"/>
            </a:xfrm>
            <a:custGeom>
              <a:avLst/>
              <a:gdLst/>
              <a:ahLst/>
              <a:cxnLst/>
              <a:rect l="l" t="t" r="r" b="b"/>
              <a:pathLst>
                <a:path w="10888" h="7429" fill="none" extrusionOk="0">
                  <a:moveTo>
                    <a:pt x="2947" y="0"/>
                  </a:moveTo>
                  <a:lnTo>
                    <a:pt x="6406" y="7428"/>
                  </a:lnTo>
                  <a:lnTo>
                    <a:pt x="10887" y="2314"/>
                  </a:lnTo>
                  <a:lnTo>
                    <a:pt x="4019" y="2314"/>
                  </a:lnTo>
                  <a:lnTo>
                    <a:pt x="0" y="7428"/>
                  </a:lnTo>
                  <a:lnTo>
                    <a:pt x="6406" y="7428"/>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Google Shape;201;p24"/>
            <p:cNvSpPr/>
            <p:nvPr/>
          </p:nvSpPr>
          <p:spPr>
            <a:xfrm>
              <a:off x="886175" y="5071350"/>
              <a:ext cx="74300" cy="191825"/>
            </a:xfrm>
            <a:custGeom>
              <a:avLst/>
              <a:gdLst/>
              <a:ahLst/>
              <a:cxnLst/>
              <a:rect l="l" t="t" r="r" b="b"/>
              <a:pathLst>
                <a:path w="2972" h="7673" fill="none" extrusionOk="0">
                  <a:moveTo>
                    <a:pt x="2971" y="7672"/>
                  </a:moveTo>
                  <a:lnTo>
                    <a:pt x="0" y="1"/>
                  </a:lnTo>
                  <a:lnTo>
                    <a:pt x="1364" y="1"/>
                  </a:lnTo>
                  <a:lnTo>
                    <a:pt x="1364" y="1"/>
                  </a:lnTo>
                  <a:lnTo>
                    <a:pt x="1534" y="25"/>
                  </a:lnTo>
                  <a:lnTo>
                    <a:pt x="1681" y="49"/>
                  </a:lnTo>
                  <a:lnTo>
                    <a:pt x="1827" y="147"/>
                  </a:lnTo>
                  <a:lnTo>
                    <a:pt x="1875" y="195"/>
                  </a:lnTo>
                  <a:lnTo>
                    <a:pt x="1900" y="244"/>
                  </a:lnTo>
                  <a:lnTo>
                    <a:pt x="1924" y="342"/>
                  </a:lnTo>
                  <a:lnTo>
                    <a:pt x="1900" y="439"/>
                  </a:lnTo>
                  <a:lnTo>
                    <a:pt x="1851" y="536"/>
                  </a:lnTo>
                  <a:lnTo>
                    <a:pt x="1778" y="658"/>
                  </a:lnTo>
                  <a:lnTo>
                    <a:pt x="1656" y="804"/>
                  </a:lnTo>
                  <a:lnTo>
                    <a:pt x="1486" y="975"/>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Google Shape;202;p24"/>
            <p:cNvSpPr/>
            <p:nvPr/>
          </p:nvSpPr>
          <p:spPr>
            <a:xfrm>
              <a:off x="531800" y="5162075"/>
              <a:ext cx="202175" cy="202175"/>
            </a:xfrm>
            <a:custGeom>
              <a:avLst/>
              <a:gdLst/>
              <a:ahLst/>
              <a:cxnLst/>
              <a:rect l="l" t="t" r="r" b="b"/>
              <a:pathLst>
                <a:path w="8087" h="8087" fill="none" extrusionOk="0">
                  <a:moveTo>
                    <a:pt x="1" y="4043"/>
                  </a:moveTo>
                  <a:lnTo>
                    <a:pt x="1" y="4043"/>
                  </a:lnTo>
                  <a:lnTo>
                    <a:pt x="25" y="3629"/>
                  </a:lnTo>
                  <a:lnTo>
                    <a:pt x="74" y="3215"/>
                  </a:lnTo>
                  <a:lnTo>
                    <a:pt x="171" y="2826"/>
                  </a:lnTo>
                  <a:lnTo>
                    <a:pt x="317" y="2460"/>
                  </a:lnTo>
                  <a:lnTo>
                    <a:pt x="488" y="2119"/>
                  </a:lnTo>
                  <a:lnTo>
                    <a:pt x="682" y="1778"/>
                  </a:lnTo>
                  <a:lnTo>
                    <a:pt x="926" y="1462"/>
                  </a:lnTo>
                  <a:lnTo>
                    <a:pt x="1194" y="1170"/>
                  </a:lnTo>
                  <a:lnTo>
                    <a:pt x="1462" y="926"/>
                  </a:lnTo>
                  <a:lnTo>
                    <a:pt x="1778" y="682"/>
                  </a:lnTo>
                  <a:lnTo>
                    <a:pt x="2119" y="488"/>
                  </a:lnTo>
                  <a:lnTo>
                    <a:pt x="2460" y="317"/>
                  </a:lnTo>
                  <a:lnTo>
                    <a:pt x="2850" y="171"/>
                  </a:lnTo>
                  <a:lnTo>
                    <a:pt x="3240" y="74"/>
                  </a:lnTo>
                  <a:lnTo>
                    <a:pt x="3629" y="25"/>
                  </a:lnTo>
                  <a:lnTo>
                    <a:pt x="4043" y="0"/>
                  </a:lnTo>
                  <a:lnTo>
                    <a:pt x="4043" y="0"/>
                  </a:lnTo>
                  <a:lnTo>
                    <a:pt x="4458" y="25"/>
                  </a:lnTo>
                  <a:lnTo>
                    <a:pt x="4872" y="74"/>
                  </a:lnTo>
                  <a:lnTo>
                    <a:pt x="5237" y="171"/>
                  </a:lnTo>
                  <a:lnTo>
                    <a:pt x="5627" y="317"/>
                  </a:lnTo>
                  <a:lnTo>
                    <a:pt x="5968" y="488"/>
                  </a:lnTo>
                  <a:lnTo>
                    <a:pt x="6308" y="682"/>
                  </a:lnTo>
                  <a:lnTo>
                    <a:pt x="6625" y="926"/>
                  </a:lnTo>
                  <a:lnTo>
                    <a:pt x="6917" y="1170"/>
                  </a:lnTo>
                  <a:lnTo>
                    <a:pt x="7161" y="1462"/>
                  </a:lnTo>
                  <a:lnTo>
                    <a:pt x="7404" y="1778"/>
                  </a:lnTo>
                  <a:lnTo>
                    <a:pt x="7599" y="2119"/>
                  </a:lnTo>
                  <a:lnTo>
                    <a:pt x="7770" y="2460"/>
                  </a:lnTo>
                  <a:lnTo>
                    <a:pt x="7916" y="2826"/>
                  </a:lnTo>
                  <a:lnTo>
                    <a:pt x="8013" y="3215"/>
                  </a:lnTo>
                  <a:lnTo>
                    <a:pt x="8062" y="3629"/>
                  </a:lnTo>
                  <a:lnTo>
                    <a:pt x="8086" y="4043"/>
                  </a:lnTo>
                  <a:lnTo>
                    <a:pt x="8086" y="4043"/>
                  </a:lnTo>
                  <a:lnTo>
                    <a:pt x="8062" y="4457"/>
                  </a:lnTo>
                  <a:lnTo>
                    <a:pt x="8013" y="4847"/>
                  </a:lnTo>
                  <a:lnTo>
                    <a:pt x="7916" y="5237"/>
                  </a:lnTo>
                  <a:lnTo>
                    <a:pt x="7770" y="5626"/>
                  </a:lnTo>
                  <a:lnTo>
                    <a:pt x="7599" y="5967"/>
                  </a:lnTo>
                  <a:lnTo>
                    <a:pt x="7404" y="6308"/>
                  </a:lnTo>
                  <a:lnTo>
                    <a:pt x="7161" y="6625"/>
                  </a:lnTo>
                  <a:lnTo>
                    <a:pt x="6917" y="6893"/>
                  </a:lnTo>
                  <a:lnTo>
                    <a:pt x="6625" y="7161"/>
                  </a:lnTo>
                  <a:lnTo>
                    <a:pt x="6308" y="7404"/>
                  </a:lnTo>
                  <a:lnTo>
                    <a:pt x="5968" y="7599"/>
                  </a:lnTo>
                  <a:lnTo>
                    <a:pt x="5627" y="7770"/>
                  </a:lnTo>
                  <a:lnTo>
                    <a:pt x="5237" y="7916"/>
                  </a:lnTo>
                  <a:lnTo>
                    <a:pt x="4872" y="8013"/>
                  </a:lnTo>
                  <a:lnTo>
                    <a:pt x="4458" y="8062"/>
                  </a:lnTo>
                  <a:lnTo>
                    <a:pt x="4043" y="8086"/>
                  </a:lnTo>
                  <a:lnTo>
                    <a:pt x="4043" y="8086"/>
                  </a:lnTo>
                  <a:lnTo>
                    <a:pt x="3629" y="8062"/>
                  </a:lnTo>
                  <a:lnTo>
                    <a:pt x="3240" y="8013"/>
                  </a:lnTo>
                  <a:lnTo>
                    <a:pt x="2850" y="7916"/>
                  </a:lnTo>
                  <a:lnTo>
                    <a:pt x="2460" y="7770"/>
                  </a:lnTo>
                  <a:lnTo>
                    <a:pt x="2119" y="7599"/>
                  </a:lnTo>
                  <a:lnTo>
                    <a:pt x="1778" y="7404"/>
                  </a:lnTo>
                  <a:lnTo>
                    <a:pt x="1462" y="7161"/>
                  </a:lnTo>
                  <a:lnTo>
                    <a:pt x="1194" y="6893"/>
                  </a:lnTo>
                  <a:lnTo>
                    <a:pt x="926" y="6625"/>
                  </a:lnTo>
                  <a:lnTo>
                    <a:pt x="682" y="6308"/>
                  </a:lnTo>
                  <a:lnTo>
                    <a:pt x="488" y="5967"/>
                  </a:lnTo>
                  <a:lnTo>
                    <a:pt x="317" y="5626"/>
                  </a:lnTo>
                  <a:lnTo>
                    <a:pt x="171" y="5237"/>
                  </a:lnTo>
                  <a:lnTo>
                    <a:pt x="74" y="4847"/>
                  </a:lnTo>
                  <a:lnTo>
                    <a:pt x="25" y="4457"/>
                  </a:lnTo>
                  <a:lnTo>
                    <a:pt x="1" y="4043"/>
                  </a:lnTo>
                  <a:lnTo>
                    <a:pt x="1" y="404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Google Shape;203;p24"/>
            <p:cNvSpPr/>
            <p:nvPr/>
          </p:nvSpPr>
          <p:spPr>
            <a:xfrm>
              <a:off x="859375" y="5162075"/>
              <a:ext cx="202175" cy="202175"/>
            </a:xfrm>
            <a:custGeom>
              <a:avLst/>
              <a:gdLst/>
              <a:ahLst/>
              <a:cxnLst/>
              <a:rect l="l" t="t" r="r" b="b"/>
              <a:pathLst>
                <a:path w="8087" h="8087" fill="none" extrusionOk="0">
                  <a:moveTo>
                    <a:pt x="1" y="4043"/>
                  </a:moveTo>
                  <a:lnTo>
                    <a:pt x="1" y="4043"/>
                  </a:lnTo>
                  <a:lnTo>
                    <a:pt x="1" y="3629"/>
                  </a:lnTo>
                  <a:lnTo>
                    <a:pt x="74" y="3215"/>
                  </a:lnTo>
                  <a:lnTo>
                    <a:pt x="171" y="2826"/>
                  </a:lnTo>
                  <a:lnTo>
                    <a:pt x="317" y="2460"/>
                  </a:lnTo>
                  <a:lnTo>
                    <a:pt x="488" y="2119"/>
                  </a:lnTo>
                  <a:lnTo>
                    <a:pt x="682" y="1778"/>
                  </a:lnTo>
                  <a:lnTo>
                    <a:pt x="926" y="1462"/>
                  </a:lnTo>
                  <a:lnTo>
                    <a:pt x="1170" y="1170"/>
                  </a:lnTo>
                  <a:lnTo>
                    <a:pt x="1462" y="926"/>
                  </a:lnTo>
                  <a:lnTo>
                    <a:pt x="1778" y="682"/>
                  </a:lnTo>
                  <a:lnTo>
                    <a:pt x="2119" y="488"/>
                  </a:lnTo>
                  <a:lnTo>
                    <a:pt x="2460" y="317"/>
                  </a:lnTo>
                  <a:lnTo>
                    <a:pt x="2826" y="171"/>
                  </a:lnTo>
                  <a:lnTo>
                    <a:pt x="3215" y="74"/>
                  </a:lnTo>
                  <a:lnTo>
                    <a:pt x="3629" y="25"/>
                  </a:lnTo>
                  <a:lnTo>
                    <a:pt x="4043" y="0"/>
                  </a:lnTo>
                  <a:lnTo>
                    <a:pt x="4043" y="0"/>
                  </a:lnTo>
                  <a:lnTo>
                    <a:pt x="4457" y="25"/>
                  </a:lnTo>
                  <a:lnTo>
                    <a:pt x="4847" y="74"/>
                  </a:lnTo>
                  <a:lnTo>
                    <a:pt x="5237" y="171"/>
                  </a:lnTo>
                  <a:lnTo>
                    <a:pt x="5602" y="317"/>
                  </a:lnTo>
                  <a:lnTo>
                    <a:pt x="5967" y="488"/>
                  </a:lnTo>
                  <a:lnTo>
                    <a:pt x="6308" y="682"/>
                  </a:lnTo>
                  <a:lnTo>
                    <a:pt x="6601" y="926"/>
                  </a:lnTo>
                  <a:lnTo>
                    <a:pt x="6893" y="1170"/>
                  </a:lnTo>
                  <a:lnTo>
                    <a:pt x="7161" y="1462"/>
                  </a:lnTo>
                  <a:lnTo>
                    <a:pt x="7380" y="1778"/>
                  </a:lnTo>
                  <a:lnTo>
                    <a:pt x="7599" y="2119"/>
                  </a:lnTo>
                  <a:lnTo>
                    <a:pt x="7770" y="2460"/>
                  </a:lnTo>
                  <a:lnTo>
                    <a:pt x="7892" y="2826"/>
                  </a:lnTo>
                  <a:lnTo>
                    <a:pt x="7989" y="3215"/>
                  </a:lnTo>
                  <a:lnTo>
                    <a:pt x="8062" y="3629"/>
                  </a:lnTo>
                  <a:lnTo>
                    <a:pt x="8086" y="4043"/>
                  </a:lnTo>
                  <a:lnTo>
                    <a:pt x="8086" y="4043"/>
                  </a:lnTo>
                  <a:lnTo>
                    <a:pt x="8062" y="4457"/>
                  </a:lnTo>
                  <a:lnTo>
                    <a:pt x="7989" y="4847"/>
                  </a:lnTo>
                  <a:lnTo>
                    <a:pt x="7892" y="5237"/>
                  </a:lnTo>
                  <a:lnTo>
                    <a:pt x="7770" y="5626"/>
                  </a:lnTo>
                  <a:lnTo>
                    <a:pt x="7599" y="5967"/>
                  </a:lnTo>
                  <a:lnTo>
                    <a:pt x="7380" y="6308"/>
                  </a:lnTo>
                  <a:lnTo>
                    <a:pt x="7161" y="6625"/>
                  </a:lnTo>
                  <a:lnTo>
                    <a:pt x="6893" y="6893"/>
                  </a:lnTo>
                  <a:lnTo>
                    <a:pt x="6601" y="7161"/>
                  </a:lnTo>
                  <a:lnTo>
                    <a:pt x="6308" y="7404"/>
                  </a:lnTo>
                  <a:lnTo>
                    <a:pt x="5967" y="7599"/>
                  </a:lnTo>
                  <a:lnTo>
                    <a:pt x="5602" y="7770"/>
                  </a:lnTo>
                  <a:lnTo>
                    <a:pt x="5237" y="7916"/>
                  </a:lnTo>
                  <a:lnTo>
                    <a:pt x="4847" y="8013"/>
                  </a:lnTo>
                  <a:lnTo>
                    <a:pt x="4457" y="8062"/>
                  </a:lnTo>
                  <a:lnTo>
                    <a:pt x="4043" y="8086"/>
                  </a:lnTo>
                  <a:lnTo>
                    <a:pt x="4043" y="8086"/>
                  </a:lnTo>
                  <a:lnTo>
                    <a:pt x="3629" y="8062"/>
                  </a:lnTo>
                  <a:lnTo>
                    <a:pt x="3215" y="8013"/>
                  </a:lnTo>
                  <a:lnTo>
                    <a:pt x="2826" y="7916"/>
                  </a:lnTo>
                  <a:lnTo>
                    <a:pt x="2460" y="7770"/>
                  </a:lnTo>
                  <a:lnTo>
                    <a:pt x="2119" y="7599"/>
                  </a:lnTo>
                  <a:lnTo>
                    <a:pt x="1778" y="7404"/>
                  </a:lnTo>
                  <a:lnTo>
                    <a:pt x="1462" y="7161"/>
                  </a:lnTo>
                  <a:lnTo>
                    <a:pt x="1170" y="6893"/>
                  </a:lnTo>
                  <a:lnTo>
                    <a:pt x="926" y="6625"/>
                  </a:lnTo>
                  <a:lnTo>
                    <a:pt x="682" y="6308"/>
                  </a:lnTo>
                  <a:lnTo>
                    <a:pt x="488" y="5967"/>
                  </a:lnTo>
                  <a:lnTo>
                    <a:pt x="317" y="5626"/>
                  </a:lnTo>
                  <a:lnTo>
                    <a:pt x="171" y="5237"/>
                  </a:lnTo>
                  <a:lnTo>
                    <a:pt x="74" y="4847"/>
                  </a:lnTo>
                  <a:lnTo>
                    <a:pt x="1" y="4457"/>
                  </a:lnTo>
                  <a:lnTo>
                    <a:pt x="1" y="4043"/>
                  </a:lnTo>
                  <a:lnTo>
                    <a:pt x="1" y="4043"/>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Google Shape;204;p24"/>
            <p:cNvSpPr/>
            <p:nvPr/>
          </p:nvSpPr>
          <p:spPr>
            <a:xfrm>
              <a:off x="676100" y="5071350"/>
              <a:ext cx="86500" cy="7325"/>
            </a:xfrm>
            <a:custGeom>
              <a:avLst/>
              <a:gdLst/>
              <a:ahLst/>
              <a:cxnLst/>
              <a:rect l="l" t="t" r="r" b="b"/>
              <a:pathLst>
                <a:path w="3460" h="293" fill="none" extrusionOk="0">
                  <a:moveTo>
                    <a:pt x="1" y="1"/>
                  </a:moveTo>
                  <a:lnTo>
                    <a:pt x="3459" y="29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Google Shape;205;p24"/>
            <p:cNvSpPr/>
            <p:nvPr/>
          </p:nvSpPr>
          <p:spPr>
            <a:xfrm>
              <a:off x="941575" y="5244275"/>
              <a:ext cx="37175" cy="37175"/>
            </a:xfrm>
            <a:custGeom>
              <a:avLst/>
              <a:gdLst/>
              <a:ahLst/>
              <a:cxnLst/>
              <a:rect l="l" t="t" r="r" b="b"/>
              <a:pathLst>
                <a:path w="1487" h="1487" fill="none" extrusionOk="0">
                  <a:moveTo>
                    <a:pt x="0" y="755"/>
                  </a:moveTo>
                  <a:lnTo>
                    <a:pt x="0" y="755"/>
                  </a:lnTo>
                  <a:lnTo>
                    <a:pt x="25" y="609"/>
                  </a:lnTo>
                  <a:lnTo>
                    <a:pt x="73" y="463"/>
                  </a:lnTo>
                  <a:lnTo>
                    <a:pt x="122" y="341"/>
                  </a:lnTo>
                  <a:lnTo>
                    <a:pt x="220" y="220"/>
                  </a:lnTo>
                  <a:lnTo>
                    <a:pt x="341" y="147"/>
                  </a:lnTo>
                  <a:lnTo>
                    <a:pt x="463" y="73"/>
                  </a:lnTo>
                  <a:lnTo>
                    <a:pt x="609" y="25"/>
                  </a:lnTo>
                  <a:lnTo>
                    <a:pt x="755" y="0"/>
                  </a:lnTo>
                  <a:lnTo>
                    <a:pt x="755" y="0"/>
                  </a:lnTo>
                  <a:lnTo>
                    <a:pt x="902" y="25"/>
                  </a:lnTo>
                  <a:lnTo>
                    <a:pt x="1048" y="73"/>
                  </a:lnTo>
                  <a:lnTo>
                    <a:pt x="1169" y="147"/>
                  </a:lnTo>
                  <a:lnTo>
                    <a:pt x="1267" y="220"/>
                  </a:lnTo>
                  <a:lnTo>
                    <a:pt x="1364" y="341"/>
                  </a:lnTo>
                  <a:lnTo>
                    <a:pt x="1437" y="463"/>
                  </a:lnTo>
                  <a:lnTo>
                    <a:pt x="1486" y="609"/>
                  </a:lnTo>
                  <a:lnTo>
                    <a:pt x="1486" y="755"/>
                  </a:lnTo>
                  <a:lnTo>
                    <a:pt x="1486" y="755"/>
                  </a:lnTo>
                  <a:lnTo>
                    <a:pt x="1486" y="902"/>
                  </a:lnTo>
                  <a:lnTo>
                    <a:pt x="1437" y="1048"/>
                  </a:lnTo>
                  <a:lnTo>
                    <a:pt x="1364" y="1169"/>
                  </a:lnTo>
                  <a:lnTo>
                    <a:pt x="1267" y="1267"/>
                  </a:lnTo>
                  <a:lnTo>
                    <a:pt x="1169" y="1364"/>
                  </a:lnTo>
                  <a:lnTo>
                    <a:pt x="1048" y="1437"/>
                  </a:lnTo>
                  <a:lnTo>
                    <a:pt x="902" y="1486"/>
                  </a:lnTo>
                  <a:lnTo>
                    <a:pt x="755" y="1486"/>
                  </a:lnTo>
                  <a:lnTo>
                    <a:pt x="755" y="1486"/>
                  </a:lnTo>
                  <a:lnTo>
                    <a:pt x="609" y="1486"/>
                  </a:lnTo>
                  <a:lnTo>
                    <a:pt x="463" y="1437"/>
                  </a:lnTo>
                  <a:lnTo>
                    <a:pt x="341" y="1364"/>
                  </a:lnTo>
                  <a:lnTo>
                    <a:pt x="220" y="1267"/>
                  </a:lnTo>
                  <a:lnTo>
                    <a:pt x="122" y="1169"/>
                  </a:lnTo>
                  <a:lnTo>
                    <a:pt x="73" y="1048"/>
                  </a:lnTo>
                  <a:lnTo>
                    <a:pt x="25" y="902"/>
                  </a:lnTo>
                  <a:lnTo>
                    <a:pt x="0" y="755"/>
                  </a:lnTo>
                  <a:lnTo>
                    <a:pt x="0" y="75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Google Shape;206;p24"/>
            <p:cNvSpPr/>
            <p:nvPr/>
          </p:nvSpPr>
          <p:spPr>
            <a:xfrm>
              <a:off x="614600" y="5244275"/>
              <a:ext cx="37175" cy="37175"/>
            </a:xfrm>
            <a:custGeom>
              <a:avLst/>
              <a:gdLst/>
              <a:ahLst/>
              <a:cxnLst/>
              <a:rect l="l" t="t" r="r" b="b"/>
              <a:pathLst>
                <a:path w="1487" h="1487" fill="none" extrusionOk="0">
                  <a:moveTo>
                    <a:pt x="1" y="755"/>
                  </a:moveTo>
                  <a:lnTo>
                    <a:pt x="1" y="755"/>
                  </a:lnTo>
                  <a:lnTo>
                    <a:pt x="1" y="609"/>
                  </a:lnTo>
                  <a:lnTo>
                    <a:pt x="50" y="463"/>
                  </a:lnTo>
                  <a:lnTo>
                    <a:pt x="123" y="341"/>
                  </a:lnTo>
                  <a:lnTo>
                    <a:pt x="220" y="220"/>
                  </a:lnTo>
                  <a:lnTo>
                    <a:pt x="317" y="147"/>
                  </a:lnTo>
                  <a:lnTo>
                    <a:pt x="439" y="73"/>
                  </a:lnTo>
                  <a:lnTo>
                    <a:pt x="585" y="25"/>
                  </a:lnTo>
                  <a:lnTo>
                    <a:pt x="731" y="0"/>
                  </a:lnTo>
                  <a:lnTo>
                    <a:pt x="731" y="0"/>
                  </a:lnTo>
                  <a:lnTo>
                    <a:pt x="878" y="25"/>
                  </a:lnTo>
                  <a:lnTo>
                    <a:pt x="1024" y="73"/>
                  </a:lnTo>
                  <a:lnTo>
                    <a:pt x="1146" y="147"/>
                  </a:lnTo>
                  <a:lnTo>
                    <a:pt x="1267" y="220"/>
                  </a:lnTo>
                  <a:lnTo>
                    <a:pt x="1340" y="341"/>
                  </a:lnTo>
                  <a:lnTo>
                    <a:pt x="1413" y="463"/>
                  </a:lnTo>
                  <a:lnTo>
                    <a:pt x="1462" y="609"/>
                  </a:lnTo>
                  <a:lnTo>
                    <a:pt x="1486" y="755"/>
                  </a:lnTo>
                  <a:lnTo>
                    <a:pt x="1486" y="755"/>
                  </a:lnTo>
                  <a:lnTo>
                    <a:pt x="1462" y="902"/>
                  </a:lnTo>
                  <a:lnTo>
                    <a:pt x="1413" y="1048"/>
                  </a:lnTo>
                  <a:lnTo>
                    <a:pt x="1340" y="1169"/>
                  </a:lnTo>
                  <a:lnTo>
                    <a:pt x="1267" y="1267"/>
                  </a:lnTo>
                  <a:lnTo>
                    <a:pt x="1146" y="1364"/>
                  </a:lnTo>
                  <a:lnTo>
                    <a:pt x="1024" y="1437"/>
                  </a:lnTo>
                  <a:lnTo>
                    <a:pt x="878" y="1486"/>
                  </a:lnTo>
                  <a:lnTo>
                    <a:pt x="731" y="1486"/>
                  </a:lnTo>
                  <a:lnTo>
                    <a:pt x="731" y="1486"/>
                  </a:lnTo>
                  <a:lnTo>
                    <a:pt x="585" y="1486"/>
                  </a:lnTo>
                  <a:lnTo>
                    <a:pt x="439" y="1437"/>
                  </a:lnTo>
                  <a:lnTo>
                    <a:pt x="317" y="1364"/>
                  </a:lnTo>
                  <a:lnTo>
                    <a:pt x="220" y="1267"/>
                  </a:lnTo>
                  <a:lnTo>
                    <a:pt x="123" y="1169"/>
                  </a:lnTo>
                  <a:lnTo>
                    <a:pt x="50" y="1048"/>
                  </a:lnTo>
                  <a:lnTo>
                    <a:pt x="1" y="902"/>
                  </a:lnTo>
                  <a:lnTo>
                    <a:pt x="1" y="755"/>
                  </a:lnTo>
                  <a:lnTo>
                    <a:pt x="1" y="755"/>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 name="Rectangle 1"/>
          <p:cNvSpPr>
            <a:spLocks noChangeArrowheads="1"/>
          </p:cNvSpPr>
          <p:nvPr/>
        </p:nvSpPr>
        <p:spPr bwMode="auto">
          <a:xfrm>
            <a:off x="3280500" y="30772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CuadroTexto 4">
            <a:extLst>
              <a:ext uri="{FF2B5EF4-FFF2-40B4-BE49-F238E27FC236}">
                <a16:creationId xmlns:a16="http://schemas.microsoft.com/office/drawing/2014/main" id="{180774CF-44B9-7A67-98BB-4C52D1207662}"/>
              </a:ext>
            </a:extLst>
          </p:cNvPr>
          <p:cNvSpPr txBox="1"/>
          <p:nvPr/>
        </p:nvSpPr>
        <p:spPr>
          <a:xfrm>
            <a:off x="3280500" y="977071"/>
            <a:ext cx="7734924" cy="523220"/>
          </a:xfrm>
          <a:prstGeom prst="rect">
            <a:avLst/>
          </a:prstGeom>
          <a:noFill/>
        </p:spPr>
        <p:txBody>
          <a:bodyPr wrap="square">
            <a:spAutoFit/>
          </a:body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2800" b="1" i="0" u="none" strike="noStrike" kern="1200" cap="none" spc="0" normalizeH="0" baseline="0" noProof="0" dirty="0">
                <a:ln>
                  <a:noFill/>
                </a:ln>
                <a:solidFill>
                  <a:prstClr val="black"/>
                </a:solidFill>
                <a:effectLst/>
                <a:uLnTx/>
                <a:uFillTx/>
                <a:latin typeface="Calibri" panose="020F0502020204030204"/>
                <a:ea typeface="Work Sans Light" charset="0"/>
                <a:cs typeface="Work Sans Light" charset="0"/>
              </a:rPr>
              <a:t>B. Auditoria Interna de Calidad</a:t>
            </a:r>
          </a:p>
        </p:txBody>
      </p:sp>
      <p:graphicFrame>
        <p:nvGraphicFramePr>
          <p:cNvPr id="8" name="Tabla 7">
            <a:extLst>
              <a:ext uri="{FF2B5EF4-FFF2-40B4-BE49-F238E27FC236}">
                <a16:creationId xmlns:a16="http://schemas.microsoft.com/office/drawing/2014/main" id="{F78BA558-451E-C80B-B311-732E041F39C6}"/>
              </a:ext>
            </a:extLst>
          </p:cNvPr>
          <p:cNvGraphicFramePr>
            <a:graphicFrameLocks noGrp="1"/>
          </p:cNvGraphicFramePr>
          <p:nvPr>
            <p:extLst>
              <p:ext uri="{D42A27DB-BD31-4B8C-83A1-F6EECF244321}">
                <p14:modId xmlns:p14="http://schemas.microsoft.com/office/powerpoint/2010/main" val="2968133661"/>
              </p:ext>
            </p:extLst>
          </p:nvPr>
        </p:nvGraphicFramePr>
        <p:xfrm>
          <a:off x="299805" y="1516476"/>
          <a:ext cx="11512444" cy="714375"/>
        </p:xfrm>
        <a:graphic>
          <a:graphicData uri="http://schemas.openxmlformats.org/drawingml/2006/table">
            <a:tbl>
              <a:tblPr firstCol="1">
                <a:tableStyleId>{7DF18680-E054-41AD-8BC1-D1AEF772440D}</a:tableStyleId>
              </a:tblPr>
              <a:tblGrid>
                <a:gridCol w="2781316">
                  <a:extLst>
                    <a:ext uri="{9D8B030D-6E8A-4147-A177-3AD203B41FA5}">
                      <a16:colId xmlns:a16="http://schemas.microsoft.com/office/drawing/2014/main" val="1410102845"/>
                    </a:ext>
                  </a:extLst>
                </a:gridCol>
                <a:gridCol w="8731128">
                  <a:extLst>
                    <a:ext uri="{9D8B030D-6E8A-4147-A177-3AD203B41FA5}">
                      <a16:colId xmlns:a16="http://schemas.microsoft.com/office/drawing/2014/main" val="2351756391"/>
                    </a:ext>
                  </a:extLst>
                </a:gridCol>
              </a:tblGrid>
              <a:tr h="457200">
                <a:tc>
                  <a:txBody>
                    <a:bodyPr/>
                    <a:lstStyle/>
                    <a:p>
                      <a:pPr algn="ctr"/>
                      <a:r>
                        <a:rPr lang="es-CO" sz="1000">
                          <a:effectLst/>
                        </a:rPr>
                        <a:t>OBJETIVO DE LA AUDITORIA</a:t>
                      </a:r>
                      <a:endParaRPr lang="es-CO"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r>
                        <a:rPr lang="es-MX" sz="1100" dirty="0">
                          <a:effectLst/>
                        </a:rPr>
                        <a:t>Determinar la conformidad y el mejoramiento del sistema de gestión de calidad de acuerdo con los requisitos establecidos en la NTC ISO 9001:2015, legales, reglamentarios establecidos en el sistema de gestión de calidad del Concejo Municipal de Chía.</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91968865"/>
                  </a:ext>
                </a:extLst>
              </a:tr>
              <a:tr h="257175">
                <a:tc>
                  <a:txBody>
                    <a:bodyPr/>
                    <a:lstStyle/>
                    <a:p>
                      <a:pPr algn="ctr"/>
                      <a:r>
                        <a:rPr lang="es-CO" sz="1000">
                          <a:effectLst/>
                        </a:rPr>
                        <a:t>ALCANCE</a:t>
                      </a:r>
                      <a:endParaRPr lang="es-CO" sz="110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just"/>
                      <a:r>
                        <a:rPr lang="es-CO" sz="1100" dirty="0">
                          <a:effectLst/>
                        </a:rPr>
                        <a:t>Todos los procesos del Sistema de Gestión de Calidad</a:t>
                      </a:r>
                      <a:endParaRPr lang="es-CO" sz="11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60310288"/>
                  </a:ext>
                </a:extLst>
              </a:tr>
            </a:tbl>
          </a:graphicData>
        </a:graphic>
      </p:graphicFrame>
      <p:sp>
        <p:nvSpPr>
          <p:cNvPr id="9" name="CuadroTexto 8">
            <a:extLst>
              <a:ext uri="{FF2B5EF4-FFF2-40B4-BE49-F238E27FC236}">
                <a16:creationId xmlns:a16="http://schemas.microsoft.com/office/drawing/2014/main" id="{FD4560B6-7684-8997-AB25-7B4ED07AC574}"/>
              </a:ext>
            </a:extLst>
          </p:cNvPr>
          <p:cNvSpPr txBox="1"/>
          <p:nvPr/>
        </p:nvSpPr>
        <p:spPr>
          <a:xfrm>
            <a:off x="2041160" y="2252391"/>
            <a:ext cx="810967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2000" b="1" i="0" u="none" strike="noStrike" kern="1200" cap="none" spc="0" normalizeH="0" baseline="0" noProof="0" dirty="0">
                <a:ln>
                  <a:noFill/>
                </a:ln>
                <a:solidFill>
                  <a:srgbClr val="4472C4"/>
                </a:solidFill>
                <a:effectLst/>
                <a:uLnTx/>
                <a:uFillTx/>
                <a:latin typeface="Calibri" panose="020F0502020204030204"/>
                <a:ea typeface="+mn-ea"/>
                <a:cs typeface="+mn-cs"/>
              </a:rPr>
              <a:t>NO CONFORMIDADES</a:t>
            </a:r>
          </a:p>
        </p:txBody>
      </p:sp>
      <p:graphicFrame>
        <p:nvGraphicFramePr>
          <p:cNvPr id="10" name="Tabla 9">
            <a:extLst>
              <a:ext uri="{FF2B5EF4-FFF2-40B4-BE49-F238E27FC236}">
                <a16:creationId xmlns:a16="http://schemas.microsoft.com/office/drawing/2014/main" id="{8D4F4687-7847-C396-6B26-36059BD82EB5}"/>
              </a:ext>
            </a:extLst>
          </p:cNvPr>
          <p:cNvGraphicFramePr>
            <a:graphicFrameLocks noGrp="1"/>
          </p:cNvGraphicFramePr>
          <p:nvPr>
            <p:extLst>
              <p:ext uri="{D42A27DB-BD31-4B8C-83A1-F6EECF244321}">
                <p14:modId xmlns:p14="http://schemas.microsoft.com/office/powerpoint/2010/main" val="891876868"/>
              </p:ext>
            </p:extLst>
          </p:nvPr>
        </p:nvGraphicFramePr>
        <p:xfrm>
          <a:off x="299804" y="2677918"/>
          <a:ext cx="11512444" cy="2327124"/>
        </p:xfrm>
        <a:graphic>
          <a:graphicData uri="http://schemas.openxmlformats.org/drawingml/2006/table">
            <a:tbl>
              <a:tblPr>
                <a:tableStyleId>{5C22544A-7EE6-4342-B048-85BDC9FD1C3A}</a:tableStyleId>
              </a:tblPr>
              <a:tblGrid>
                <a:gridCol w="979879">
                  <a:extLst>
                    <a:ext uri="{9D8B030D-6E8A-4147-A177-3AD203B41FA5}">
                      <a16:colId xmlns:a16="http://schemas.microsoft.com/office/drawing/2014/main" val="3866082109"/>
                    </a:ext>
                  </a:extLst>
                </a:gridCol>
                <a:gridCol w="1187699">
                  <a:extLst>
                    <a:ext uri="{9D8B030D-6E8A-4147-A177-3AD203B41FA5}">
                      <a16:colId xmlns:a16="http://schemas.microsoft.com/office/drawing/2014/main" val="484039998"/>
                    </a:ext>
                  </a:extLst>
                </a:gridCol>
                <a:gridCol w="1169794">
                  <a:extLst>
                    <a:ext uri="{9D8B030D-6E8A-4147-A177-3AD203B41FA5}">
                      <a16:colId xmlns:a16="http://schemas.microsoft.com/office/drawing/2014/main" val="3877194811"/>
                    </a:ext>
                  </a:extLst>
                </a:gridCol>
                <a:gridCol w="6829040">
                  <a:extLst>
                    <a:ext uri="{9D8B030D-6E8A-4147-A177-3AD203B41FA5}">
                      <a16:colId xmlns:a16="http://schemas.microsoft.com/office/drawing/2014/main" val="3241505090"/>
                    </a:ext>
                  </a:extLst>
                </a:gridCol>
                <a:gridCol w="1346032">
                  <a:extLst>
                    <a:ext uri="{9D8B030D-6E8A-4147-A177-3AD203B41FA5}">
                      <a16:colId xmlns:a16="http://schemas.microsoft.com/office/drawing/2014/main" val="1187684393"/>
                    </a:ext>
                  </a:extLst>
                </a:gridCol>
              </a:tblGrid>
              <a:tr h="197851">
                <a:tc gridSpan="4">
                  <a:txBody>
                    <a:bodyPr/>
                    <a:lstStyle/>
                    <a:p>
                      <a:pPr algn="ctr" fontAlgn="ctr"/>
                      <a:r>
                        <a:rPr lang="es-CO" sz="1100" b="1" u="none" strike="noStrike" dirty="0">
                          <a:solidFill>
                            <a:schemeClr val="bg1"/>
                          </a:solidFill>
                          <a:effectLst/>
                        </a:rPr>
                        <a:t>NO CONFORMIDADES</a:t>
                      </a:r>
                      <a:endParaRPr lang="es-CO" sz="1100" b="1" i="0" u="none" strike="noStrike" dirty="0">
                        <a:solidFill>
                          <a:schemeClr val="bg1"/>
                        </a:solidFill>
                        <a:effectLst/>
                        <a:latin typeface="Calibri" panose="020F0502020204030204" pitchFamily="34" charset="0"/>
                      </a:endParaRPr>
                    </a:p>
                  </a:txBody>
                  <a:tcPr marL="9525" marR="9525" marT="9525" marB="0" anchor="ctr">
                    <a:solidFill>
                      <a:schemeClr val="accent5"/>
                    </a:solidFill>
                  </a:tcPr>
                </a:tc>
                <a:tc hMerge="1">
                  <a:txBody>
                    <a:bodyPr/>
                    <a:lstStyle/>
                    <a:p>
                      <a:endParaRPr lang="es-CO"/>
                    </a:p>
                  </a:txBody>
                  <a:tcPr/>
                </a:tc>
                <a:tc hMerge="1">
                  <a:txBody>
                    <a:bodyPr/>
                    <a:lstStyle/>
                    <a:p>
                      <a:endParaRPr lang="es-CO"/>
                    </a:p>
                  </a:txBody>
                  <a:tcPr/>
                </a:tc>
                <a:tc hMerge="1">
                  <a:txBody>
                    <a:bodyPr/>
                    <a:lstStyle/>
                    <a:p>
                      <a:endParaRPr lang="es-CO"/>
                    </a:p>
                  </a:txBody>
                  <a:tcPr/>
                </a:tc>
                <a:tc>
                  <a:txBody>
                    <a:bodyPr/>
                    <a:lstStyle/>
                    <a:p>
                      <a:pPr algn="ctr" fontAlgn="ctr"/>
                      <a:endParaRPr lang="es-CO" sz="1100" b="1" i="0" u="none" strike="noStrike" dirty="0">
                        <a:solidFill>
                          <a:schemeClr val="bg1"/>
                        </a:solidFill>
                        <a:effectLst/>
                        <a:latin typeface="Calibri" panose="020F0502020204030204" pitchFamily="34" charset="0"/>
                      </a:endParaRPr>
                    </a:p>
                  </a:txBody>
                  <a:tcPr marL="9525" marR="9525" marT="9525" marB="0" anchor="ctr">
                    <a:solidFill>
                      <a:schemeClr val="accent5"/>
                    </a:solidFill>
                  </a:tcPr>
                </a:tc>
                <a:extLst>
                  <a:ext uri="{0D108BD9-81ED-4DB2-BD59-A6C34878D82A}">
                    <a16:rowId xmlns:a16="http://schemas.microsoft.com/office/drawing/2014/main" val="1415382099"/>
                  </a:ext>
                </a:extLst>
              </a:tr>
              <a:tr h="521220">
                <a:tc>
                  <a:txBody>
                    <a:bodyPr/>
                    <a:lstStyle/>
                    <a:p>
                      <a:pPr algn="ctr" fontAlgn="ctr"/>
                      <a:r>
                        <a:rPr lang="es-CO" sz="1100" b="1" u="none" strike="noStrike" dirty="0">
                          <a:solidFill>
                            <a:schemeClr val="bg1"/>
                          </a:solidFill>
                          <a:effectLst/>
                        </a:rPr>
                        <a:t>PROCESO</a:t>
                      </a:r>
                      <a:endParaRPr lang="es-CO" sz="1100" b="1" i="0" u="none" strike="noStrike" dirty="0">
                        <a:solidFill>
                          <a:schemeClr val="bg1"/>
                        </a:solidFill>
                        <a:effectLst/>
                        <a:latin typeface="Calibri" panose="020F0502020204030204" pitchFamily="34" charset="0"/>
                      </a:endParaRPr>
                    </a:p>
                  </a:txBody>
                  <a:tcPr marL="9525" marR="9525" marT="9525" marB="0" anchor="ctr">
                    <a:solidFill>
                      <a:schemeClr val="accent5"/>
                    </a:solidFill>
                  </a:tcPr>
                </a:tc>
                <a:tc>
                  <a:txBody>
                    <a:bodyPr/>
                    <a:lstStyle/>
                    <a:p>
                      <a:pPr algn="ctr" fontAlgn="ctr"/>
                      <a:r>
                        <a:rPr lang="es-CO" sz="1100" b="1" u="none" strike="noStrike" dirty="0" err="1">
                          <a:solidFill>
                            <a:schemeClr val="bg1"/>
                          </a:solidFill>
                          <a:effectLst/>
                        </a:rPr>
                        <a:t>N°</a:t>
                      </a:r>
                      <a:r>
                        <a:rPr lang="es-CO" sz="1100" b="1" u="none" strike="noStrike" dirty="0">
                          <a:solidFill>
                            <a:schemeClr val="bg1"/>
                          </a:solidFill>
                          <a:effectLst/>
                        </a:rPr>
                        <a:t> CONFORMIDADES</a:t>
                      </a:r>
                      <a:endParaRPr lang="es-CO" sz="1100" b="1" i="0" u="none" strike="noStrike" dirty="0">
                        <a:solidFill>
                          <a:schemeClr val="bg1"/>
                        </a:solidFill>
                        <a:effectLst/>
                        <a:latin typeface="Calibri" panose="020F0502020204030204" pitchFamily="34" charset="0"/>
                      </a:endParaRPr>
                    </a:p>
                  </a:txBody>
                  <a:tcPr marL="9525" marR="9525" marT="9525" marB="0" anchor="ctr">
                    <a:solidFill>
                      <a:schemeClr val="accent5"/>
                    </a:solidFill>
                  </a:tcPr>
                </a:tc>
                <a:tc>
                  <a:txBody>
                    <a:bodyPr/>
                    <a:lstStyle/>
                    <a:p>
                      <a:pPr algn="ctr" fontAlgn="ctr"/>
                      <a:r>
                        <a:rPr lang="es-CO" sz="1100" b="1" u="none" strike="noStrike" dirty="0">
                          <a:solidFill>
                            <a:schemeClr val="bg1"/>
                          </a:solidFill>
                          <a:effectLst/>
                        </a:rPr>
                        <a:t>REQUISITO</a:t>
                      </a:r>
                    </a:p>
                    <a:p>
                      <a:pPr algn="ctr" fontAlgn="ctr"/>
                      <a:r>
                        <a:rPr lang="es-CO" sz="1100" b="1" i="0" u="none" strike="noStrike" dirty="0">
                          <a:solidFill>
                            <a:schemeClr val="bg1"/>
                          </a:solidFill>
                          <a:effectLst/>
                          <a:latin typeface="Calibri" panose="020F0502020204030204" pitchFamily="34" charset="0"/>
                        </a:rPr>
                        <a:t>NTC ISO 9001 2015</a:t>
                      </a:r>
                    </a:p>
                  </a:txBody>
                  <a:tcPr marL="9525" marR="9525" marT="9525" marB="0" anchor="ctr">
                    <a:solidFill>
                      <a:schemeClr val="accent5"/>
                    </a:solidFill>
                  </a:tcPr>
                </a:tc>
                <a:tc>
                  <a:txBody>
                    <a:bodyPr/>
                    <a:lstStyle/>
                    <a:p>
                      <a:pPr algn="ctr" fontAlgn="ctr"/>
                      <a:r>
                        <a:rPr lang="es-MX" sz="1100" b="1" i="0" u="none" strike="noStrike" dirty="0">
                          <a:solidFill>
                            <a:schemeClr val="bg1"/>
                          </a:solidFill>
                          <a:effectLst/>
                          <a:latin typeface="Calibri" panose="020F0502020204030204" pitchFamily="34" charset="0"/>
                        </a:rPr>
                        <a:t>DESCRIPCIÓN</a:t>
                      </a:r>
                    </a:p>
                  </a:txBody>
                  <a:tcPr marL="9525" marR="9525" marT="9525" marB="0" anchor="ctr">
                    <a:solidFill>
                      <a:schemeClr val="accent5"/>
                    </a:solidFill>
                  </a:tcPr>
                </a:tc>
                <a:tc>
                  <a:txBody>
                    <a:bodyPr/>
                    <a:lstStyle/>
                    <a:p>
                      <a:pPr algn="ctr" fontAlgn="ctr"/>
                      <a:r>
                        <a:rPr lang="es-MX" sz="1100" b="1" u="none" strike="noStrike" dirty="0">
                          <a:solidFill>
                            <a:schemeClr val="bg1"/>
                          </a:solidFill>
                          <a:effectLst/>
                        </a:rPr>
                        <a:t>FORMULACIÓN DEL PLAN DE ACCIÓN</a:t>
                      </a:r>
                      <a:endParaRPr lang="es-MX" sz="1100" b="1" i="0" u="none" strike="noStrike" dirty="0">
                        <a:solidFill>
                          <a:schemeClr val="bg1"/>
                        </a:solidFill>
                        <a:effectLst/>
                        <a:latin typeface="Calibri" panose="020F0502020204030204" pitchFamily="34" charset="0"/>
                      </a:endParaRPr>
                    </a:p>
                  </a:txBody>
                  <a:tcPr marL="9525" marR="9525" marT="9525" marB="0" anchor="ctr">
                    <a:solidFill>
                      <a:schemeClr val="accent5"/>
                    </a:solidFill>
                  </a:tcPr>
                </a:tc>
                <a:extLst>
                  <a:ext uri="{0D108BD9-81ED-4DB2-BD59-A6C34878D82A}">
                    <a16:rowId xmlns:a16="http://schemas.microsoft.com/office/drawing/2014/main" val="3948078719"/>
                  </a:ext>
                </a:extLst>
              </a:tr>
              <a:tr h="848561">
                <a:tc>
                  <a:txBody>
                    <a:bodyPr/>
                    <a:lstStyle/>
                    <a:p>
                      <a:pPr algn="ctr" fontAlgn="b"/>
                      <a:r>
                        <a:rPr lang="es-CO" sz="1100" dirty="0"/>
                        <a:t>Relacionamiento con la ciudadanía.</a:t>
                      </a:r>
                      <a:endParaRPr lang="es-CO"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ctr"/>
                      <a:r>
                        <a:rPr lang="es-CO" sz="1100" dirty="0">
                          <a:effectLst/>
                          <a:latin typeface="Calibri" panose="020F0502020204030204" pitchFamily="34" charset="0"/>
                          <a:ea typeface="Calibri" panose="020F0502020204030204" pitchFamily="34" charset="0"/>
                          <a:cs typeface="Times New Roman" panose="02020603050405020304" pitchFamily="18" charset="0"/>
                        </a:rPr>
                        <a:t>7.5.3.2 Control de la información documentada </a:t>
                      </a:r>
                      <a:endParaRPr lang="es-MX"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just">
                        <a:lnSpc>
                          <a:spcPct val="115000"/>
                        </a:lnSpc>
                        <a:spcAft>
                          <a:spcPts val="1000"/>
                        </a:spcAft>
                      </a:pPr>
                      <a:r>
                        <a:rPr lang="es-CO" sz="1100" dirty="0">
                          <a:effectLst/>
                          <a:latin typeface="Calibri" panose="020F0502020204030204" pitchFamily="34" charset="0"/>
                          <a:ea typeface="Calibri" panose="020F0502020204030204" pitchFamily="34" charset="0"/>
                          <a:cs typeface="Times New Roman" panose="02020603050405020304" pitchFamily="18" charset="0"/>
                        </a:rPr>
                        <a:t>No se evidencia que a partir del sistema de información CORRYCOM se controle la distribución, acceso y recuperación de los radicados de las PQRSDS, 7.5.3.2 Control de la información documentada “Para el control de la información documentada, la organización debe abordar las siguientes actividades según corresponda: a) distribución, acceso, recuperación y uso.”</a:t>
                      </a:r>
                    </a:p>
                  </a:txBody>
                  <a:tcPr marL="68580" marR="68580" marT="0" marB="0"/>
                </a:tc>
                <a:tc>
                  <a:txBody>
                    <a:bodyPr/>
                    <a:lstStyle/>
                    <a:p>
                      <a:pPr algn="ctr" fontAlgn="ctr"/>
                      <a:r>
                        <a:rPr lang="es-CO" sz="1100" u="none" strike="noStrike" dirty="0">
                          <a:effectLst/>
                        </a:rPr>
                        <a:t>Si</a:t>
                      </a:r>
                      <a:endParaRPr lang="es-CO"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2125679"/>
                  </a:ext>
                </a:extLst>
              </a:tr>
              <a:tr h="759492">
                <a:tc>
                  <a:txBody>
                    <a:bodyPr/>
                    <a:lstStyle/>
                    <a:p>
                      <a:pPr algn="ctr" fontAlgn="b"/>
                      <a:r>
                        <a:rPr lang="es-MX" sz="1100" dirty="0"/>
                        <a:t>Gestión de Tecnologías de la Información</a:t>
                      </a:r>
                      <a:endParaRPr lang="es-CO"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b="0" i="0" u="none" strike="noStrike" dirty="0">
                          <a:solidFill>
                            <a:srgbClr val="000000"/>
                          </a:solidFill>
                          <a:effectLst/>
                          <a:latin typeface="Calibri" panose="020F0502020204030204" pitchFamily="34" charset="0"/>
                        </a:rPr>
                        <a:t>1</a:t>
                      </a:r>
                    </a:p>
                  </a:txBody>
                  <a:tcPr marL="9525" marR="9525" marT="9525" marB="0" anchor="ctr"/>
                </a:tc>
                <a:tc>
                  <a:txBody>
                    <a:bodyPr/>
                    <a:lstStyle/>
                    <a:p>
                      <a:pPr algn="ctr" fontAlgn="ctr"/>
                      <a:r>
                        <a:rPr lang="es-MX" sz="1100" dirty="0"/>
                        <a:t>9.1.3 Análisis y Evaluación de la</a:t>
                      </a:r>
                      <a:endParaRPr lang="es-MX"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MX" sz="1100" dirty="0"/>
                        <a:t>No se evidencio para la vigencia 2020 que el proceso de Gestión de Tecnologías de la información realizara el cálculo y análisis de los indicadores en la frecuencia establecida para el proceso como son: Cumplimiento de la ejecución del PETI, Incidencias TI gestionadas Oportunamente y Cumplimiento Plan Anual de mantenimientos TI Incumpliendo con lo establecido en el.</a:t>
                      </a:r>
                      <a:endParaRPr lang="es-CO"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dirty="0">
                          <a:effectLst/>
                        </a:rPr>
                        <a:t>Si</a:t>
                      </a:r>
                      <a:endParaRPr lang="es-CO"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6374565"/>
                  </a:ext>
                </a:extLst>
              </a:tr>
            </a:tbl>
          </a:graphicData>
        </a:graphic>
      </p:graphicFrame>
    </p:spTree>
    <p:extLst>
      <p:ext uri="{BB962C8B-B14F-4D97-AF65-F5344CB8AC3E}">
        <p14:creationId xmlns:p14="http://schemas.microsoft.com/office/powerpoint/2010/main" val="950627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92EED6-F7E4-488A-84F0-0C26B1B10CC4}"/>
              </a:ext>
            </a:extLst>
          </p:cNvPr>
          <p:cNvSpPr txBox="1"/>
          <p:nvPr/>
        </p:nvSpPr>
        <p:spPr>
          <a:xfrm>
            <a:off x="326265" y="945113"/>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3" name="CuadroTexto 2">
            <a:extLst>
              <a:ext uri="{FF2B5EF4-FFF2-40B4-BE49-F238E27FC236}">
                <a16:creationId xmlns:a16="http://schemas.microsoft.com/office/drawing/2014/main" id="{28122757-E07B-F39A-80B1-347BF69D6F79}"/>
              </a:ext>
            </a:extLst>
          </p:cNvPr>
          <p:cNvSpPr txBox="1"/>
          <p:nvPr/>
        </p:nvSpPr>
        <p:spPr>
          <a:xfrm>
            <a:off x="910796" y="1499111"/>
            <a:ext cx="10852878" cy="523220"/>
          </a:xfrm>
          <a:prstGeom prst="rect">
            <a:avLst/>
          </a:prstGeom>
          <a:noFill/>
        </p:spPr>
        <p:txBody>
          <a:bodyPr wrap="square" rtlCol="0">
            <a:spAutoFit/>
          </a:bodyPr>
          <a:lstStyle/>
          <a:p>
            <a:pPr marL="2353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400" dirty="0">
                <a:solidFill>
                  <a:srgbClr val="333333"/>
                </a:solidFill>
                <a:latin typeface="Arial" panose="020B0604020202020204" pitchFamily="34" charset="0"/>
                <a:cs typeface="Arial" panose="020B0604020202020204" pitchFamily="34" charset="0"/>
              </a:rPr>
              <a:t>Es importante que todas las auditorias que se realicen en el concejo como es el caso de la auditoria de seguridad y salud en el trabajo se realice bajo los parámetro y metodología establecida en el proceso de Gestión de Calidad.</a:t>
            </a:r>
            <a:endPar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052742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1 CuadroTexto">
            <a:extLst>
              <a:ext uri="{FF2B5EF4-FFF2-40B4-BE49-F238E27FC236}">
                <a16:creationId xmlns:a16="http://schemas.microsoft.com/office/drawing/2014/main" id="{D07FB55A-A09F-467F-9728-5E41DFD131AB}"/>
              </a:ext>
            </a:extLst>
          </p:cNvPr>
          <p:cNvSpPr txBox="1"/>
          <p:nvPr/>
        </p:nvSpPr>
        <p:spPr>
          <a:xfrm>
            <a:off x="1326267" y="2225085"/>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8.|</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7" name="Rectangle 2">
            <a:extLst>
              <a:ext uri="{FF2B5EF4-FFF2-40B4-BE49-F238E27FC236}">
                <a16:creationId xmlns:a16="http://schemas.microsoft.com/office/drawing/2014/main" id="{45408B68-A5D9-49C6-80D0-74FE86429E73}"/>
              </a:ext>
            </a:extLst>
          </p:cNvPr>
          <p:cNvSpPr>
            <a:spLocks noChangeArrowheads="1"/>
          </p:cNvSpPr>
          <p:nvPr/>
        </p:nvSpPr>
        <p:spPr bwMode="auto">
          <a:xfrm>
            <a:off x="2908058" y="2225085"/>
            <a:ext cx="902411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DESEMPEÑO DE PROVEEDORES EXTERNOS</a:t>
            </a:r>
          </a:p>
        </p:txBody>
      </p:sp>
      <p:sp>
        <p:nvSpPr>
          <p:cNvPr id="8" name="CuadroTexto 7">
            <a:extLst>
              <a:ext uri="{FF2B5EF4-FFF2-40B4-BE49-F238E27FC236}">
                <a16:creationId xmlns:a16="http://schemas.microsoft.com/office/drawing/2014/main" id="{D0D56B1E-93FF-4606-8857-7F3EE8510274}"/>
              </a:ext>
            </a:extLst>
          </p:cNvPr>
          <p:cNvSpPr txBox="1"/>
          <p:nvPr/>
        </p:nvSpPr>
        <p:spPr>
          <a:xfrm>
            <a:off x="2670882" y="4561951"/>
            <a:ext cx="60935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prstClr val="black"/>
                </a:solidFill>
                <a:effectLst/>
                <a:uLnTx/>
                <a:uFillTx/>
                <a:latin typeface="Calibri" panose="020F0502020204030204"/>
                <a:ea typeface="+mn-ea"/>
                <a:cs typeface="+mn-cs"/>
              </a:rPr>
              <a:t>SANDRA CLAVIJO</a:t>
            </a:r>
          </a:p>
          <a:p>
            <a:pPr marL="0" marR="0" lvl="0" indent="0" algn="ctr" defTabSz="914400" rtl="0" eaLnBrk="1" fontAlgn="auto" latinLnBrk="0" hangingPunct="1">
              <a:lnSpc>
                <a:spcPct val="100000"/>
              </a:lnSpc>
              <a:spcBef>
                <a:spcPts val="0"/>
              </a:spcBef>
              <a:spcAft>
                <a:spcPts val="0"/>
              </a:spcAft>
              <a:buClrTx/>
              <a:buSzTx/>
              <a:buFontTx/>
              <a:buNone/>
              <a:tabLst/>
              <a:defRPr/>
            </a:pPr>
            <a:r>
              <a:rPr lang="es-CO" dirty="0">
                <a:solidFill>
                  <a:prstClr val="black"/>
                </a:solidFill>
                <a:latin typeface="Calibri" panose="020F0502020204030204"/>
              </a:rPr>
              <a:t>Gestión Contractual</a:t>
            </a:r>
            <a:endParaRPr kumimoji="0" lang="es-CO" sz="18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480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ED11255-61F1-1BAC-9D3E-5A31E332DEA4}"/>
              </a:ext>
            </a:extLst>
          </p:cNvPr>
          <p:cNvSpPr txBox="1"/>
          <p:nvPr/>
        </p:nvSpPr>
        <p:spPr>
          <a:xfrm>
            <a:off x="0" y="1189645"/>
            <a:ext cx="5605780" cy="369332"/>
          </a:xfrm>
          <a:prstGeom prst="rect">
            <a:avLst/>
          </a:prstGeom>
          <a:noFill/>
        </p:spPr>
        <p:txBody>
          <a:bodyPr wrap="square" rtlCol="0">
            <a:spAutoFit/>
          </a:bodyPr>
          <a:lstStyle/>
          <a:p>
            <a:pPr algn="ctr"/>
            <a:r>
              <a:rPr lang="es-CO" b="1" dirty="0"/>
              <a:t>DESEMPEÑO DE PROVEEDORES EXTERNO 2022</a:t>
            </a:r>
          </a:p>
        </p:txBody>
      </p:sp>
      <p:graphicFrame>
        <p:nvGraphicFramePr>
          <p:cNvPr id="3" name="Tabla 2">
            <a:extLst>
              <a:ext uri="{FF2B5EF4-FFF2-40B4-BE49-F238E27FC236}">
                <a16:creationId xmlns:a16="http://schemas.microsoft.com/office/drawing/2014/main" id="{C5D95301-7DE0-A6F3-09F8-ED9B97C95E64}"/>
              </a:ext>
            </a:extLst>
          </p:cNvPr>
          <p:cNvGraphicFramePr>
            <a:graphicFrameLocks noGrp="1"/>
          </p:cNvGraphicFramePr>
          <p:nvPr>
            <p:extLst>
              <p:ext uri="{D42A27DB-BD31-4B8C-83A1-F6EECF244321}">
                <p14:modId xmlns:p14="http://schemas.microsoft.com/office/powerpoint/2010/main" val="438202234"/>
              </p:ext>
            </p:extLst>
          </p:nvPr>
        </p:nvGraphicFramePr>
        <p:xfrm>
          <a:off x="490220" y="1936988"/>
          <a:ext cx="5605780" cy="3007697"/>
        </p:xfrm>
        <a:graphic>
          <a:graphicData uri="http://schemas.openxmlformats.org/drawingml/2006/table">
            <a:tbl>
              <a:tblPr firstRow="1">
                <a:tableStyleId>{5C22544A-7EE6-4342-B048-85BDC9FD1C3A}</a:tableStyleId>
              </a:tblPr>
              <a:tblGrid>
                <a:gridCol w="1868170">
                  <a:extLst>
                    <a:ext uri="{9D8B030D-6E8A-4147-A177-3AD203B41FA5}">
                      <a16:colId xmlns:a16="http://schemas.microsoft.com/office/drawing/2014/main" val="789682884"/>
                    </a:ext>
                  </a:extLst>
                </a:gridCol>
                <a:gridCol w="1868805">
                  <a:extLst>
                    <a:ext uri="{9D8B030D-6E8A-4147-A177-3AD203B41FA5}">
                      <a16:colId xmlns:a16="http://schemas.microsoft.com/office/drawing/2014/main" val="4147799274"/>
                    </a:ext>
                  </a:extLst>
                </a:gridCol>
                <a:gridCol w="1868805">
                  <a:extLst>
                    <a:ext uri="{9D8B030D-6E8A-4147-A177-3AD203B41FA5}">
                      <a16:colId xmlns:a16="http://schemas.microsoft.com/office/drawing/2014/main" val="2306791816"/>
                    </a:ext>
                  </a:extLst>
                </a:gridCol>
              </a:tblGrid>
              <a:tr h="272281">
                <a:tc gridSpan="3">
                  <a:txBody>
                    <a:bodyPr/>
                    <a:lstStyle/>
                    <a:p>
                      <a:pPr algn="ctr">
                        <a:lnSpc>
                          <a:spcPct val="107000"/>
                        </a:lnSpc>
                        <a:spcAft>
                          <a:spcPts val="800"/>
                        </a:spcAft>
                      </a:pPr>
                      <a:r>
                        <a:rPr lang="es-CO" sz="1100" dirty="0">
                          <a:effectLst/>
                        </a:rPr>
                        <a:t>EVALUACIÓN DE PROVEEDORES</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656747706"/>
                  </a:ext>
                </a:extLst>
              </a:tr>
              <a:tr h="272281">
                <a:tc>
                  <a:txBody>
                    <a:bodyPr/>
                    <a:lstStyle/>
                    <a:p>
                      <a:pPr algn="ctr">
                        <a:lnSpc>
                          <a:spcPct val="107000"/>
                        </a:lnSpc>
                        <a:spcAft>
                          <a:spcPts val="800"/>
                        </a:spcAft>
                      </a:pPr>
                      <a:r>
                        <a:rPr lang="es-CO" sz="1100" b="1" dirty="0">
                          <a:effectLst/>
                        </a:rPr>
                        <a:t>Modalidad de Contratación</a:t>
                      </a:r>
                      <a:endParaRPr lang="es-CO"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b="1" dirty="0">
                          <a:effectLst/>
                        </a:rPr>
                        <a:t>Número de contratos</a:t>
                      </a:r>
                      <a:endParaRPr lang="es-CO"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b="1" dirty="0">
                          <a:effectLst/>
                        </a:rPr>
                        <a:t>Cumplió</a:t>
                      </a:r>
                      <a:endParaRPr lang="es-CO" sz="11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502500"/>
                  </a:ext>
                </a:extLst>
              </a:tr>
              <a:tr h="272281">
                <a:tc>
                  <a:txBody>
                    <a:bodyPr/>
                    <a:lstStyle/>
                    <a:p>
                      <a:pPr>
                        <a:lnSpc>
                          <a:spcPct val="107000"/>
                        </a:lnSpc>
                        <a:spcAft>
                          <a:spcPts val="800"/>
                        </a:spcAft>
                      </a:pPr>
                      <a:r>
                        <a:rPr lang="es-CO" sz="1100">
                          <a:effectLst/>
                        </a:rPr>
                        <a:t>Contratación Directa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21</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Si</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7112250"/>
                  </a:ext>
                </a:extLst>
              </a:tr>
              <a:tr h="272281">
                <a:tc>
                  <a:txBody>
                    <a:bodyPr/>
                    <a:lstStyle/>
                    <a:p>
                      <a:pPr>
                        <a:lnSpc>
                          <a:spcPct val="107000"/>
                        </a:lnSpc>
                        <a:spcAft>
                          <a:spcPts val="800"/>
                        </a:spcAft>
                      </a:pPr>
                      <a:r>
                        <a:rPr lang="es-CO" sz="1100">
                          <a:effectLst/>
                        </a:rPr>
                        <a:t>Mínima Cuantía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tc>
                <a:tc>
                  <a:txBody>
                    <a:bodyPr/>
                    <a:lstStyle/>
                    <a:p>
                      <a:pPr algn="ctr">
                        <a:lnSpc>
                          <a:spcPct val="107000"/>
                        </a:lnSpc>
                        <a:spcAft>
                          <a:spcPts val="800"/>
                        </a:spcAft>
                      </a:pPr>
                      <a:r>
                        <a:rPr lang="es-CO" sz="1100">
                          <a:effectLst/>
                        </a:rPr>
                        <a:t>Si</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0343441"/>
                  </a:ext>
                </a:extLst>
              </a:tr>
              <a:tr h="272281">
                <a:tc>
                  <a:txBody>
                    <a:bodyPr/>
                    <a:lstStyle/>
                    <a:p>
                      <a:pPr>
                        <a:lnSpc>
                          <a:spcPct val="107000"/>
                        </a:lnSpc>
                        <a:spcAft>
                          <a:spcPts val="800"/>
                        </a:spcAft>
                      </a:pPr>
                      <a:r>
                        <a:rPr lang="es-CO" sz="1100">
                          <a:effectLst/>
                        </a:rPr>
                        <a:t>Menor Cuantía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tc>
                <a:tc>
                  <a:txBody>
                    <a:bodyPr/>
                    <a:lstStyle/>
                    <a:p>
                      <a:pPr algn="ctr">
                        <a:lnSpc>
                          <a:spcPct val="107000"/>
                        </a:lnSpc>
                        <a:spcAft>
                          <a:spcPts val="800"/>
                        </a:spcAft>
                      </a:pPr>
                      <a:r>
                        <a:rPr lang="es-CO" sz="1100">
                          <a:effectLst/>
                        </a:rPr>
                        <a:t>Si</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88482786"/>
                  </a:ext>
                </a:extLst>
              </a:tr>
              <a:tr h="272281">
                <a:tc>
                  <a:txBody>
                    <a:bodyPr/>
                    <a:lstStyle/>
                    <a:p>
                      <a:pPr>
                        <a:lnSpc>
                          <a:spcPct val="107000"/>
                        </a:lnSpc>
                        <a:spcAft>
                          <a:spcPts val="800"/>
                        </a:spcAft>
                      </a:pPr>
                      <a:r>
                        <a:rPr lang="es-CO" sz="1100">
                          <a:effectLst/>
                        </a:rPr>
                        <a:t>Concurso de méritos</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0</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N/A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8707940"/>
                  </a:ext>
                </a:extLst>
              </a:tr>
              <a:tr h="272281">
                <a:tc>
                  <a:txBody>
                    <a:bodyPr/>
                    <a:lstStyle/>
                    <a:p>
                      <a:pPr>
                        <a:lnSpc>
                          <a:spcPct val="107000"/>
                        </a:lnSpc>
                        <a:spcAft>
                          <a:spcPts val="800"/>
                        </a:spcAft>
                      </a:pPr>
                      <a:r>
                        <a:rPr lang="es-CO" sz="1100">
                          <a:effectLst/>
                        </a:rPr>
                        <a:t>Subasta inversa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0</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N/A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44608201"/>
                  </a:ext>
                </a:extLst>
              </a:tr>
              <a:tr h="272281">
                <a:tc>
                  <a:txBody>
                    <a:bodyPr/>
                    <a:lstStyle/>
                    <a:p>
                      <a:pPr>
                        <a:lnSpc>
                          <a:spcPct val="107000"/>
                        </a:lnSpc>
                        <a:spcAft>
                          <a:spcPts val="800"/>
                        </a:spcAft>
                      </a:pPr>
                      <a:r>
                        <a:rPr lang="es-CO" sz="1100">
                          <a:effectLst/>
                        </a:rPr>
                        <a:t>Licitación Pública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0</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N/A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80003646"/>
                  </a:ext>
                </a:extLst>
              </a:tr>
              <a:tr h="272281">
                <a:tc>
                  <a:txBody>
                    <a:bodyPr/>
                    <a:lstStyle/>
                    <a:p>
                      <a:pPr>
                        <a:lnSpc>
                          <a:spcPct val="107000"/>
                        </a:lnSpc>
                        <a:spcAft>
                          <a:spcPts val="800"/>
                        </a:spcAft>
                      </a:pPr>
                      <a:r>
                        <a:rPr lang="es-CO" sz="1100">
                          <a:effectLst/>
                        </a:rPr>
                        <a:t>Contrato Interadministrativo</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0</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CO" sz="1100">
                          <a:effectLst/>
                        </a:rPr>
                        <a:t>N/A</a:t>
                      </a:r>
                      <a:endParaRPr lang="es-CO"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3099632"/>
                  </a:ext>
                </a:extLst>
              </a:tr>
              <a:tr h="557168">
                <a:tc>
                  <a:txBody>
                    <a:bodyPr/>
                    <a:lstStyle/>
                    <a:p>
                      <a:pPr>
                        <a:lnSpc>
                          <a:spcPct val="107000"/>
                        </a:lnSpc>
                        <a:spcAft>
                          <a:spcPts val="800"/>
                        </a:spcAft>
                      </a:pPr>
                      <a:r>
                        <a:rPr lang="es-CO" sz="1100" dirty="0">
                          <a:effectLst/>
                        </a:rPr>
                        <a:t>Total Contratos</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95000"/>
                      </a:schemeClr>
                    </a:solidFill>
                  </a:tcPr>
                </a:tc>
                <a:tc>
                  <a:txBody>
                    <a:bodyPr/>
                    <a:lstStyle/>
                    <a:p>
                      <a:pPr algn="ctr">
                        <a:lnSpc>
                          <a:spcPct val="107000"/>
                        </a:lnSpc>
                        <a:spcAft>
                          <a:spcPts val="800"/>
                        </a:spcAft>
                      </a:pPr>
                      <a:r>
                        <a:rPr lang="es-CO" sz="1100" dirty="0">
                          <a:effectLst/>
                        </a:rPr>
                        <a:t>31</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95000"/>
                      </a:schemeClr>
                    </a:solidFill>
                  </a:tcPr>
                </a:tc>
                <a:tc>
                  <a:txBody>
                    <a:bodyPr/>
                    <a:lstStyle/>
                    <a:p>
                      <a:pPr>
                        <a:lnSpc>
                          <a:spcPct val="107000"/>
                        </a:lnSpc>
                        <a:spcAft>
                          <a:spcPts val="800"/>
                        </a:spcAft>
                      </a:pPr>
                      <a:r>
                        <a:rPr lang="es-CO" sz="1100" dirty="0">
                          <a:effectLst/>
                        </a:rPr>
                        <a:t> </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95000"/>
                      </a:schemeClr>
                    </a:solidFill>
                  </a:tcPr>
                </a:tc>
                <a:extLst>
                  <a:ext uri="{0D108BD9-81ED-4DB2-BD59-A6C34878D82A}">
                    <a16:rowId xmlns:a16="http://schemas.microsoft.com/office/drawing/2014/main" val="1950520197"/>
                  </a:ext>
                </a:extLst>
              </a:tr>
            </a:tbl>
          </a:graphicData>
        </a:graphic>
      </p:graphicFrame>
      <p:sp>
        <p:nvSpPr>
          <p:cNvPr id="4" name="CuadroTexto 3">
            <a:extLst>
              <a:ext uri="{FF2B5EF4-FFF2-40B4-BE49-F238E27FC236}">
                <a16:creationId xmlns:a16="http://schemas.microsoft.com/office/drawing/2014/main" id="{B85BF1DD-0596-727A-43B5-72C7D47E1809}"/>
              </a:ext>
            </a:extLst>
          </p:cNvPr>
          <p:cNvSpPr txBox="1"/>
          <p:nvPr/>
        </p:nvSpPr>
        <p:spPr>
          <a:xfrm>
            <a:off x="490221" y="4971065"/>
            <a:ext cx="6093500" cy="307777"/>
          </a:xfrm>
          <a:prstGeom prst="rect">
            <a:avLst/>
          </a:prstGeom>
          <a:noFill/>
        </p:spPr>
        <p:txBody>
          <a:bodyPr wrap="square">
            <a:spAutoFit/>
          </a:bodyPr>
          <a:lstStyle/>
          <a:p>
            <a:r>
              <a:rPr lang="es-CO" sz="1400" i="1" dirty="0"/>
              <a:t>A </a:t>
            </a:r>
            <a:r>
              <a:rPr lang="es-CO" sz="1400" i="1" dirty="0">
                <a:effectLst/>
              </a:rPr>
              <a:t>corte 31 de Octubre del  Año 2022 </a:t>
            </a:r>
            <a:endParaRPr lang="es-CO" sz="1400" i="1" dirty="0"/>
          </a:p>
        </p:txBody>
      </p:sp>
      <p:graphicFrame>
        <p:nvGraphicFramePr>
          <p:cNvPr id="5" name="Tabla 4">
            <a:extLst>
              <a:ext uri="{FF2B5EF4-FFF2-40B4-BE49-F238E27FC236}">
                <a16:creationId xmlns:a16="http://schemas.microsoft.com/office/drawing/2014/main" id="{0EB8388F-F8C1-A00A-0A9A-BE4CCD1C9E07}"/>
              </a:ext>
            </a:extLst>
          </p:cNvPr>
          <p:cNvGraphicFramePr>
            <a:graphicFrameLocks noGrp="1"/>
          </p:cNvGraphicFramePr>
          <p:nvPr>
            <p:extLst>
              <p:ext uri="{D42A27DB-BD31-4B8C-83A1-F6EECF244321}">
                <p14:modId xmlns:p14="http://schemas.microsoft.com/office/powerpoint/2010/main" val="1852061332"/>
              </p:ext>
            </p:extLst>
          </p:nvPr>
        </p:nvGraphicFramePr>
        <p:xfrm>
          <a:off x="6812281" y="1936988"/>
          <a:ext cx="4889499" cy="2095500"/>
        </p:xfrm>
        <a:graphic>
          <a:graphicData uri="http://schemas.openxmlformats.org/drawingml/2006/table">
            <a:tbl>
              <a:tblPr firstRow="1">
                <a:tableStyleId>{7DF18680-E054-41AD-8BC1-D1AEF772440D}</a:tableStyleId>
              </a:tblPr>
              <a:tblGrid>
                <a:gridCol w="1580317">
                  <a:extLst>
                    <a:ext uri="{9D8B030D-6E8A-4147-A177-3AD203B41FA5}">
                      <a16:colId xmlns:a16="http://schemas.microsoft.com/office/drawing/2014/main" val="4051180596"/>
                    </a:ext>
                  </a:extLst>
                </a:gridCol>
                <a:gridCol w="1109272">
                  <a:extLst>
                    <a:ext uri="{9D8B030D-6E8A-4147-A177-3AD203B41FA5}">
                      <a16:colId xmlns:a16="http://schemas.microsoft.com/office/drawing/2014/main" val="3852954855"/>
                    </a:ext>
                  </a:extLst>
                </a:gridCol>
                <a:gridCol w="892659">
                  <a:extLst>
                    <a:ext uri="{9D8B030D-6E8A-4147-A177-3AD203B41FA5}">
                      <a16:colId xmlns:a16="http://schemas.microsoft.com/office/drawing/2014/main" val="1804706114"/>
                    </a:ext>
                  </a:extLst>
                </a:gridCol>
                <a:gridCol w="1307251">
                  <a:extLst>
                    <a:ext uri="{9D8B030D-6E8A-4147-A177-3AD203B41FA5}">
                      <a16:colId xmlns:a16="http://schemas.microsoft.com/office/drawing/2014/main" val="3745567438"/>
                    </a:ext>
                  </a:extLst>
                </a:gridCol>
              </a:tblGrid>
              <a:tr h="571500">
                <a:tc>
                  <a:txBody>
                    <a:bodyPr/>
                    <a:lstStyle/>
                    <a:p>
                      <a:pPr algn="ctr" fontAlgn="ctr"/>
                      <a:r>
                        <a:rPr lang="es-CO" sz="1100" b="1" u="none" strike="noStrike" dirty="0">
                          <a:effectLst/>
                        </a:rPr>
                        <a:t>PROVEEDOR</a:t>
                      </a:r>
                      <a:endParaRPr lang="es-CO"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TIPO DE PRODUCTOS /SERVICIO</a:t>
                      </a:r>
                      <a:endParaRPr lang="es-CO"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CALIFICACIÓN</a:t>
                      </a:r>
                      <a:endParaRPr lang="es-CO"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b="1" u="none" strike="noStrike" dirty="0">
                          <a:effectLst/>
                        </a:rPr>
                        <a:t>OBSERVACIÓN </a:t>
                      </a:r>
                      <a:endParaRPr lang="es-CO"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60313288"/>
                  </a:ext>
                </a:extLst>
              </a:tr>
              <a:tr h="571500">
                <a:tc>
                  <a:txBody>
                    <a:bodyPr/>
                    <a:lstStyle/>
                    <a:p>
                      <a:pPr algn="ctr" fontAlgn="ctr"/>
                      <a:r>
                        <a:rPr lang="es-CO" sz="1100" u="none" strike="noStrike" dirty="0">
                          <a:effectLst/>
                        </a:rPr>
                        <a:t>CONSULOTRES INCREA INGENIERA SA</a:t>
                      </a:r>
                      <a:endParaRPr lang="es-CO"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dirty="0">
                          <a:effectLst/>
                        </a:rPr>
                        <a:t>COVID-19</a:t>
                      </a:r>
                      <a:endParaRPr lang="es-CO"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a:effectLst/>
                        </a:rPr>
                        <a:t>3,9</a:t>
                      </a:r>
                      <a:endParaRPr lang="es-CO"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a:effectLst/>
                        </a:rPr>
                        <a:t>Sin ninguna novedad</a:t>
                      </a:r>
                      <a:endParaRPr lang="es-CO"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573203482"/>
                  </a:ext>
                </a:extLst>
              </a:tr>
              <a:tr h="381000">
                <a:tc>
                  <a:txBody>
                    <a:bodyPr/>
                    <a:lstStyle/>
                    <a:p>
                      <a:pPr algn="ctr" fontAlgn="ctr"/>
                      <a:r>
                        <a:rPr lang="es-CO" sz="1100" u="none" strike="noStrike">
                          <a:effectLst/>
                        </a:rPr>
                        <a:t>GRUPO MAB TRAINING</a:t>
                      </a:r>
                      <a:endParaRPr lang="es-CO"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dirty="0">
                          <a:effectLst/>
                        </a:rPr>
                        <a:t>PAPELERIA</a:t>
                      </a:r>
                      <a:endParaRPr lang="es-CO"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dirty="0">
                          <a:effectLst/>
                        </a:rPr>
                        <a:t>3,9</a:t>
                      </a:r>
                      <a:endParaRPr lang="es-CO"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a:effectLst/>
                        </a:rPr>
                        <a:t>Sin ninguna novedad</a:t>
                      </a:r>
                      <a:endParaRPr lang="es-CO"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81362351"/>
                  </a:ext>
                </a:extLst>
              </a:tr>
              <a:tr h="571500">
                <a:tc>
                  <a:txBody>
                    <a:bodyPr/>
                    <a:lstStyle/>
                    <a:p>
                      <a:pPr algn="ctr" fontAlgn="ctr"/>
                      <a:r>
                        <a:rPr lang="es-CO" sz="1100" u="none" strike="noStrike">
                          <a:effectLst/>
                        </a:rPr>
                        <a:t>INDUSTRIA COLOMBIANA DE ASEO LIDER SAS</a:t>
                      </a:r>
                      <a:endParaRPr lang="es-CO"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a:effectLst/>
                        </a:rPr>
                        <a:t>ASEO Y CAFETERIA</a:t>
                      </a:r>
                      <a:endParaRPr lang="es-CO"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dirty="0">
                          <a:effectLst/>
                        </a:rPr>
                        <a:t>3,9</a:t>
                      </a:r>
                      <a:endParaRPr lang="es-CO"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CO" sz="1100" u="none" strike="noStrike" dirty="0">
                          <a:effectLst/>
                        </a:rPr>
                        <a:t>Sin ninguna novedad</a:t>
                      </a:r>
                      <a:endParaRPr lang="es-CO"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88096281"/>
                  </a:ext>
                </a:extLst>
              </a:tr>
            </a:tbl>
          </a:graphicData>
        </a:graphic>
      </p:graphicFrame>
    </p:spTree>
    <p:extLst>
      <p:ext uri="{BB962C8B-B14F-4D97-AF65-F5344CB8AC3E}">
        <p14:creationId xmlns:p14="http://schemas.microsoft.com/office/powerpoint/2010/main" val="18736630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92EED6-F7E4-488A-84F0-0C26B1B10CC4}"/>
              </a:ext>
            </a:extLst>
          </p:cNvPr>
          <p:cNvSpPr txBox="1"/>
          <p:nvPr/>
        </p:nvSpPr>
        <p:spPr>
          <a:xfrm>
            <a:off x="326265" y="945113"/>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3" name="CuadroTexto 2">
            <a:extLst>
              <a:ext uri="{FF2B5EF4-FFF2-40B4-BE49-F238E27FC236}">
                <a16:creationId xmlns:a16="http://schemas.microsoft.com/office/drawing/2014/main" id="{28122757-E07B-F39A-80B1-347BF69D6F79}"/>
              </a:ext>
            </a:extLst>
          </p:cNvPr>
          <p:cNvSpPr txBox="1"/>
          <p:nvPr/>
        </p:nvSpPr>
        <p:spPr>
          <a:xfrm>
            <a:off x="910796" y="1499111"/>
            <a:ext cx="10852878" cy="892552"/>
          </a:xfrm>
          <a:prstGeom prst="rect">
            <a:avLst/>
          </a:prstGeom>
          <a:noFill/>
        </p:spPr>
        <p:txBody>
          <a:bodyPr wrap="square" rtlCol="0">
            <a:spAutoFit/>
          </a:bodyPr>
          <a:lstStyle/>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MX" sz="14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Se requiere una impresora, multifuncional y archivador con seguridad con llave.</a:t>
            </a:r>
          </a:p>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MX" sz="1400" dirty="0">
                <a:solidFill>
                  <a:srgbClr val="333333"/>
                </a:solidFill>
                <a:latin typeface="Arial" panose="020B0604020202020204" pitchFamily="34" charset="0"/>
                <a:cs typeface="Arial" panose="020B0604020202020204" pitchFamily="34" charset="0"/>
              </a:rPr>
              <a:t>Para las personas de contratación trimestral en el manejo aplicativo SECOP, Actualización normativa, entre otros,</a:t>
            </a:r>
          </a:p>
          <a:p>
            <a:pPr marL="2353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s-MX" sz="1400" dirty="0">
                <a:solidFill>
                  <a:srgbClr val="333333"/>
                </a:solidFill>
                <a:latin typeface="Arial" panose="020B0604020202020204" pitchFamily="34" charset="0"/>
                <a:cs typeface="Arial" panose="020B0604020202020204" pitchFamily="34" charset="0"/>
              </a:rPr>
              <a:t>Responsabilidad de las fichas para la gestión contractual.</a:t>
            </a:r>
          </a:p>
        </p:txBody>
      </p:sp>
    </p:spTree>
    <p:extLst>
      <p:ext uri="{BB962C8B-B14F-4D97-AF65-F5344CB8AC3E}">
        <p14:creationId xmlns:p14="http://schemas.microsoft.com/office/powerpoint/2010/main" val="15816775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A7A6F21D-8522-56F0-5DFD-433FA6FF0AA7}"/>
              </a:ext>
            </a:extLst>
          </p:cNvPr>
          <p:cNvSpPr txBox="1"/>
          <p:nvPr/>
        </p:nvSpPr>
        <p:spPr>
          <a:xfrm>
            <a:off x="756215" y="2030213"/>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7200" b="1" dirty="0">
                <a:solidFill>
                  <a:schemeClr val="accent5"/>
                </a:solidFill>
                <a:latin typeface="Calibri" panose="020F0502020204030204"/>
              </a:rPr>
              <a:t>9</a:t>
            </a: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27D8FF25-2116-72C4-210F-02D517DF0773}"/>
              </a:ext>
            </a:extLst>
          </p:cNvPr>
          <p:cNvSpPr>
            <a:spLocks noChangeArrowheads="1"/>
          </p:cNvSpPr>
          <p:nvPr/>
        </p:nvSpPr>
        <p:spPr bwMode="auto">
          <a:xfrm>
            <a:off x="2433502" y="2076380"/>
            <a:ext cx="928394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EFICACIA DE ACCIONES TOMADAS PARA ABORDAR RIESGOS Y OPORTUNIDADES</a:t>
            </a:r>
          </a:p>
        </p:txBody>
      </p:sp>
      <p:sp>
        <p:nvSpPr>
          <p:cNvPr id="4" name="CuadroTexto 3">
            <a:extLst>
              <a:ext uri="{FF2B5EF4-FFF2-40B4-BE49-F238E27FC236}">
                <a16:creationId xmlns:a16="http://schemas.microsoft.com/office/drawing/2014/main" id="{E7CBDDF4-B57C-E932-52D1-0ED11DED98DE}"/>
              </a:ext>
            </a:extLst>
          </p:cNvPr>
          <p:cNvSpPr txBox="1"/>
          <p:nvPr/>
        </p:nvSpPr>
        <p:spPr>
          <a:xfrm>
            <a:off x="3180547" y="4885117"/>
            <a:ext cx="6093500"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prstClr val="black"/>
                </a:solidFill>
                <a:effectLst/>
                <a:uLnTx/>
                <a:uFillTx/>
                <a:latin typeface="Calibri" panose="020F0502020204030204"/>
                <a:ea typeface="+mn-ea"/>
                <a:cs typeface="+mn-cs"/>
              </a:rPr>
              <a:t>AIDA PAOLA GUEVARA MORALES</a:t>
            </a:r>
          </a:p>
          <a:p>
            <a:pPr marL="0" marR="0" lvl="0" indent="0" algn="ctr" defTabSz="914400" rtl="0" eaLnBrk="1" fontAlgn="auto" latinLnBrk="0" hangingPunct="1">
              <a:lnSpc>
                <a:spcPct val="100000"/>
              </a:lnSpc>
              <a:spcBef>
                <a:spcPts val="0"/>
              </a:spcBef>
              <a:spcAft>
                <a:spcPts val="0"/>
              </a:spcAft>
              <a:buClrTx/>
              <a:buSzTx/>
              <a:buFontTx/>
              <a:buNone/>
              <a:tabLst/>
              <a:defRPr/>
            </a:pPr>
            <a:r>
              <a:rPr lang="es-CO" dirty="0">
                <a:solidFill>
                  <a:prstClr val="black"/>
                </a:solidFill>
                <a:latin typeface="Calibri" panose="020F0502020204030204"/>
              </a:rPr>
              <a:t>Gestión de Calidad</a:t>
            </a:r>
            <a:endPar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1083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9A580DCD-711A-A021-620F-6277B2E1EF40}"/>
              </a:ext>
            </a:extLst>
          </p:cNvPr>
          <p:cNvGraphicFramePr>
            <a:graphicFrameLocks noGrp="1"/>
          </p:cNvGraphicFramePr>
          <p:nvPr>
            <p:extLst>
              <p:ext uri="{D42A27DB-BD31-4B8C-83A1-F6EECF244321}">
                <p14:modId xmlns:p14="http://schemas.microsoft.com/office/powerpoint/2010/main" val="3749757021"/>
              </p:ext>
            </p:extLst>
          </p:nvPr>
        </p:nvGraphicFramePr>
        <p:xfrm>
          <a:off x="434611" y="1659873"/>
          <a:ext cx="5980703" cy="4617308"/>
        </p:xfrm>
        <a:graphic>
          <a:graphicData uri="http://schemas.openxmlformats.org/drawingml/2006/table">
            <a:tbl>
              <a:tblPr>
                <a:tableStyleId>{5C22544A-7EE6-4342-B048-85BDC9FD1C3A}</a:tableStyleId>
              </a:tblPr>
              <a:tblGrid>
                <a:gridCol w="3324589">
                  <a:extLst>
                    <a:ext uri="{9D8B030D-6E8A-4147-A177-3AD203B41FA5}">
                      <a16:colId xmlns:a16="http://schemas.microsoft.com/office/drawing/2014/main" val="3175974097"/>
                    </a:ext>
                  </a:extLst>
                </a:gridCol>
                <a:gridCol w="1132114">
                  <a:extLst>
                    <a:ext uri="{9D8B030D-6E8A-4147-A177-3AD203B41FA5}">
                      <a16:colId xmlns:a16="http://schemas.microsoft.com/office/drawing/2014/main" val="1685652460"/>
                    </a:ext>
                  </a:extLst>
                </a:gridCol>
                <a:gridCol w="1524000">
                  <a:extLst>
                    <a:ext uri="{9D8B030D-6E8A-4147-A177-3AD203B41FA5}">
                      <a16:colId xmlns:a16="http://schemas.microsoft.com/office/drawing/2014/main" val="2476909387"/>
                    </a:ext>
                  </a:extLst>
                </a:gridCol>
              </a:tblGrid>
              <a:tr h="316931">
                <a:tc>
                  <a:txBody>
                    <a:bodyPr/>
                    <a:lstStyle/>
                    <a:p>
                      <a:pPr algn="ctr" fontAlgn="b"/>
                      <a:r>
                        <a:rPr lang="es-CO" sz="1600" u="none" strike="noStrike" dirty="0">
                          <a:solidFill>
                            <a:schemeClr val="bg1"/>
                          </a:solidFill>
                          <a:effectLst/>
                        </a:rPr>
                        <a:t>PROCESOS</a:t>
                      </a:r>
                      <a:endParaRPr lang="es-CO" sz="1600" b="1" i="0" u="none" strike="noStrike" dirty="0">
                        <a:solidFill>
                          <a:schemeClr val="bg1"/>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solidFill>
                      <a:schemeClr val="accent5"/>
                    </a:solidFill>
                  </a:tcPr>
                </a:tc>
                <a:tc>
                  <a:txBody>
                    <a:bodyPr/>
                    <a:lstStyle/>
                    <a:p>
                      <a:pPr algn="ctr" fontAlgn="b"/>
                      <a:r>
                        <a:rPr lang="es-CO" sz="1600" u="none" strike="noStrike" dirty="0" err="1">
                          <a:solidFill>
                            <a:schemeClr val="bg1"/>
                          </a:solidFill>
                          <a:effectLst/>
                        </a:rPr>
                        <a:t>N°</a:t>
                      </a:r>
                      <a:r>
                        <a:rPr lang="es-CO" sz="1600" u="none" strike="noStrike" dirty="0">
                          <a:solidFill>
                            <a:schemeClr val="bg1"/>
                          </a:solidFill>
                          <a:effectLst/>
                        </a:rPr>
                        <a:t> de Riesgos</a:t>
                      </a:r>
                      <a:endParaRPr lang="es-CO" sz="1600" b="1" i="0" u="none" strike="noStrike" dirty="0">
                        <a:solidFill>
                          <a:schemeClr val="bg1"/>
                        </a:solidFill>
                        <a:effectLst/>
                        <a:latin typeface="Calibri" panose="020F0502020204030204" pitchFamily="34" charset="0"/>
                      </a:endParaRPr>
                    </a:p>
                  </a:txBody>
                  <a:tcPr marL="9525" marR="9525" marT="9525" marB="0" anchor="b">
                    <a:lnB w="12700" cap="flat" cmpd="sng" algn="ctr">
                      <a:solidFill>
                        <a:schemeClr val="tx1"/>
                      </a:solidFill>
                      <a:prstDash val="solid"/>
                      <a:round/>
                      <a:headEnd type="none" w="med" len="med"/>
                      <a:tailEnd type="none" w="med" len="med"/>
                    </a:lnB>
                    <a:solidFill>
                      <a:schemeClr val="accent5"/>
                    </a:solidFill>
                  </a:tcPr>
                </a:tc>
                <a:tc>
                  <a:txBody>
                    <a:bodyPr/>
                    <a:lstStyle/>
                    <a:p>
                      <a:pPr algn="ctr" fontAlgn="b"/>
                      <a:r>
                        <a:rPr lang="es-CO" sz="1600" b="1" i="0" u="none" strike="noStrike" dirty="0">
                          <a:solidFill>
                            <a:schemeClr val="bg1"/>
                          </a:solidFill>
                          <a:effectLst/>
                          <a:latin typeface="Calibri" panose="020F0502020204030204" pitchFamily="34" charset="0"/>
                        </a:rPr>
                        <a:t>Materialización</a:t>
                      </a:r>
                    </a:p>
                  </a:txBody>
                  <a:tcPr marL="9525" marR="9525" marT="9525" marB="0" anchor="b">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3561891506"/>
                  </a:ext>
                </a:extLst>
              </a:tr>
              <a:tr h="316931">
                <a:tc>
                  <a:txBody>
                    <a:bodyPr/>
                    <a:lstStyle/>
                    <a:p>
                      <a:pPr algn="l" fontAlgn="b"/>
                      <a:r>
                        <a:rPr lang="es-CO" sz="1400" u="none" strike="noStrike" dirty="0">
                          <a:effectLst/>
                        </a:rPr>
                        <a:t>Control Político</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u="none" strike="noStrike" dirty="0">
                          <a:effectLst/>
                        </a:rPr>
                        <a:t>2</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607885"/>
                  </a:ext>
                </a:extLst>
              </a:tr>
              <a:tr h="316931">
                <a:tc>
                  <a:txBody>
                    <a:bodyPr/>
                    <a:lstStyle/>
                    <a:p>
                      <a:pPr algn="l" fontAlgn="b"/>
                      <a:r>
                        <a:rPr lang="es-CO" sz="1400" u="none" strike="noStrike" dirty="0">
                          <a:effectLst/>
                        </a:rPr>
                        <a:t>Direccionamiento Estratégico</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59671114"/>
                  </a:ext>
                </a:extLst>
              </a:tr>
              <a:tr h="316931">
                <a:tc>
                  <a:txBody>
                    <a:bodyPr/>
                    <a:lstStyle/>
                    <a:p>
                      <a:pPr algn="l" fontAlgn="b"/>
                      <a:r>
                        <a:rPr lang="es-CO" sz="1400" u="none" strike="noStrike" dirty="0">
                          <a:effectLst/>
                        </a:rPr>
                        <a:t>Gestión de Evaluación Independiente</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80050078"/>
                  </a:ext>
                </a:extLst>
              </a:tr>
              <a:tr h="316931">
                <a:tc>
                  <a:txBody>
                    <a:bodyPr/>
                    <a:lstStyle/>
                    <a:p>
                      <a:pPr algn="l" fontAlgn="b"/>
                      <a:r>
                        <a:rPr lang="es-CO" sz="1400" u="none" strike="noStrike" dirty="0">
                          <a:effectLst/>
                        </a:rPr>
                        <a:t>Gestión Administrativa y Financiera</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0698901"/>
                  </a:ext>
                </a:extLst>
              </a:tr>
              <a:tr h="316931">
                <a:tc>
                  <a:txBody>
                    <a:bodyPr/>
                    <a:lstStyle/>
                    <a:p>
                      <a:pPr algn="l" fontAlgn="b"/>
                      <a:r>
                        <a:rPr lang="es-CO" sz="1400" u="none" strike="noStrike" dirty="0">
                          <a:effectLst/>
                        </a:rPr>
                        <a:t>Gestión de Calidad</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u="none" strike="noStrike" dirty="0">
                          <a:effectLst/>
                        </a:rPr>
                        <a:t>2</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6710116"/>
                  </a:ext>
                </a:extLst>
              </a:tr>
              <a:tr h="316931">
                <a:tc>
                  <a:txBody>
                    <a:bodyPr/>
                    <a:lstStyle/>
                    <a:p>
                      <a:pPr algn="l" fontAlgn="b"/>
                      <a:r>
                        <a:rPr lang="es-CO" sz="1400" u="none" strike="noStrike">
                          <a:effectLst/>
                        </a:rPr>
                        <a:t>Gestión de Comunicaciones</a:t>
                      </a:r>
                      <a:endParaRPr lang="es-CO" sz="1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2463095"/>
                  </a:ext>
                </a:extLst>
              </a:tr>
              <a:tr h="316931">
                <a:tc>
                  <a:txBody>
                    <a:bodyPr/>
                    <a:lstStyle/>
                    <a:p>
                      <a:pPr algn="l" fontAlgn="b"/>
                      <a:r>
                        <a:rPr lang="es-CO" sz="1400" u="none" strike="noStrike" dirty="0">
                          <a:effectLst/>
                        </a:rPr>
                        <a:t>Gestión de Documental</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8791314"/>
                  </a:ext>
                </a:extLst>
              </a:tr>
              <a:tr h="316931">
                <a:tc>
                  <a:txBody>
                    <a:bodyPr/>
                    <a:lstStyle/>
                    <a:p>
                      <a:pPr algn="l" fontAlgn="b"/>
                      <a:r>
                        <a:rPr lang="es-MX" sz="1400" u="none" strike="noStrike">
                          <a:effectLst/>
                        </a:rPr>
                        <a:t>Gestión de Recursos Fisicos y Tecnológicos</a:t>
                      </a:r>
                      <a:endParaRPr lang="es-MX" sz="1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8387933"/>
                  </a:ext>
                </a:extLst>
              </a:tr>
              <a:tr h="316931">
                <a:tc>
                  <a:txBody>
                    <a:bodyPr/>
                    <a:lstStyle/>
                    <a:p>
                      <a:pPr algn="l" fontAlgn="b"/>
                      <a:r>
                        <a:rPr lang="es-CO" sz="1400" u="none" strike="noStrike">
                          <a:effectLst/>
                        </a:rPr>
                        <a:t>Gestión del Talento Humano</a:t>
                      </a:r>
                      <a:endParaRPr lang="es-CO" sz="1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7953937"/>
                  </a:ext>
                </a:extLst>
              </a:tr>
              <a:tr h="316931">
                <a:tc>
                  <a:txBody>
                    <a:bodyPr/>
                    <a:lstStyle/>
                    <a:p>
                      <a:pPr algn="l" fontAlgn="b"/>
                      <a:r>
                        <a:rPr lang="es-CO" sz="1400" u="none" strike="noStrike" dirty="0">
                          <a:effectLst/>
                        </a:rPr>
                        <a:t>Gestión Jurídica</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3658190"/>
                  </a:ext>
                </a:extLst>
              </a:tr>
              <a:tr h="316931">
                <a:tc>
                  <a:txBody>
                    <a:bodyPr/>
                    <a:lstStyle/>
                    <a:p>
                      <a:pPr algn="l" fontAlgn="b"/>
                      <a:r>
                        <a:rPr lang="es-CO" sz="1400" u="none" strike="noStrike" dirty="0">
                          <a:effectLst/>
                        </a:rPr>
                        <a:t>Gestión Contractual</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4082339"/>
                  </a:ext>
                </a:extLst>
              </a:tr>
              <a:tr h="316931">
                <a:tc>
                  <a:txBody>
                    <a:bodyPr/>
                    <a:lstStyle/>
                    <a:p>
                      <a:pPr algn="l" fontAlgn="b"/>
                      <a:r>
                        <a:rPr lang="es-CO" sz="1400" u="none" strike="noStrike">
                          <a:effectLst/>
                        </a:rPr>
                        <a:t>Proyectos de Acuerdo</a:t>
                      </a:r>
                      <a:endParaRPr lang="es-CO" sz="1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u="none" strike="noStrike" dirty="0">
                          <a:effectLst/>
                        </a:rPr>
                        <a:t>2</a:t>
                      </a:r>
                      <a:endParaRPr lang="es-CO"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s-CO" sz="1400" b="0" i="0" u="none" strike="noStrike" dirty="0">
                          <a:solidFill>
                            <a:srgbClr val="000000"/>
                          </a:solidFill>
                          <a:effectLst/>
                          <a:latin typeface="Calibri" panose="020F050202020403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9952902"/>
                  </a:ext>
                </a:extLst>
              </a:tr>
              <a:tr h="316931">
                <a:tc>
                  <a:txBody>
                    <a:bodyPr/>
                    <a:lstStyle/>
                    <a:p>
                      <a:pPr algn="l" fontAlgn="b"/>
                      <a:r>
                        <a:rPr lang="es-CO" sz="1400" u="none" strike="noStrike" dirty="0">
                          <a:effectLst/>
                        </a:rPr>
                        <a:t>Total general</a:t>
                      </a:r>
                      <a:endParaRPr lang="es-CO" sz="14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s-CO" sz="1400" b="1" i="0" u="none" strike="noStrike" dirty="0">
                          <a:solidFill>
                            <a:srgbClr val="000000"/>
                          </a:solidFill>
                          <a:effectLst/>
                          <a:latin typeface="Calibri" panose="020F0502020204030204" pitchFamily="34" charset="0"/>
                        </a:rPr>
                        <a:t>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s-CO" sz="1400" b="1" i="0" u="none" strike="noStrike" dirty="0">
                          <a:solidFill>
                            <a:srgbClr val="000000"/>
                          </a:solidFill>
                          <a:effectLst/>
                          <a:latin typeface="Calibri" panose="020F0502020204030204" pitchFamily="34"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81055282"/>
                  </a:ext>
                </a:extLst>
              </a:tr>
            </a:tbl>
          </a:graphicData>
        </a:graphic>
      </p:graphicFrame>
      <p:pic>
        <p:nvPicPr>
          <p:cNvPr id="3" name="Imagen 2">
            <a:extLst>
              <a:ext uri="{FF2B5EF4-FFF2-40B4-BE49-F238E27FC236}">
                <a16:creationId xmlns:a16="http://schemas.microsoft.com/office/drawing/2014/main" id="{DA4A6FA9-1B74-8D1A-7744-76712FFEBA8E}"/>
              </a:ext>
            </a:extLst>
          </p:cNvPr>
          <p:cNvPicPr>
            <a:picLocks noChangeAspect="1"/>
          </p:cNvPicPr>
          <p:nvPr/>
        </p:nvPicPr>
        <p:blipFill rotWithShape="1">
          <a:blip r:embed="rId3"/>
          <a:srcRect t="25650"/>
          <a:stretch/>
        </p:blipFill>
        <p:spPr>
          <a:xfrm>
            <a:off x="6805533" y="1648917"/>
            <a:ext cx="4951856" cy="1897861"/>
          </a:xfrm>
          <a:prstGeom prst="rect">
            <a:avLst/>
          </a:prstGeom>
        </p:spPr>
      </p:pic>
      <p:sp>
        <p:nvSpPr>
          <p:cNvPr id="4" name="CuadroTexto 3">
            <a:extLst>
              <a:ext uri="{FF2B5EF4-FFF2-40B4-BE49-F238E27FC236}">
                <a16:creationId xmlns:a16="http://schemas.microsoft.com/office/drawing/2014/main" id="{FDDD6718-8F6B-4F03-F48F-77BA7580EDC9}"/>
              </a:ext>
            </a:extLst>
          </p:cNvPr>
          <p:cNvSpPr txBox="1"/>
          <p:nvPr/>
        </p:nvSpPr>
        <p:spPr>
          <a:xfrm>
            <a:off x="7005405" y="1136653"/>
            <a:ext cx="4237218" cy="523220"/>
          </a:xfrm>
          <a:prstGeom prst="rect">
            <a:avLst/>
          </a:prstGeom>
          <a:noFill/>
        </p:spPr>
        <p:txBody>
          <a:bodyPr wrap="square" rtlCol="0">
            <a:spAutoFit/>
          </a:bodyPr>
          <a:lstStyle/>
          <a:p>
            <a:pPr algn="ctr"/>
            <a:r>
              <a:rPr lang="es-CO" sz="1400" b="1" dirty="0"/>
              <a:t>VALORACIÓN RIESGO  INHERENTE  ANTES DE CONTROLES</a:t>
            </a:r>
          </a:p>
        </p:txBody>
      </p:sp>
      <p:graphicFrame>
        <p:nvGraphicFramePr>
          <p:cNvPr id="5" name="Gráfico 4">
            <a:extLst>
              <a:ext uri="{FF2B5EF4-FFF2-40B4-BE49-F238E27FC236}">
                <a16:creationId xmlns:a16="http://schemas.microsoft.com/office/drawing/2014/main" id="{1D0799EF-3AEE-0019-ED76-E0D7A145094B}"/>
              </a:ext>
            </a:extLst>
          </p:cNvPr>
          <p:cNvGraphicFramePr>
            <a:graphicFrameLocks/>
          </p:cNvGraphicFramePr>
          <p:nvPr>
            <p:extLst>
              <p:ext uri="{D42A27DB-BD31-4B8C-83A1-F6EECF244321}">
                <p14:modId xmlns:p14="http://schemas.microsoft.com/office/powerpoint/2010/main" val="1058687993"/>
              </p:ext>
            </p:extLst>
          </p:nvPr>
        </p:nvGraphicFramePr>
        <p:xfrm>
          <a:off x="6756348" y="3546778"/>
          <a:ext cx="4951856"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6" name="CuadroTexto 5">
            <a:extLst>
              <a:ext uri="{FF2B5EF4-FFF2-40B4-BE49-F238E27FC236}">
                <a16:creationId xmlns:a16="http://schemas.microsoft.com/office/drawing/2014/main" id="{5C730883-DD34-A835-006E-238281C43EFF}"/>
              </a:ext>
            </a:extLst>
          </p:cNvPr>
          <p:cNvSpPr txBox="1"/>
          <p:nvPr/>
        </p:nvSpPr>
        <p:spPr>
          <a:xfrm>
            <a:off x="1079292" y="1213597"/>
            <a:ext cx="3852472" cy="369332"/>
          </a:xfrm>
          <a:prstGeom prst="rect">
            <a:avLst/>
          </a:prstGeom>
          <a:noFill/>
        </p:spPr>
        <p:txBody>
          <a:bodyPr wrap="square" rtlCol="0">
            <a:spAutoFit/>
          </a:bodyPr>
          <a:lstStyle/>
          <a:p>
            <a:r>
              <a:rPr lang="es-CO" b="1" i="1" dirty="0"/>
              <a:t>NUMERO DE RIESGOS POR PROCESOS</a:t>
            </a:r>
          </a:p>
        </p:txBody>
      </p:sp>
    </p:spTree>
    <p:extLst>
      <p:ext uri="{BB962C8B-B14F-4D97-AF65-F5344CB8AC3E}">
        <p14:creationId xmlns:p14="http://schemas.microsoft.com/office/powerpoint/2010/main" val="28413883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2CB9B67-6183-C792-E6F9-B9FA0B4D69BB}"/>
              </a:ext>
            </a:extLst>
          </p:cNvPr>
          <p:cNvSpPr txBox="1"/>
          <p:nvPr/>
        </p:nvSpPr>
        <p:spPr>
          <a:xfrm>
            <a:off x="3187700" y="1117600"/>
            <a:ext cx="6540500" cy="523220"/>
          </a:xfrm>
          <a:prstGeom prst="rect">
            <a:avLst/>
          </a:prstGeom>
          <a:noFill/>
        </p:spPr>
        <p:txBody>
          <a:bodyPr wrap="square" rtlCol="0">
            <a:spAutoFit/>
          </a:bodyPr>
          <a:lstStyle/>
          <a:p>
            <a:pPr algn="ctr"/>
            <a:r>
              <a:rPr lang="es-CO" sz="2800" b="1" dirty="0"/>
              <a:t>MATERIALIZACIÓN DEL RIESGO</a:t>
            </a:r>
          </a:p>
        </p:txBody>
      </p:sp>
      <p:graphicFrame>
        <p:nvGraphicFramePr>
          <p:cNvPr id="2" name="Tabla 3">
            <a:extLst>
              <a:ext uri="{FF2B5EF4-FFF2-40B4-BE49-F238E27FC236}">
                <a16:creationId xmlns:a16="http://schemas.microsoft.com/office/drawing/2014/main" id="{0D461D38-D513-875E-5A14-95EFDC5A0920}"/>
              </a:ext>
            </a:extLst>
          </p:cNvPr>
          <p:cNvGraphicFramePr>
            <a:graphicFrameLocks noGrp="1"/>
          </p:cNvGraphicFramePr>
          <p:nvPr>
            <p:extLst>
              <p:ext uri="{D42A27DB-BD31-4B8C-83A1-F6EECF244321}">
                <p14:modId xmlns:p14="http://schemas.microsoft.com/office/powerpoint/2010/main" val="3406341470"/>
              </p:ext>
            </p:extLst>
          </p:nvPr>
        </p:nvGraphicFramePr>
        <p:xfrm>
          <a:off x="1074057" y="1764695"/>
          <a:ext cx="10377714" cy="2931160"/>
        </p:xfrm>
        <a:graphic>
          <a:graphicData uri="http://schemas.openxmlformats.org/drawingml/2006/table">
            <a:tbl>
              <a:tblPr firstRow="1" bandRow="1">
                <a:tableStyleId>{5C22544A-7EE6-4342-B048-85BDC9FD1C3A}</a:tableStyleId>
              </a:tblPr>
              <a:tblGrid>
                <a:gridCol w="3459238">
                  <a:extLst>
                    <a:ext uri="{9D8B030D-6E8A-4147-A177-3AD203B41FA5}">
                      <a16:colId xmlns:a16="http://schemas.microsoft.com/office/drawing/2014/main" val="2198895310"/>
                    </a:ext>
                  </a:extLst>
                </a:gridCol>
                <a:gridCol w="3459238">
                  <a:extLst>
                    <a:ext uri="{9D8B030D-6E8A-4147-A177-3AD203B41FA5}">
                      <a16:colId xmlns:a16="http://schemas.microsoft.com/office/drawing/2014/main" val="3830281286"/>
                    </a:ext>
                  </a:extLst>
                </a:gridCol>
                <a:gridCol w="3459238">
                  <a:extLst>
                    <a:ext uri="{9D8B030D-6E8A-4147-A177-3AD203B41FA5}">
                      <a16:colId xmlns:a16="http://schemas.microsoft.com/office/drawing/2014/main" val="4020292170"/>
                    </a:ext>
                  </a:extLst>
                </a:gridCol>
              </a:tblGrid>
              <a:tr h="370840">
                <a:tc>
                  <a:txBody>
                    <a:bodyPr/>
                    <a:lstStyle/>
                    <a:p>
                      <a:r>
                        <a:rPr lang="es-CO" dirty="0"/>
                        <a:t>PROCESO</a:t>
                      </a:r>
                    </a:p>
                  </a:txBody>
                  <a:tcPr>
                    <a:lnB w="12700" cap="flat" cmpd="sng" algn="ctr">
                      <a:solidFill>
                        <a:schemeClr val="tx1"/>
                      </a:solidFill>
                      <a:prstDash val="solid"/>
                      <a:round/>
                      <a:headEnd type="none" w="med" len="med"/>
                      <a:tailEnd type="none" w="med" len="med"/>
                    </a:lnB>
                  </a:tcPr>
                </a:tc>
                <a:tc>
                  <a:txBody>
                    <a:bodyPr/>
                    <a:lstStyle/>
                    <a:p>
                      <a:r>
                        <a:rPr lang="es-CO" dirty="0"/>
                        <a:t>DESCRIPCIÓN DEL RIESGO</a:t>
                      </a:r>
                    </a:p>
                  </a:txBody>
                  <a:tcPr>
                    <a:lnB w="12700" cap="flat" cmpd="sng" algn="ctr">
                      <a:solidFill>
                        <a:schemeClr val="tx1"/>
                      </a:solidFill>
                      <a:prstDash val="solid"/>
                      <a:round/>
                      <a:headEnd type="none" w="med" len="med"/>
                      <a:tailEnd type="none" w="med" len="med"/>
                    </a:lnB>
                  </a:tcPr>
                </a:tc>
                <a:tc>
                  <a:txBody>
                    <a:bodyPr/>
                    <a:lstStyle/>
                    <a:p>
                      <a:r>
                        <a:rPr lang="es-CO" dirty="0"/>
                        <a:t>MATERIALIZACION DEL RIESGO</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9666066"/>
                  </a:ext>
                </a:extLst>
              </a:tr>
              <a:tr h="370840">
                <a:tc>
                  <a:txBody>
                    <a:bodyPr/>
                    <a:lstStyle/>
                    <a:p>
                      <a:r>
                        <a:rPr lang="es-CO" dirty="0"/>
                        <a:t>COMUNICACIONES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dirty="0"/>
                        <a:t>Posibilidad de afectación de imagen institucional por desinformación debido a  no seguir y realizar seguimiento a los lineamientos de comunicación establecidos en el PEC</a:t>
                      </a:r>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MX" dirty="0"/>
                        <a:t>Se materializo el riesgo dado que en el Informe de Rendición de Cuentas se presentaron estados financieros, que incurrieron en una nota negativa para la Corporación. Los controles establecidos, fueron efectivos, dado que el error se presentó por un error involuntario en las cifras financieras. </a:t>
                      </a:r>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431834"/>
                  </a:ext>
                </a:extLst>
              </a:tr>
            </a:tbl>
          </a:graphicData>
        </a:graphic>
      </p:graphicFrame>
      <p:sp>
        <p:nvSpPr>
          <p:cNvPr id="4" name="CuadroTexto 3">
            <a:extLst>
              <a:ext uri="{FF2B5EF4-FFF2-40B4-BE49-F238E27FC236}">
                <a16:creationId xmlns:a16="http://schemas.microsoft.com/office/drawing/2014/main" id="{E40E034C-54C8-1A47-77BB-900D7341804D}"/>
              </a:ext>
            </a:extLst>
          </p:cNvPr>
          <p:cNvSpPr txBox="1"/>
          <p:nvPr/>
        </p:nvSpPr>
        <p:spPr>
          <a:xfrm>
            <a:off x="1930399" y="5021943"/>
            <a:ext cx="8665029" cy="369332"/>
          </a:xfrm>
          <a:prstGeom prst="rect">
            <a:avLst/>
          </a:prstGeom>
          <a:noFill/>
        </p:spPr>
        <p:txBody>
          <a:bodyPr wrap="square" rtlCol="0">
            <a:spAutoFit/>
          </a:bodyPr>
          <a:lstStyle/>
          <a:p>
            <a:r>
              <a:rPr lang="es-CO" b="1" i="1" dirty="0"/>
              <a:t>Se genero una acción correctiva desde el proceso de Gestión Administrativa y Financiera</a:t>
            </a:r>
          </a:p>
        </p:txBody>
      </p:sp>
    </p:spTree>
    <p:extLst>
      <p:ext uri="{BB962C8B-B14F-4D97-AF65-F5344CB8AC3E}">
        <p14:creationId xmlns:p14="http://schemas.microsoft.com/office/powerpoint/2010/main" val="23486318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2CB9B67-6183-C792-E6F9-B9FA0B4D69BB}"/>
              </a:ext>
            </a:extLst>
          </p:cNvPr>
          <p:cNvSpPr txBox="1"/>
          <p:nvPr/>
        </p:nvSpPr>
        <p:spPr>
          <a:xfrm>
            <a:off x="6635438" y="218190"/>
            <a:ext cx="6540500" cy="400110"/>
          </a:xfrm>
          <a:prstGeom prst="rect">
            <a:avLst/>
          </a:prstGeom>
          <a:noFill/>
        </p:spPr>
        <p:txBody>
          <a:bodyPr wrap="square" rtlCol="0">
            <a:spAutoFit/>
          </a:bodyPr>
          <a:lstStyle/>
          <a:p>
            <a:pPr algn="ctr"/>
            <a:r>
              <a:rPr lang="es-CO" sz="2000" b="1" dirty="0">
                <a:solidFill>
                  <a:schemeClr val="bg1"/>
                </a:solidFill>
              </a:rPr>
              <a:t>OPORTUNIDADES</a:t>
            </a:r>
          </a:p>
        </p:txBody>
      </p:sp>
      <p:graphicFrame>
        <p:nvGraphicFramePr>
          <p:cNvPr id="2" name="Tabla 1">
            <a:extLst>
              <a:ext uri="{FF2B5EF4-FFF2-40B4-BE49-F238E27FC236}">
                <a16:creationId xmlns:a16="http://schemas.microsoft.com/office/drawing/2014/main" id="{5DA86F55-7DAE-F2C9-DA0D-B0E0E3E4CBFB}"/>
              </a:ext>
            </a:extLst>
          </p:cNvPr>
          <p:cNvGraphicFramePr>
            <a:graphicFrameLocks noGrp="1"/>
          </p:cNvGraphicFramePr>
          <p:nvPr>
            <p:extLst>
              <p:ext uri="{D42A27DB-BD31-4B8C-83A1-F6EECF244321}">
                <p14:modId xmlns:p14="http://schemas.microsoft.com/office/powerpoint/2010/main" val="2142104971"/>
              </p:ext>
            </p:extLst>
          </p:nvPr>
        </p:nvGraphicFramePr>
        <p:xfrm>
          <a:off x="261755" y="947682"/>
          <a:ext cx="9616763" cy="5502896"/>
        </p:xfrm>
        <a:graphic>
          <a:graphicData uri="http://schemas.openxmlformats.org/drawingml/2006/table">
            <a:tbl>
              <a:tblPr>
                <a:tableStyleId>{5C22544A-7EE6-4342-B048-85BDC9FD1C3A}</a:tableStyleId>
              </a:tblPr>
              <a:tblGrid>
                <a:gridCol w="1820149">
                  <a:extLst>
                    <a:ext uri="{9D8B030D-6E8A-4147-A177-3AD203B41FA5}">
                      <a16:colId xmlns:a16="http://schemas.microsoft.com/office/drawing/2014/main" val="2363558027"/>
                    </a:ext>
                  </a:extLst>
                </a:gridCol>
                <a:gridCol w="619223">
                  <a:extLst>
                    <a:ext uri="{9D8B030D-6E8A-4147-A177-3AD203B41FA5}">
                      <a16:colId xmlns:a16="http://schemas.microsoft.com/office/drawing/2014/main" val="4244937747"/>
                    </a:ext>
                  </a:extLst>
                </a:gridCol>
                <a:gridCol w="5390081">
                  <a:extLst>
                    <a:ext uri="{9D8B030D-6E8A-4147-A177-3AD203B41FA5}">
                      <a16:colId xmlns:a16="http://schemas.microsoft.com/office/drawing/2014/main" val="2932279014"/>
                    </a:ext>
                  </a:extLst>
                </a:gridCol>
                <a:gridCol w="1787310">
                  <a:extLst>
                    <a:ext uri="{9D8B030D-6E8A-4147-A177-3AD203B41FA5}">
                      <a16:colId xmlns:a16="http://schemas.microsoft.com/office/drawing/2014/main" val="3174494365"/>
                    </a:ext>
                  </a:extLst>
                </a:gridCol>
              </a:tblGrid>
              <a:tr h="80898">
                <a:tc>
                  <a:txBody>
                    <a:bodyPr/>
                    <a:lstStyle/>
                    <a:p>
                      <a:pPr algn="ctr" fontAlgn="ctr"/>
                      <a:r>
                        <a:rPr lang="es-CO" sz="1100" b="1" u="none" strike="noStrike" dirty="0">
                          <a:solidFill>
                            <a:schemeClr val="bg1"/>
                          </a:solidFill>
                          <a:effectLst/>
                        </a:rPr>
                        <a:t>OPORTUNIDADES</a:t>
                      </a:r>
                      <a:endParaRPr lang="es-CO" sz="1100" b="1" i="0" u="none" strike="noStrike" dirty="0">
                        <a:solidFill>
                          <a:schemeClr val="bg1"/>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fontAlgn="ctr"/>
                      <a:r>
                        <a:rPr lang="es-CO" sz="1100" b="1" u="none" strike="noStrike" dirty="0" err="1">
                          <a:solidFill>
                            <a:schemeClr val="bg1"/>
                          </a:solidFill>
                          <a:effectLst/>
                        </a:rPr>
                        <a:t>N°</a:t>
                      </a:r>
                      <a:endParaRPr lang="es-CO" sz="1100" b="1" i="0" u="none" strike="noStrike" dirty="0">
                        <a:solidFill>
                          <a:schemeClr val="bg1"/>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fontAlgn="ctr"/>
                      <a:r>
                        <a:rPr lang="es-CO" sz="1100" b="1" u="none" strike="noStrike" dirty="0">
                          <a:solidFill>
                            <a:schemeClr val="bg1"/>
                          </a:solidFill>
                          <a:effectLst/>
                        </a:rPr>
                        <a:t>DESCRIPCIÓN</a:t>
                      </a:r>
                      <a:endParaRPr lang="es-CO" sz="1100" b="1" i="0" u="none" strike="noStrike" dirty="0">
                        <a:solidFill>
                          <a:schemeClr val="bg1"/>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fontAlgn="ctr"/>
                      <a:r>
                        <a:rPr lang="es-CO" sz="1100" b="1" u="none" strike="noStrike" dirty="0">
                          <a:solidFill>
                            <a:schemeClr val="bg1"/>
                          </a:solidFill>
                          <a:effectLst/>
                        </a:rPr>
                        <a:t>ESTADO</a:t>
                      </a:r>
                      <a:endParaRPr lang="es-CO" sz="1100" b="1" i="0" u="none" strike="noStrike" dirty="0">
                        <a:solidFill>
                          <a:schemeClr val="bg1"/>
                        </a:solidFill>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93471869"/>
                  </a:ext>
                </a:extLst>
              </a:tr>
              <a:tr h="970772">
                <a:tc>
                  <a:txBody>
                    <a:bodyPr/>
                    <a:lstStyle/>
                    <a:p>
                      <a:pPr algn="ctr" fontAlgn="ctr"/>
                      <a:r>
                        <a:rPr lang="es-CO" sz="1100" u="none" strike="noStrike" dirty="0">
                          <a:effectLst/>
                        </a:rPr>
                        <a:t>Gestión Contractual</a:t>
                      </a:r>
                      <a:endParaRPr lang="es-CO" sz="1100" b="0" i="0" u="none" strike="noStrike" dirty="0">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2</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Fortalecer los conocimientos frente a la gestión contratual. En el cual se minimicen errores en la presentacIónde los informes de actividades, socialización de actualizaciones normativas y delSECOP I</a:t>
                      </a:r>
                      <a:br>
                        <a:rPr lang="es-MX" sz="1100" u="none" strike="noStrike">
                          <a:effectLst/>
                        </a:rPr>
                      </a:br>
                      <a:br>
                        <a:rPr lang="es-MX" sz="1100" u="none" strike="noStrike">
                          <a:effectLst/>
                        </a:rPr>
                      </a:br>
                      <a:r>
                        <a:rPr lang="es-MX" sz="1100" u="none" strike="noStrike">
                          <a:effectLst/>
                        </a:rPr>
                        <a:t>Fortalecimiento de los controles del proceso para asegurar que los expedientes contractuales evidencien el cumpimiento de los requisitos para que cada tipo de contratacion.I </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dirty="0">
                          <a:effectLst/>
                        </a:rPr>
                        <a:t>Cumplida</a:t>
                      </a:r>
                      <a:endParaRPr lang="es-CO" sz="1100" b="0" i="0" u="none" strike="noStrike" dirty="0">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549598"/>
                  </a:ext>
                </a:extLst>
              </a:tr>
              <a:tr h="323591">
                <a:tc>
                  <a:txBody>
                    <a:bodyPr/>
                    <a:lstStyle/>
                    <a:p>
                      <a:pPr algn="ctr" fontAlgn="ctr"/>
                      <a:r>
                        <a:rPr lang="es-CO" sz="1100" u="none" strike="noStrike">
                          <a:effectLst/>
                        </a:rPr>
                        <a:t>Gestión Jurdica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No es facil diferenciar los tema judiciales, disciplinarios y peticiones generales dentro de los control general llevado por ladirecicónjuridica</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Cumplida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1348682"/>
                  </a:ext>
                </a:extLst>
              </a:tr>
              <a:tr h="485386">
                <a:tc>
                  <a:txBody>
                    <a:bodyPr/>
                    <a:lstStyle/>
                    <a:p>
                      <a:pPr algn="ctr" fontAlgn="ctr"/>
                      <a:r>
                        <a:rPr lang="es-CO" sz="1100" u="none" strike="noStrike">
                          <a:effectLst/>
                        </a:rPr>
                        <a:t>Gestión Administrativa y Financiera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dirty="0">
                          <a:effectLst/>
                        </a:rPr>
                        <a:t>En el informe de rendición de cuentas se presentó una observación por parte de la comunidad con relación a una diferencia en un error entre el informe de gestión del primer semestre con el informe de rendición de cuentas.( fue noticia)</a:t>
                      </a:r>
                      <a:endParaRPr lang="es-MX" sz="1100" b="0" i="0" u="none" strike="noStrike" dirty="0">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En proceso</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3114381"/>
                  </a:ext>
                </a:extLst>
              </a:tr>
              <a:tr h="323591">
                <a:tc>
                  <a:txBody>
                    <a:bodyPr/>
                    <a:lstStyle/>
                    <a:p>
                      <a:pPr algn="ctr" fontAlgn="ctr"/>
                      <a:r>
                        <a:rPr lang="es-CO" sz="1100" u="none" strike="noStrike">
                          <a:effectLst/>
                        </a:rPr>
                        <a:t>Gestión Calidad</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El programa de auditorías del Concejo, aunque se valida con presidencia, este no contaba con la evidencia de su aprobación.</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Cumplida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5453383"/>
                  </a:ext>
                </a:extLst>
              </a:tr>
              <a:tr h="404488">
                <a:tc>
                  <a:txBody>
                    <a:bodyPr/>
                    <a:lstStyle/>
                    <a:p>
                      <a:pPr algn="ctr" fontAlgn="ctr"/>
                      <a:r>
                        <a:rPr lang="es-MX" sz="1100" u="none" strike="noStrike">
                          <a:effectLst/>
                        </a:rPr>
                        <a:t>Tramites de Proyectos de Acuerdo</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Utilización del lenguaje claro en la trasncripción de las actas de las plenarias con el fin de de facilitar la lectura e interprectación por parte de la ciudadanía en general</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Cumplida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44981120"/>
                  </a:ext>
                </a:extLst>
              </a:tr>
              <a:tr h="404488">
                <a:tc>
                  <a:txBody>
                    <a:bodyPr/>
                    <a:lstStyle/>
                    <a:p>
                      <a:pPr algn="ctr" fontAlgn="ctr"/>
                      <a:r>
                        <a:rPr lang="es-CO" sz="1100" u="none" strike="noStrike">
                          <a:effectLst/>
                        </a:rPr>
                        <a:t>Gestión  Contractual</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Fortalecimiento de los controles del proceso para asegurar que los expedientes contractuales evidencien el cumpimiento de los requisitos para que cada tipo de contratacion.</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Cumplida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7522725"/>
                  </a:ext>
                </a:extLst>
              </a:tr>
              <a:tr h="647181">
                <a:tc>
                  <a:txBody>
                    <a:bodyPr/>
                    <a:lstStyle/>
                    <a:p>
                      <a:pPr algn="ctr" fontAlgn="ctr"/>
                      <a:r>
                        <a:rPr lang="es-CO" sz="1100" u="none" strike="noStrike">
                          <a:effectLst/>
                        </a:rPr>
                        <a:t>Gestión Documental</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Realizar el proceso de escanéo de los Acuerdos municipales conservados en el Archivo Central de la Corporación aprobados desde el año 2000 hasta el año 2021, conservandolos en medio físico, magnético y en la página WEB del Concejo Municipal de Chía,</a:t>
                      </a:r>
                      <a:br>
                        <a:rPr lang="es-MX" sz="1100" u="none" strike="noStrike">
                          <a:effectLst/>
                        </a:rPr>
                      </a:br>
                      <a:r>
                        <a:rPr lang="es-MX" sz="1100" u="none" strike="noStrike">
                          <a:effectLst/>
                        </a:rPr>
                        <a:t>https://www.concejomunicipalchia.gov.co.</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Cumplida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3153707"/>
                  </a:ext>
                </a:extLst>
              </a:tr>
              <a:tr h="323591">
                <a:tc>
                  <a:txBody>
                    <a:bodyPr/>
                    <a:lstStyle/>
                    <a:p>
                      <a:pPr algn="ctr" fontAlgn="ctr"/>
                      <a:r>
                        <a:rPr lang="es-CO" sz="1100" u="none" strike="noStrike">
                          <a:effectLst/>
                        </a:rPr>
                        <a:t>Direccionamiento Estratégico</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Fortalecer el control de los avances y seguimiento del Plan de Acción con el fin de verificar la ejecución real de los avances en las metas e indicadores.</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Cumplida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9091825"/>
                  </a:ext>
                </a:extLst>
              </a:tr>
              <a:tr h="485386">
                <a:tc>
                  <a:txBody>
                    <a:bodyPr/>
                    <a:lstStyle/>
                    <a:p>
                      <a:pPr algn="ctr" fontAlgn="ctr"/>
                      <a:r>
                        <a:rPr lang="es-MX" sz="1100" u="none" strike="noStrike">
                          <a:effectLst/>
                        </a:rPr>
                        <a:t>Trámite a Proyectos de Acuerdo</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Precisar dentro del reglamento interno del Concejo Municipal Acuerdo 140 de 2018, los posibles aclaraciones frente a articulos que podrian generar confusión en su aplicación, de acuerdo a la gestión delconocimiento y aplicación del mismo.</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En proceso</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79675"/>
                  </a:ext>
                </a:extLst>
              </a:tr>
              <a:tr h="485386">
                <a:tc>
                  <a:txBody>
                    <a:bodyPr/>
                    <a:lstStyle/>
                    <a:p>
                      <a:pPr algn="ctr" fontAlgn="ctr"/>
                      <a:r>
                        <a:rPr lang="es-MX" sz="1100" u="none" strike="noStrike">
                          <a:effectLst/>
                        </a:rPr>
                        <a:t>Gestión de Tecnologías de la Información</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MX" sz="1100" u="none" strike="noStrike">
                          <a:effectLst/>
                        </a:rPr>
                        <a:t>Las solicitudes realizadas a la mesa de ayuda no se realizan en todos los casos atraves del NG.DESK, lo cual implica que no se pueda llevar un control total de todos los casos o solicitudes que  se realizan para la toma desciones</a:t>
                      </a:r>
                      <a:endParaRPr lang="es-MX"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Cumplida</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6108831"/>
                  </a:ext>
                </a:extLst>
              </a:tr>
              <a:tr h="242693">
                <a:tc>
                  <a:txBody>
                    <a:bodyPr/>
                    <a:lstStyle/>
                    <a:p>
                      <a:pPr algn="ctr" fontAlgn="ctr"/>
                      <a:r>
                        <a:rPr lang="es-CO" sz="1100" u="none" strike="noStrike">
                          <a:effectLst/>
                        </a:rPr>
                        <a:t>Gestión de Evaluación Independiente</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1</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a:effectLst/>
                        </a:rPr>
                        <a:t>Fortalecimiento de losinstrumentos de lasauditorias independiente del sistema de control interno</a:t>
                      </a:r>
                      <a:endParaRPr lang="es-CO" sz="1100" b="0" i="0" u="none" strike="noStrike">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s-CO" sz="1100" u="none" strike="noStrike" dirty="0">
                          <a:effectLst/>
                        </a:rPr>
                        <a:t>Cumplida</a:t>
                      </a:r>
                      <a:endParaRPr lang="es-CO" sz="1100" b="0" i="0" u="none" strike="noStrike" dirty="0">
                        <a:effectLst/>
                        <a:latin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37132395"/>
                  </a:ext>
                </a:extLst>
              </a:tr>
            </a:tbl>
          </a:graphicData>
        </a:graphic>
      </p:graphicFrame>
      <p:sp>
        <p:nvSpPr>
          <p:cNvPr id="4" name="1 CuadroTexto">
            <a:extLst>
              <a:ext uri="{FF2B5EF4-FFF2-40B4-BE49-F238E27FC236}">
                <a16:creationId xmlns:a16="http://schemas.microsoft.com/office/drawing/2014/main" id="{1105EC6D-4C91-18FF-293A-7FF71BE82B51}"/>
              </a:ext>
            </a:extLst>
          </p:cNvPr>
          <p:cNvSpPr txBox="1"/>
          <p:nvPr/>
        </p:nvSpPr>
        <p:spPr>
          <a:xfrm>
            <a:off x="10388296" y="3006632"/>
            <a:ext cx="2424332" cy="1384995"/>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cs typeface="Times New Roman" panose="02020603050405020304" pitchFamily="18" charset="0"/>
              </a:rPr>
              <a:t>12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chemeClr val="accent5"/>
                </a:solidFill>
                <a:effectLst/>
                <a:uLnTx/>
                <a:uFillTx/>
                <a:latin typeface="Calibri" panose="020F0502020204030204"/>
                <a:ea typeface="+mn-ea"/>
                <a:cs typeface="Times New Roman" panose="02020603050405020304" pitchFamily="18" charset="0"/>
              </a:rPr>
              <a:t>OP</a:t>
            </a:r>
            <a:r>
              <a:rPr lang="es-CO" sz="1200" b="1" dirty="0">
                <a:solidFill>
                  <a:schemeClr val="accent5"/>
                </a:solidFill>
                <a:latin typeface="Calibri" panose="020F0502020204030204"/>
                <a:cs typeface="Times New Roman" panose="02020603050405020304" pitchFamily="18" charset="0"/>
              </a:rPr>
              <a:t>ORTUNIDADES</a:t>
            </a:r>
            <a:endParaRPr kumimoji="0" lang="es-CO" sz="1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Tree>
    <p:extLst>
      <p:ext uri="{BB962C8B-B14F-4D97-AF65-F5344CB8AC3E}">
        <p14:creationId xmlns:p14="http://schemas.microsoft.com/office/powerpoint/2010/main" val="2161909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D92EED6-F7E4-488A-84F0-0C26B1B10CC4}"/>
              </a:ext>
            </a:extLst>
          </p:cNvPr>
          <p:cNvSpPr txBox="1"/>
          <p:nvPr/>
        </p:nvSpPr>
        <p:spPr>
          <a:xfrm>
            <a:off x="326265" y="945113"/>
            <a:ext cx="576973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8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a:ea typeface="+mn-ea"/>
                <a:cs typeface="+mn-cs"/>
              </a:rPr>
              <a:t>RECOMENDACIONES PARA LA MEJORA</a:t>
            </a:r>
          </a:p>
        </p:txBody>
      </p:sp>
      <p:sp>
        <p:nvSpPr>
          <p:cNvPr id="3" name="CuadroTexto 2">
            <a:extLst>
              <a:ext uri="{FF2B5EF4-FFF2-40B4-BE49-F238E27FC236}">
                <a16:creationId xmlns:a16="http://schemas.microsoft.com/office/drawing/2014/main" id="{28122757-E07B-F39A-80B1-347BF69D6F79}"/>
              </a:ext>
            </a:extLst>
          </p:cNvPr>
          <p:cNvSpPr txBox="1"/>
          <p:nvPr/>
        </p:nvSpPr>
        <p:spPr>
          <a:xfrm>
            <a:off x="910796" y="1760721"/>
            <a:ext cx="10852878" cy="52322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sz="1400" dirty="0">
                <a:solidFill>
                  <a:srgbClr val="333333"/>
                </a:solidFill>
                <a:latin typeface="Arial" panose="020B0604020202020204" pitchFamily="34" charset="0"/>
                <a:cs typeface="Arial" panose="020B0604020202020204" pitchFamily="34" charset="0"/>
              </a:rPr>
              <a:t>Para la vigencia 2023, revisar los controles de los riesgos de los  procesos con el fin de fortalecerlos: Preventivo, Correctivo y </a:t>
            </a:r>
            <a:r>
              <a:rPr lang="es-MX" sz="1400" dirty="0" err="1">
                <a:solidFill>
                  <a:srgbClr val="333333"/>
                </a:solidFill>
                <a:latin typeface="Arial" panose="020B0604020202020204" pitchFamily="34" charset="0"/>
                <a:cs typeface="Arial" panose="020B0604020202020204" pitchFamily="34" charset="0"/>
              </a:rPr>
              <a:t>Detectivo</a:t>
            </a:r>
            <a:r>
              <a:rPr lang="es-MX" sz="1400" dirty="0">
                <a:solidFill>
                  <a:srgbClr val="333333"/>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4178014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FFACB4FA-1261-FB83-2732-8141ECB6A881}"/>
              </a:ext>
            </a:extLst>
          </p:cNvPr>
          <p:cNvSpPr txBox="1"/>
          <p:nvPr/>
        </p:nvSpPr>
        <p:spPr>
          <a:xfrm>
            <a:off x="756215" y="2030213"/>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11.|</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3149C663-21D0-EB37-90AF-7B4885FB90E7}"/>
              </a:ext>
            </a:extLst>
          </p:cNvPr>
          <p:cNvSpPr>
            <a:spLocks noChangeArrowheads="1"/>
          </p:cNvSpPr>
          <p:nvPr/>
        </p:nvSpPr>
        <p:spPr bwMode="auto">
          <a:xfrm>
            <a:off x="2433502" y="2076380"/>
            <a:ext cx="928394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ADECUACIÓN Y NECESIDAD DE RECURSOS</a:t>
            </a:r>
          </a:p>
        </p:txBody>
      </p:sp>
      <p:sp>
        <p:nvSpPr>
          <p:cNvPr id="4" name="CuadroTexto 3">
            <a:extLst>
              <a:ext uri="{FF2B5EF4-FFF2-40B4-BE49-F238E27FC236}">
                <a16:creationId xmlns:a16="http://schemas.microsoft.com/office/drawing/2014/main" id="{FA0AB4A9-5147-5B8F-3905-031FF34871F0}"/>
              </a:ext>
            </a:extLst>
          </p:cNvPr>
          <p:cNvSpPr txBox="1"/>
          <p:nvPr/>
        </p:nvSpPr>
        <p:spPr>
          <a:xfrm>
            <a:off x="3180547" y="4135291"/>
            <a:ext cx="6093500" cy="687881"/>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mn-cs"/>
              </a:rPr>
              <a:t>CAROLINA ROMERO CANACUÉ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800" b="0" i="0" u="none" strike="noStrike" kern="1200" cap="none" spc="0" normalizeH="0" baseline="0" noProof="0" dirty="0">
                <a:ln>
                  <a:noFill/>
                </a:ln>
                <a:solidFill>
                  <a:prstClr val="black"/>
                </a:solidFill>
                <a:effectLst/>
                <a:uLnTx/>
                <a:uFillTx/>
                <a:latin typeface="Calibri" panose="020F0502020204030204"/>
                <a:ea typeface="+mn-ea"/>
                <a:cs typeface="+mn-cs"/>
              </a:rPr>
              <a:t>Directora Administrativa y Financiera</a:t>
            </a:r>
          </a:p>
        </p:txBody>
      </p:sp>
    </p:spTree>
    <p:extLst>
      <p:ext uri="{BB962C8B-B14F-4D97-AF65-F5344CB8AC3E}">
        <p14:creationId xmlns:p14="http://schemas.microsoft.com/office/powerpoint/2010/main" val="4422746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C2A11900-74C2-6AB8-BA71-70CA026DD701}"/>
              </a:ext>
            </a:extLst>
          </p:cNvPr>
          <p:cNvGraphicFramePr>
            <a:graphicFrameLocks noGrp="1"/>
          </p:cNvGraphicFramePr>
          <p:nvPr>
            <p:extLst>
              <p:ext uri="{D42A27DB-BD31-4B8C-83A1-F6EECF244321}">
                <p14:modId xmlns:p14="http://schemas.microsoft.com/office/powerpoint/2010/main" val="2584573323"/>
              </p:ext>
            </p:extLst>
          </p:nvPr>
        </p:nvGraphicFramePr>
        <p:xfrm>
          <a:off x="823601" y="2144897"/>
          <a:ext cx="10209162" cy="2729478"/>
        </p:xfrm>
        <a:graphic>
          <a:graphicData uri="http://schemas.openxmlformats.org/drawingml/2006/table">
            <a:tbl>
              <a:tblPr firstRow="1" firstCol="1" lastRow="1" lastCol="1" bandRow="1" bandCol="1"/>
              <a:tblGrid>
                <a:gridCol w="1775307">
                  <a:extLst>
                    <a:ext uri="{9D8B030D-6E8A-4147-A177-3AD203B41FA5}">
                      <a16:colId xmlns:a16="http://schemas.microsoft.com/office/drawing/2014/main" val="3662140317"/>
                    </a:ext>
                  </a:extLst>
                </a:gridCol>
                <a:gridCol w="1226243">
                  <a:extLst>
                    <a:ext uri="{9D8B030D-6E8A-4147-A177-3AD203B41FA5}">
                      <a16:colId xmlns:a16="http://schemas.microsoft.com/office/drawing/2014/main" val="2935683527"/>
                    </a:ext>
                  </a:extLst>
                </a:gridCol>
                <a:gridCol w="1644904">
                  <a:extLst>
                    <a:ext uri="{9D8B030D-6E8A-4147-A177-3AD203B41FA5}">
                      <a16:colId xmlns:a16="http://schemas.microsoft.com/office/drawing/2014/main" val="3273622213"/>
                    </a:ext>
                  </a:extLst>
                </a:gridCol>
                <a:gridCol w="1854236">
                  <a:extLst>
                    <a:ext uri="{9D8B030D-6E8A-4147-A177-3AD203B41FA5}">
                      <a16:colId xmlns:a16="http://schemas.microsoft.com/office/drawing/2014/main" val="329713549"/>
                    </a:ext>
                  </a:extLst>
                </a:gridCol>
                <a:gridCol w="1854236">
                  <a:extLst>
                    <a:ext uri="{9D8B030D-6E8A-4147-A177-3AD203B41FA5}">
                      <a16:colId xmlns:a16="http://schemas.microsoft.com/office/drawing/2014/main" val="1882773196"/>
                    </a:ext>
                  </a:extLst>
                </a:gridCol>
                <a:gridCol w="1854236">
                  <a:extLst>
                    <a:ext uri="{9D8B030D-6E8A-4147-A177-3AD203B41FA5}">
                      <a16:colId xmlns:a16="http://schemas.microsoft.com/office/drawing/2014/main" val="2406029471"/>
                    </a:ext>
                  </a:extLst>
                </a:gridCol>
              </a:tblGrid>
              <a:tr h="255763">
                <a:tc gridSpan="5">
                  <a:txBody>
                    <a:bodyPr/>
                    <a:lstStyle/>
                    <a:p>
                      <a:pPr algn="ctr">
                        <a:lnSpc>
                          <a:spcPct val="115000"/>
                        </a:lnSpc>
                        <a:spcAft>
                          <a:spcPts val="1000"/>
                        </a:spcAft>
                      </a:pPr>
                      <a:r>
                        <a:rPr lang="es-MX" sz="1100" b="1" dirty="0">
                          <a:effectLst/>
                          <a:latin typeface="Arial" panose="020B0604020202020204" pitchFamily="34" charset="0"/>
                          <a:ea typeface="Times New Roman" panose="02020603050405020304" pitchFamily="18" charset="0"/>
                          <a:cs typeface="Times New Roman" panose="02020603050405020304" pitchFamily="18" charset="0"/>
                        </a:rPr>
                        <a:t>EJECUCIÓN PRESUPUESTAL</a:t>
                      </a: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a:txBody>
                    <a:bodyPr/>
                    <a:lstStyle/>
                    <a:p>
                      <a:pPr algn="ctr">
                        <a:lnSpc>
                          <a:spcPct val="115000"/>
                        </a:lnSpc>
                        <a:spcAft>
                          <a:spcPts val="1000"/>
                        </a:spcAft>
                      </a:pPr>
                      <a:endParaRPr lang="es-CO"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solidFill>
                  </a:tcPr>
                </a:tc>
                <a:extLst>
                  <a:ext uri="{0D108BD9-81ED-4DB2-BD59-A6C34878D82A}">
                    <a16:rowId xmlns:a16="http://schemas.microsoft.com/office/drawing/2014/main" val="3602089566"/>
                  </a:ext>
                </a:extLst>
              </a:tr>
              <a:tr h="372520">
                <a:tc>
                  <a:txBody>
                    <a:bodyPr/>
                    <a:lstStyle/>
                    <a:p>
                      <a:pPr algn="ctr">
                        <a:lnSpc>
                          <a:spcPct val="115000"/>
                        </a:lnSpc>
                        <a:spcAft>
                          <a:spcPts val="10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 </a:t>
                      </a:r>
                      <a:r>
                        <a:rPr lang="en-US" sz="10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ACCIÓN</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15000"/>
                        </a:lnSpc>
                        <a:spcAft>
                          <a:spcPts val="10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 </a:t>
                      </a:r>
                      <a:r>
                        <a:rPr lang="en-US" sz="10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META</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15000"/>
                        </a:lnSpc>
                        <a:spcAft>
                          <a:spcPts val="10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 </a:t>
                      </a:r>
                      <a:r>
                        <a:rPr lang="en-US" sz="10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OBJETIVO</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15000"/>
                        </a:lnSpc>
                        <a:spcAft>
                          <a:spcPts val="1000"/>
                        </a:spcAft>
                      </a:pPr>
                      <a:r>
                        <a:rPr lang="en-US" sz="10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RESULTADO DE LA GESTIÓN 2022</a:t>
                      </a:r>
                      <a:endParaRPr lang="es-C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a:lnSpc>
                          <a:spcPct val="115000"/>
                        </a:lnSpc>
                        <a:spcAft>
                          <a:spcPts val="1000"/>
                        </a:spcAft>
                      </a:pPr>
                      <a:r>
                        <a:rPr lang="es-CO" sz="1400" dirty="0">
                          <a:effectLst/>
                          <a:latin typeface="Calibri" panose="020F0502020204030204" pitchFamily="34" charset="0"/>
                          <a:ea typeface="Calibri" panose="020F0502020204030204" pitchFamily="34" charset="0"/>
                          <a:cs typeface="Times New Roman" panose="02020603050405020304" pitchFamily="18" charset="0"/>
                        </a:rPr>
                        <a:t>% EJECUCIÓN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algn="ctr" defTabSz="914400" rtl="0" eaLnBrk="1" latinLnBrk="0" hangingPunct="1">
                        <a:lnSpc>
                          <a:spcPct val="115000"/>
                        </a:lnSpc>
                        <a:spcAft>
                          <a:spcPts val="1000"/>
                        </a:spcAft>
                      </a:pPr>
                      <a:r>
                        <a:rPr lang="es-CO" sz="1000" b="1" kern="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CUMPLIMIENTO DE LA META</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35719556"/>
                  </a:ext>
                </a:extLst>
              </a:tr>
              <a:tr h="2101195">
                <a:tc>
                  <a:txBody>
                    <a:bodyPr/>
                    <a:lstStyle/>
                    <a:p>
                      <a:pPr algn="ctr">
                        <a:lnSpc>
                          <a:spcPct val="115000"/>
                        </a:lnSpc>
                        <a:spcAft>
                          <a:spcPts val="1000"/>
                        </a:spcAft>
                      </a:pPr>
                      <a:r>
                        <a:rPr lang="es-CO" sz="1100" dirty="0">
                          <a:effectLst/>
                          <a:latin typeface="Arial" panose="020B0604020202020204" pitchFamily="34" charset="0"/>
                          <a:ea typeface="Calibri" panose="020F0502020204030204" pitchFamily="34" charset="0"/>
                          <a:cs typeface="Times New Roman" panose="02020603050405020304" pitchFamily="18" charset="0"/>
                        </a:rPr>
                        <a:t>Porcentaje de Ejecución del Presupuesto.</a:t>
                      </a:r>
                      <a:endParaRPr lang="es-CO"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CO" sz="1100" dirty="0">
                          <a:effectLst/>
                          <a:latin typeface="Arial" panose="020B0604020202020204" pitchFamily="34" charset="0"/>
                          <a:ea typeface="Calibri" panose="020F0502020204030204" pitchFamily="34" charset="0"/>
                          <a:cs typeface="Times New Roman" panose="02020603050405020304" pitchFamily="18" charset="0"/>
                        </a:rPr>
                        <a:t>90%</a:t>
                      </a:r>
                      <a:endParaRPr lang="es-CO"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CO" sz="1100" dirty="0">
                          <a:effectLst/>
                          <a:latin typeface="Arial" panose="020B0604020202020204" pitchFamily="34" charset="0"/>
                          <a:ea typeface="Calibri" panose="020F0502020204030204" pitchFamily="34" charset="0"/>
                          <a:cs typeface="Times New Roman" panose="02020603050405020304" pitchFamily="18" charset="0"/>
                        </a:rPr>
                        <a:t>Ejecutar el presupuesto de acuerdo a lo establecido dentro del Plan Anual de Adquisiciones y las obligaciones del Concejo Municipal de Chía.</a:t>
                      </a:r>
                      <a:endParaRPr lang="es-CO"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CO" sz="1100" dirty="0">
                          <a:effectLst/>
                          <a:latin typeface="Calibri" panose="020F0502020204030204" pitchFamily="34" charset="0"/>
                          <a:ea typeface="Calibri" panose="020F0502020204030204" pitchFamily="34" charset="0"/>
                          <a:cs typeface="Times New Roman" panose="02020603050405020304" pitchFamily="18" charset="0"/>
                        </a:rPr>
                        <a:t>Presupuesto Inicial: 3.633 .958.844</a:t>
                      </a:r>
                    </a:p>
                    <a:p>
                      <a:pPr algn="ctr">
                        <a:lnSpc>
                          <a:spcPct val="115000"/>
                        </a:lnSpc>
                        <a:spcAft>
                          <a:spcPts val="1000"/>
                        </a:spcAft>
                      </a:pPr>
                      <a:r>
                        <a:rPr lang="es-CO" sz="1100" dirty="0" err="1">
                          <a:effectLst/>
                          <a:latin typeface="Calibri" panose="020F0502020204030204" pitchFamily="34" charset="0"/>
                          <a:ea typeface="Calibri" panose="020F0502020204030204" pitchFamily="34" charset="0"/>
                          <a:cs typeface="Times New Roman" panose="02020603050405020304" pitchFamily="18" charset="0"/>
                        </a:rPr>
                        <a:t>Prespuesto</a:t>
                      </a:r>
                      <a:r>
                        <a:rPr lang="es-CO" sz="1100" dirty="0">
                          <a:effectLst/>
                          <a:latin typeface="Calibri" panose="020F0502020204030204" pitchFamily="34" charset="0"/>
                          <a:ea typeface="Calibri" panose="020F0502020204030204" pitchFamily="34" charset="0"/>
                          <a:cs typeface="Times New Roman" panose="02020603050405020304" pitchFamily="18" charset="0"/>
                        </a:rPr>
                        <a:t> Apropiado 3.168.737.462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CO" sz="1100" dirty="0">
                          <a:effectLst/>
                          <a:latin typeface="Calibri" panose="020F0502020204030204" pitchFamily="34" charset="0"/>
                          <a:ea typeface="Calibri" panose="020F0502020204030204" pitchFamily="34" charset="0"/>
                          <a:cs typeface="Times New Roman" panose="02020603050405020304" pitchFamily="18" charset="0"/>
                        </a:rPr>
                        <a:t>87%</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CO" sz="1100" dirty="0">
                          <a:effectLst/>
                          <a:latin typeface="Calibri" panose="020F0502020204030204" pitchFamily="34" charset="0"/>
                          <a:ea typeface="Calibri" panose="020F0502020204030204" pitchFamily="34" charset="0"/>
                          <a:cs typeface="Times New Roman" panose="02020603050405020304" pitchFamily="18" charset="0"/>
                        </a:rPr>
                        <a:t>96,88%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0618435"/>
                  </a:ext>
                </a:extLst>
              </a:tr>
            </a:tbl>
          </a:graphicData>
        </a:graphic>
      </p:graphicFrame>
    </p:spTree>
    <p:extLst>
      <p:ext uri="{BB962C8B-B14F-4D97-AF65-F5344CB8AC3E}">
        <p14:creationId xmlns:p14="http://schemas.microsoft.com/office/powerpoint/2010/main" val="31990498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1 CuadroTexto">
            <a:extLst>
              <a:ext uri="{FF2B5EF4-FFF2-40B4-BE49-F238E27FC236}">
                <a16:creationId xmlns:a16="http://schemas.microsoft.com/office/drawing/2014/main" id="{85A725E0-C260-51B5-DED0-DE4921902B6F}"/>
              </a:ext>
            </a:extLst>
          </p:cNvPr>
          <p:cNvSpPr txBox="1"/>
          <p:nvPr/>
        </p:nvSpPr>
        <p:spPr>
          <a:xfrm>
            <a:off x="756215" y="2030213"/>
            <a:ext cx="2424332"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7200" b="1" i="0" u="none" strike="noStrike" kern="1200" cap="none" spc="0" normalizeH="0" baseline="0" noProof="0" dirty="0">
                <a:ln>
                  <a:noFill/>
                </a:ln>
                <a:solidFill>
                  <a:schemeClr val="accent5"/>
                </a:solidFill>
                <a:effectLst/>
                <a:uLnTx/>
                <a:uFillTx/>
                <a:latin typeface="Calibri" panose="020F0502020204030204"/>
                <a:ea typeface="+mn-ea"/>
              </a:rPr>
              <a:t>12.|</a:t>
            </a:r>
            <a:endParaRPr kumimoji="0" lang="es-CO" sz="7200" b="1" i="0" u="none" strike="noStrike" kern="1200" cap="none" spc="0" normalizeH="0" baseline="0" noProof="0" dirty="0">
              <a:ln>
                <a:noFill/>
              </a:ln>
              <a:solidFill>
                <a:schemeClr val="accent5"/>
              </a:solidFill>
              <a:effectLst/>
              <a:uLnTx/>
              <a:uFillTx/>
              <a:latin typeface="Arial Rounded MT Bold" panose="020F0704030504030204" pitchFamily="34" charset="0"/>
              <a:ea typeface="+mn-ea"/>
              <a:cs typeface="Times New Roman" panose="02020603050405020304" pitchFamily="18" charset="0"/>
            </a:endParaRPr>
          </a:p>
        </p:txBody>
      </p:sp>
      <p:sp>
        <p:nvSpPr>
          <p:cNvPr id="3" name="Rectangle 2">
            <a:extLst>
              <a:ext uri="{FF2B5EF4-FFF2-40B4-BE49-F238E27FC236}">
                <a16:creationId xmlns:a16="http://schemas.microsoft.com/office/drawing/2014/main" id="{9473B476-FF2C-B23D-58AF-E56D1921BF4C}"/>
              </a:ext>
            </a:extLst>
          </p:cNvPr>
          <p:cNvSpPr>
            <a:spLocks noChangeArrowheads="1"/>
          </p:cNvSpPr>
          <p:nvPr/>
        </p:nvSpPr>
        <p:spPr bwMode="auto">
          <a:xfrm>
            <a:off x="2433502" y="2076380"/>
            <a:ext cx="928394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762000">
              <a:spcBef>
                <a:spcPct val="20000"/>
              </a:spcBef>
              <a:buChar char="•"/>
              <a:defRPr sz="2200">
                <a:solidFill>
                  <a:srgbClr val="19468E"/>
                </a:solidFill>
                <a:latin typeface="Arial" panose="020B0604020202020204" pitchFamily="34" charset="0"/>
                <a:ea typeface="MS PGothic" panose="020B0600070205080204" pitchFamily="34" charset="-128"/>
              </a:defRPr>
            </a:lvl1pPr>
            <a:lvl2pPr marL="742950" indent="-285750" defTabSz="762000">
              <a:spcBef>
                <a:spcPct val="20000"/>
              </a:spcBef>
              <a:buChar char="–"/>
              <a:defRPr sz="2200">
                <a:solidFill>
                  <a:srgbClr val="19468E"/>
                </a:solidFill>
                <a:latin typeface="Arial" panose="020B0604020202020204" pitchFamily="34" charset="0"/>
                <a:ea typeface="MS PGothic" panose="020B0600070205080204" pitchFamily="34" charset="-128"/>
              </a:defRPr>
            </a:lvl2pPr>
            <a:lvl3pPr marL="1143000" indent="-228600" defTabSz="762000">
              <a:spcBef>
                <a:spcPct val="20000"/>
              </a:spcBef>
              <a:buChar char="•"/>
              <a:defRPr sz="2400">
                <a:solidFill>
                  <a:srgbClr val="19468E"/>
                </a:solidFill>
                <a:latin typeface="Arial" panose="020B0604020202020204" pitchFamily="34" charset="0"/>
                <a:ea typeface="MS PGothic" panose="020B0600070205080204" pitchFamily="34" charset="-128"/>
              </a:defRPr>
            </a:lvl3pPr>
            <a:lvl4pPr marL="16002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4pPr>
            <a:lvl5pPr marL="2057400" indent="-228600" defTabSz="762000">
              <a:spcBef>
                <a:spcPct val="20000"/>
              </a:spcBef>
              <a:buChar char="»"/>
              <a:defRPr sz="1400">
                <a:solidFill>
                  <a:srgbClr val="19468E"/>
                </a:solidFill>
                <a:latin typeface="Arial" panose="020B0604020202020204" pitchFamily="34" charset="0"/>
                <a:ea typeface="MS PGothic" panose="020B0600070205080204" pitchFamily="34" charset="-128"/>
              </a:defRPr>
            </a:lvl5pPr>
            <a:lvl6pPr marL="25146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6pPr>
            <a:lvl7pPr marL="29718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7pPr>
            <a:lvl8pPr marL="34290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8pPr>
            <a:lvl9pPr marL="3886200" indent="-228600" defTabSz="762000" eaLnBrk="0" fontAlgn="base" hangingPunct="0">
              <a:spcBef>
                <a:spcPct val="20000"/>
              </a:spcBef>
              <a:spcAft>
                <a:spcPct val="0"/>
              </a:spcAft>
              <a:buChar char="»"/>
              <a:defRPr sz="1400">
                <a:solidFill>
                  <a:srgbClr val="19468E"/>
                </a:solidFill>
                <a:latin typeface="Arial" panose="020B0604020202020204" pitchFamily="34" charset="0"/>
                <a:ea typeface="MS PGothic" panose="020B0600070205080204" pitchFamily="34" charset="-128"/>
              </a:defRPr>
            </a:lvl9pPr>
          </a:lstStyle>
          <a:p>
            <a:pPr marL="0" marR="0" lvl="0" indent="0" algn="just" defTabSz="762000" rtl="0" eaLnBrk="1" fontAlgn="auto" latinLnBrk="0" hangingPunct="1">
              <a:lnSpc>
                <a:spcPct val="100000"/>
              </a:lnSpc>
              <a:spcBef>
                <a:spcPct val="0"/>
              </a:spcBef>
              <a:spcAft>
                <a:spcPts val="0"/>
              </a:spcAft>
              <a:buClrTx/>
              <a:buSzTx/>
              <a:buFontTx/>
              <a:buNone/>
              <a:tabLst/>
              <a:defRPr/>
            </a:pPr>
            <a:r>
              <a:rPr kumimoji="0" lang="es-MX" altLang="es-CO" sz="4800" b="1" i="0" u="none" strike="noStrike" kern="1200" cap="none" spc="0" normalizeH="0" baseline="0" noProof="0" dirty="0">
                <a:ln>
                  <a:noFill/>
                </a:ln>
                <a:solidFill>
                  <a:schemeClr val="accent5"/>
                </a:solidFill>
                <a:effectLst/>
                <a:uLnTx/>
                <a:uFillTx/>
                <a:latin typeface="Calibri" panose="020F0502020204030204"/>
                <a:ea typeface="Work Sans Light" charset="0"/>
                <a:cs typeface="Work Sans Light" charset="0"/>
              </a:rPr>
              <a:t>Conclusión de la revisión por la Dirección</a:t>
            </a:r>
          </a:p>
        </p:txBody>
      </p:sp>
    </p:spTree>
    <p:extLst>
      <p:ext uri="{BB962C8B-B14F-4D97-AF65-F5344CB8AC3E}">
        <p14:creationId xmlns:p14="http://schemas.microsoft.com/office/powerpoint/2010/main" val="42258512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3 Rectángulo">
            <a:extLst>
              <a:ext uri="{FF2B5EF4-FFF2-40B4-BE49-F238E27FC236}">
                <a16:creationId xmlns:a16="http://schemas.microsoft.com/office/drawing/2014/main" id="{FA7760A6-404A-F6AD-F186-82EEA9560C4C}"/>
              </a:ext>
            </a:extLst>
          </p:cNvPr>
          <p:cNvSpPr/>
          <p:nvPr/>
        </p:nvSpPr>
        <p:spPr>
          <a:xfrm>
            <a:off x="596602" y="1670601"/>
            <a:ext cx="11056682" cy="3815788"/>
          </a:xfrm>
          <a:prstGeom prst="rect">
            <a:avLst/>
          </a:prstGeom>
        </p:spPr>
        <p:txBody>
          <a:bodyPr wrap="square">
            <a:spAutoFit/>
          </a:bodyPr>
          <a:lstStyle/>
          <a:p>
            <a:pPr algn="just" defTabSz="912813">
              <a:lnSpc>
                <a:spcPct val="80000"/>
              </a:lnSpc>
            </a:pPr>
            <a:r>
              <a:rPr lang="es-MX" dirty="0">
                <a:cs typeface="Arial" pitchFamily="34" charset="0"/>
              </a:rPr>
              <a:t>Con base en la revisión de los procesos podemos concluir que el SGC del Concejo Municipal de Chía es:</a:t>
            </a:r>
          </a:p>
          <a:p>
            <a:pPr algn="just" defTabSz="912813">
              <a:lnSpc>
                <a:spcPct val="80000"/>
              </a:lnSpc>
            </a:pPr>
            <a:endParaRPr lang="es-MX" b="1" i="1" dirty="0">
              <a:cs typeface="Arial" pitchFamily="34" charset="0"/>
            </a:endParaRPr>
          </a:p>
          <a:p>
            <a:pPr marL="285750" indent="-285750" algn="just" defTabSz="912813">
              <a:lnSpc>
                <a:spcPct val="80000"/>
              </a:lnSpc>
              <a:spcAft>
                <a:spcPts val="1200"/>
              </a:spcAft>
              <a:buClr>
                <a:schemeClr val="accent6"/>
              </a:buClr>
              <a:buFont typeface="Wingdings" panose="05000000000000000000" pitchFamily="2" charset="2"/>
              <a:buChar char="§"/>
            </a:pPr>
            <a:r>
              <a:rPr lang="es-CO" i="1" dirty="0">
                <a:cs typeface="Arial" pitchFamily="34" charset="0"/>
              </a:rPr>
              <a:t>Adecuado para el cumplimiento de la política y de los objetivos de la calidad, y de los requisitos establecidos por el cliente. En este sentido se hace importante implementar de manera oportuna las acciones generadas por el comité.</a:t>
            </a:r>
          </a:p>
          <a:p>
            <a:pPr marL="285750" indent="-285750" algn="just" defTabSz="912813">
              <a:lnSpc>
                <a:spcPct val="80000"/>
              </a:lnSpc>
              <a:spcAft>
                <a:spcPts val="1200"/>
              </a:spcAft>
              <a:buClr>
                <a:schemeClr val="accent6"/>
              </a:buClr>
              <a:buFont typeface="Wingdings" panose="05000000000000000000" pitchFamily="2" charset="2"/>
              <a:buChar char="§"/>
            </a:pPr>
            <a:r>
              <a:rPr lang="es-CO" i="1" dirty="0">
                <a:cs typeface="Arial" pitchFamily="34" charset="0"/>
              </a:rPr>
              <a:t>Conveniente para el propósito de la entidad, y acorde con la prestación de los servicios a los usuarios, lo cual se concluye por el resultado de la Encuesta de Percepción, y el estado de las Quejas y Reclamos de los servicios prestados por la Corporación</a:t>
            </a:r>
          </a:p>
          <a:p>
            <a:pPr marL="285750" indent="-285750" algn="just" defTabSz="912813">
              <a:lnSpc>
                <a:spcPct val="80000"/>
              </a:lnSpc>
              <a:spcAft>
                <a:spcPts val="1200"/>
              </a:spcAft>
              <a:buClr>
                <a:schemeClr val="accent6"/>
              </a:buClr>
              <a:buFont typeface="Wingdings" panose="05000000000000000000" pitchFamily="2" charset="2"/>
              <a:buChar char="§"/>
            </a:pPr>
            <a:r>
              <a:rPr lang="es-CO" i="1" dirty="0">
                <a:cs typeface="Arial" pitchFamily="34" charset="0"/>
              </a:rPr>
              <a:t>Eficaz ya que permite el cumplimiento de las metas definidas en un </a:t>
            </a:r>
            <a:r>
              <a:rPr lang="es-CO" b="1" i="1" dirty="0">
                <a:cs typeface="Arial" pitchFamily="34" charset="0"/>
              </a:rPr>
              <a:t>92%</a:t>
            </a:r>
            <a:r>
              <a:rPr lang="es-CO" i="1" dirty="0">
                <a:cs typeface="Arial" pitchFamily="34" charset="0"/>
              </a:rPr>
              <a:t>.</a:t>
            </a:r>
          </a:p>
          <a:p>
            <a:pPr marL="285750" indent="-285750" algn="just" defTabSz="912813">
              <a:lnSpc>
                <a:spcPct val="80000"/>
              </a:lnSpc>
              <a:spcAft>
                <a:spcPts val="1200"/>
              </a:spcAft>
              <a:buClr>
                <a:schemeClr val="accent6"/>
              </a:buClr>
              <a:buFont typeface="Wingdings" panose="05000000000000000000" pitchFamily="2" charset="2"/>
              <a:buChar char="§"/>
            </a:pPr>
            <a:r>
              <a:rPr lang="es-CO" i="1" dirty="0">
                <a:cs typeface="Arial" pitchFamily="34" charset="0"/>
              </a:rPr>
              <a:t>Eficiente ya que se han utilizado los recursos asignados a la entidad con transparencia, siguiendo las decisiones y reglamentaciones establecidas  para el uso y distribución de recursos en un </a:t>
            </a:r>
            <a:r>
              <a:rPr lang="es-CO" b="1" i="1" dirty="0">
                <a:cs typeface="Arial" pitchFamily="34" charset="0"/>
              </a:rPr>
              <a:t>96,8%</a:t>
            </a:r>
            <a:r>
              <a:rPr lang="es-CO" i="1" dirty="0">
                <a:cs typeface="Arial" pitchFamily="34" charset="0"/>
              </a:rPr>
              <a:t>.</a:t>
            </a:r>
          </a:p>
          <a:p>
            <a:pPr marL="285750" indent="-285750" algn="just" defTabSz="912813">
              <a:lnSpc>
                <a:spcPct val="80000"/>
              </a:lnSpc>
              <a:spcAft>
                <a:spcPts val="1200"/>
              </a:spcAft>
              <a:buClr>
                <a:schemeClr val="accent6"/>
              </a:buClr>
              <a:buFont typeface="Wingdings" panose="05000000000000000000" pitchFamily="2" charset="2"/>
              <a:buChar char="§"/>
            </a:pPr>
            <a:r>
              <a:rPr lang="es-CO" i="1" dirty="0">
                <a:cs typeface="Arial" pitchFamily="34" charset="0"/>
              </a:rPr>
              <a:t>Efectivo lo cual se evidencia por la percepción que tienen los usuarios de los servicios y el reporte de atención de quejas, reclamos y sugerencias, la cual permite establecer que se ha venido generando el impacto deseado en los grupos de interés en un </a:t>
            </a:r>
            <a:r>
              <a:rPr lang="es-CO" b="1" i="1" dirty="0">
                <a:cs typeface="Arial" pitchFamily="34" charset="0"/>
              </a:rPr>
              <a:t>78%.</a:t>
            </a:r>
          </a:p>
        </p:txBody>
      </p:sp>
    </p:spTree>
    <p:extLst>
      <p:ext uri="{BB962C8B-B14F-4D97-AF65-F5344CB8AC3E}">
        <p14:creationId xmlns:p14="http://schemas.microsoft.com/office/powerpoint/2010/main" val="7218659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2182DC3-E091-31EC-61D6-E5B04406706F}"/>
              </a:ext>
            </a:extLst>
          </p:cNvPr>
          <p:cNvPicPr>
            <a:picLocks noChangeAspect="1"/>
          </p:cNvPicPr>
          <p:nvPr/>
        </p:nvPicPr>
        <p:blipFill>
          <a:blip r:embed="rId3"/>
          <a:stretch>
            <a:fillRect/>
          </a:stretch>
        </p:blipFill>
        <p:spPr>
          <a:xfrm>
            <a:off x="5847815" y="2307938"/>
            <a:ext cx="4660290" cy="2458341"/>
          </a:xfrm>
          <a:prstGeom prst="rect">
            <a:avLst/>
          </a:prstGeom>
        </p:spPr>
      </p:pic>
    </p:spTree>
    <p:extLst>
      <p:ext uri="{BB962C8B-B14F-4D97-AF65-F5344CB8AC3E}">
        <p14:creationId xmlns:p14="http://schemas.microsoft.com/office/powerpoint/2010/main" val="419412204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10227</TotalTime>
  <Words>5727</Words>
  <Application>Microsoft Office PowerPoint</Application>
  <PresentationFormat>Panorámica</PresentationFormat>
  <Paragraphs>963</Paragraphs>
  <Slides>57</Slides>
  <Notes>4</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57</vt:i4>
      </vt:variant>
    </vt:vector>
  </HeadingPairs>
  <TitlesOfParts>
    <vt:vector size="66" baseType="lpstr">
      <vt:lpstr>Arial</vt:lpstr>
      <vt:lpstr>Arial Black</vt:lpstr>
      <vt:lpstr>Arial Rounded MT Bold</vt:lpstr>
      <vt:lpstr>Calibri</vt:lpstr>
      <vt:lpstr>Calibri Light</vt:lpstr>
      <vt:lpstr>Times New Roman</vt:lpstr>
      <vt:lpstr>Wingdings</vt:lpstr>
      <vt:lpstr>Tema de Office</vt:lpstr>
      <vt:lpstr>1_Tema de Office</vt:lpstr>
      <vt:lpstr>Presentación de PowerPoint</vt:lpstr>
      <vt:lpstr>Presentación de PowerPoint</vt:lpstr>
      <vt:lpstr>Presentación de PowerPoint</vt:lpstr>
      <vt:lpstr>OBJETIVO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de Microsoft Office</dc:creator>
  <cp:lastModifiedBy>Jose Gonzalez</cp:lastModifiedBy>
  <cp:revision>150</cp:revision>
  <dcterms:created xsi:type="dcterms:W3CDTF">2020-11-03T16:47:08Z</dcterms:created>
  <dcterms:modified xsi:type="dcterms:W3CDTF">2022-12-19T17:22:00Z</dcterms:modified>
</cp:coreProperties>
</file>